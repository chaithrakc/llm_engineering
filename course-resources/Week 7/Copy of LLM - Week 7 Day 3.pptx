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12192000"/>
  <p:embeddedFontLst>
    <p:embeddedFont>
      <p:font typeface="Montserrat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aba0fb0e97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g3aba0fb0e97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g3aba0fb0e97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ba0fb0e97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aba0fb0e97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aba0fb0e97_0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4.png"/><Relationship Id="rId7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2.png"/><Relationship Id="rId7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/>
          <p:nvPr/>
        </p:nvSpPr>
        <p:spPr>
          <a:xfrm>
            <a:off x="95226" y="1640405"/>
            <a:ext cx="11998500" cy="5120654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erated Image October 08, 2025 - 7_47PM (1) (2) (1).png" id="19" name="Google Shape;19;p5"/>
          <p:cNvPicPr preferRelativeResize="0"/>
          <p:nvPr/>
        </p:nvPicPr>
        <p:blipFill rotWithShape="1">
          <a:blip r:embed="rId3">
            <a:alphaModFix/>
          </a:blip>
          <a:srcRect b="1226" l="0" r="0" t="1226"/>
          <a:stretch/>
        </p:blipFill>
        <p:spPr>
          <a:xfrm>
            <a:off x="95226" y="1640405"/>
            <a:ext cx="11998500" cy="5120654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5"/>
          <p:cNvSpPr/>
          <p:nvPr/>
        </p:nvSpPr>
        <p:spPr>
          <a:xfrm>
            <a:off x="3517655" y="598660"/>
            <a:ext cx="5153641" cy="350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30"/>
              <a:buFont typeface="Montserrat"/>
              <a:buNone/>
            </a:pPr>
            <a:r>
              <a:rPr b="0" i="0" lang="en-US" sz="263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LLM Engineering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5"/>
          <p:cNvSpPr/>
          <p:nvPr/>
        </p:nvSpPr>
        <p:spPr>
          <a:xfrm>
            <a:off x="3517655" y="985517"/>
            <a:ext cx="5153641" cy="28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3"/>
              <a:buFont typeface="Montserrat"/>
              <a:buNone/>
            </a:pPr>
            <a:r>
              <a:rPr b="0" i="0" lang="en-US" sz="175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MASTER AI &amp; LARGE LANGUAGE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PROGRESS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6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Bring on the Training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6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4_w7_2-2.png" id="30" name="Google Shape;30;p6"/>
          <p:cNvPicPr preferRelativeResize="0"/>
          <p:nvPr/>
        </p:nvPicPr>
        <p:blipFill rotWithShape="1">
          <a:blip r:embed="rId3">
            <a:alphaModFix/>
          </a:blip>
          <a:srcRect b="0" l="1928" r="1928" t="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6"/>
          <p:cNvSpPr/>
          <p:nvPr/>
        </p:nvSpPr>
        <p:spPr>
          <a:xfrm>
            <a:off x="5156392" y="2192062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1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6"/>
          <p:cNvSpPr/>
          <p:nvPr/>
        </p:nvSpPr>
        <p:spPr>
          <a:xfrm>
            <a:off x="5156392" y="2517542"/>
            <a:ext cx="6897791" cy="1535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Generate text and code with Frontier Models and Open Source models using APIs and Hugging Face, including tools, assistants and RAG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Follow a 5 step strategy to solve problems, including dataset curation, making a baseline model, and fine-tuning a Frontier model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Explain QLoRA for fine-tuning open-source models including defining target modules, r and alpha, select and evaluate a base open source model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6"/>
          <p:cNvCxnSpPr/>
          <p:nvPr/>
        </p:nvCxnSpPr>
        <p:spPr>
          <a:xfrm>
            <a:off x="5156349" y="4294784"/>
            <a:ext cx="627060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" name="Google Shape;34;p6"/>
          <p:cNvSpPr/>
          <p:nvPr/>
        </p:nvSpPr>
        <p:spPr>
          <a:xfrm>
            <a:off x="5156392" y="4467894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lang="en-US" sz="1287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By end of today you will be able 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6"/>
          <p:cNvSpPr/>
          <p:nvPr/>
        </p:nvSpPr>
        <p:spPr>
          <a:xfrm>
            <a:off x="5156392" y="4793374"/>
            <a:ext cx="6897791" cy="941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Outline the major hyper-parameters used during training 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Set up an Supervised Fine Tuning Trainer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Kick off training your own proprietary LLM!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/>
          <p:nvPr/>
        </p:nvSpPr>
        <p:spPr>
          <a:xfrm>
            <a:off x="0" y="419516"/>
            <a:ext cx="121890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7"/>
          <p:cNvSpPr/>
          <p:nvPr/>
        </p:nvSpPr>
        <p:spPr>
          <a:xfrm>
            <a:off x="0" y="790154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Price Is R</a:t>
            </a:r>
            <a:r>
              <a:rPr b="1"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ght</a:t>
            </a:r>
            <a:endParaRPr b="1"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43" name="Google Shape;43;p7"/>
          <p:cNvSpPr/>
          <p:nvPr/>
        </p:nvSpPr>
        <p:spPr>
          <a:xfrm>
            <a:off x="2747135" y="1899111"/>
            <a:ext cx="64788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</a:pPr>
            <a:r>
              <a:rPr b="1"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ORDER OF PLAY: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7"/>
          <p:cNvSpPr/>
          <p:nvPr/>
        </p:nvSpPr>
        <p:spPr>
          <a:xfrm>
            <a:off x="2747125" y="2439904"/>
            <a:ext cx="64788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E66922"/>
              </a:buClr>
              <a:buSzPts val="1800"/>
              <a:buFont typeface="Montserrat"/>
              <a:buChar char="•"/>
            </a:pPr>
            <a:r>
              <a:rPr b="1" lang="en-US" sz="1800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Week 6: Data Curation, Evaluation, Frontier Models</a:t>
            </a:r>
            <a:endParaRPr b="1" sz="1800">
              <a:solidFill>
                <a:srgbClr val="E6692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2900" lvl="0" marL="242900" marR="0" rtl="0" algn="l">
              <a:lnSpc>
                <a:spcPct val="126000"/>
              </a:lnSpc>
              <a:spcBef>
                <a:spcPts val="1952"/>
              </a:spcBef>
              <a:spcAft>
                <a:spcPts val="0"/>
              </a:spcAft>
              <a:buClr>
                <a:srgbClr val="F0B356"/>
              </a:buClr>
              <a:buSzPts val="1800"/>
              <a:buFont typeface="Montserrat"/>
              <a:buChar char="•"/>
            </a:pPr>
            <a:r>
              <a:rPr b="1" lang="en-US" sz="18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Week 7: Fine-tune Open-Source LLM</a:t>
            </a:r>
            <a:endParaRPr b="1" sz="1800">
              <a:solidFill>
                <a:srgbClr val="F0B35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26000"/>
              </a:lnSpc>
              <a:spcBef>
                <a:spcPts val="1952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Day 1: Introducing QLoRA</a:t>
            </a:r>
            <a:br>
              <a:rPr b="1" lang="en-US" sz="18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US" sz="18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Day 2: Prompt dataset &amp; base model eval</a:t>
            </a:r>
            <a:br>
              <a:rPr b="1" lang="en-US" sz="18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US" sz="18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Day 3: Training Part 1</a:t>
            </a:r>
            <a:br>
              <a:rPr b="1" lang="en-US" sz="18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US" sz="18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Day 4: Training Part 2</a:t>
            </a:r>
            <a:br>
              <a:rPr b="1" lang="en-US" sz="18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US" sz="18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Day 5: Evaluation</a:t>
            </a:r>
            <a:endParaRPr b="1" sz="1800">
              <a:solidFill>
                <a:srgbClr val="F0B35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2900" lvl="0" marL="242900" marR="0" rtl="0" algn="l">
              <a:lnSpc>
                <a:spcPct val="126000"/>
              </a:lnSpc>
              <a:spcBef>
                <a:spcPts val="1952"/>
              </a:spcBef>
              <a:spcAft>
                <a:spcPts val="0"/>
              </a:spcAft>
              <a:buClr>
                <a:srgbClr val="AD44A6"/>
              </a:buClr>
              <a:buSzPts val="1800"/>
              <a:buFont typeface="Montserrat"/>
              <a:buChar char="•"/>
            </a:pPr>
            <a:r>
              <a:rPr b="1" lang="en-US" sz="1800">
                <a:solidFill>
                  <a:srgbClr val="AD44A6"/>
                </a:solidFill>
                <a:latin typeface="Montserrat"/>
                <a:ea typeface="Montserrat"/>
                <a:cs typeface="Montserrat"/>
                <a:sym typeface="Montserrat"/>
              </a:rPr>
              <a:t>Week 8: Deployed model, RAG, Agentic Product</a:t>
            </a:r>
            <a:endParaRPr b="1" sz="1800">
              <a:solidFill>
                <a:srgbClr val="AD44A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2" marL="0" marR="0" rtl="0" algn="l">
              <a:lnSpc>
                <a:spcPct val="140000"/>
              </a:lnSpc>
              <a:spcBef>
                <a:spcPts val="523"/>
              </a:spcBef>
              <a:spcAft>
                <a:spcPts val="0"/>
              </a:spcAft>
              <a:buClr>
                <a:srgbClr val="FFFFFF"/>
              </a:buClr>
              <a:buSzPts val="1380"/>
              <a:buFont typeface="Montserra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Five Important Hyper-parameters for QLoRA...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" name="Google Shape;51;p8"/>
          <p:cNvGrpSpPr/>
          <p:nvPr/>
        </p:nvGrpSpPr>
        <p:grpSpPr>
          <a:xfrm>
            <a:off x="1394111" y="2416955"/>
            <a:ext cx="1592182" cy="1437995"/>
            <a:chOff x="1394111" y="2416955"/>
            <a:chExt cx="1592182" cy="1437995"/>
          </a:xfrm>
        </p:grpSpPr>
        <p:pic>
          <p:nvPicPr>
            <p:cNvPr id="52" name="Google Shape;52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88461" y="2416955"/>
              <a:ext cx="809423" cy="8094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" name="Google Shape;53;p8"/>
            <p:cNvSpPr/>
            <p:nvPr/>
          </p:nvSpPr>
          <p:spPr>
            <a:xfrm>
              <a:off x="1394111" y="3624547"/>
              <a:ext cx="1592182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Target Modules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" name="Google Shape;54;p8"/>
          <p:cNvGrpSpPr/>
          <p:nvPr/>
        </p:nvGrpSpPr>
        <p:grpSpPr>
          <a:xfrm>
            <a:off x="5547675" y="2562036"/>
            <a:ext cx="1104624" cy="1292914"/>
            <a:chOff x="5547675" y="2562036"/>
            <a:chExt cx="1104624" cy="1292914"/>
          </a:xfrm>
        </p:grpSpPr>
        <p:pic>
          <p:nvPicPr>
            <p:cNvPr id="55" name="Google Shape;55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547675" y="2562036"/>
              <a:ext cx="1104624" cy="5237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" name="Google Shape;56;p8"/>
            <p:cNvSpPr/>
            <p:nvPr/>
          </p:nvSpPr>
          <p:spPr>
            <a:xfrm>
              <a:off x="6042102" y="3624547"/>
              <a:ext cx="104749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" name="Google Shape;57;p8"/>
          <p:cNvGrpSpPr/>
          <p:nvPr/>
        </p:nvGrpSpPr>
        <p:grpSpPr>
          <a:xfrm>
            <a:off x="9565727" y="2374514"/>
            <a:ext cx="876081" cy="1480436"/>
            <a:chOff x="9565727" y="2374514"/>
            <a:chExt cx="876081" cy="1480436"/>
          </a:xfrm>
        </p:grpSpPr>
        <p:pic>
          <p:nvPicPr>
            <p:cNvPr id="58" name="Google Shape;58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565727" y="2374514"/>
              <a:ext cx="876081" cy="8760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" name="Google Shape;59;p8"/>
            <p:cNvSpPr/>
            <p:nvPr/>
          </p:nvSpPr>
          <p:spPr>
            <a:xfrm>
              <a:off x="9694978" y="3624547"/>
              <a:ext cx="607543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Alpha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" name="Google Shape;60;p8"/>
          <p:cNvGrpSpPr/>
          <p:nvPr/>
        </p:nvGrpSpPr>
        <p:grpSpPr>
          <a:xfrm>
            <a:off x="3471947" y="4384868"/>
            <a:ext cx="1340785" cy="1460309"/>
            <a:chOff x="3471947" y="4384868"/>
            <a:chExt cx="1340785" cy="1460309"/>
          </a:xfrm>
        </p:grpSpPr>
        <p:pic>
          <p:nvPicPr>
            <p:cNvPr id="61" name="Google Shape;61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718297" y="4384868"/>
              <a:ext cx="857036" cy="8475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8"/>
            <p:cNvSpPr/>
            <p:nvPr/>
          </p:nvSpPr>
          <p:spPr>
            <a:xfrm>
              <a:off x="3471947" y="5614774"/>
              <a:ext cx="1340785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Quantization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" name="Google Shape;63;p8"/>
          <p:cNvGrpSpPr/>
          <p:nvPr/>
        </p:nvGrpSpPr>
        <p:grpSpPr>
          <a:xfrm>
            <a:off x="7617143" y="4451824"/>
            <a:ext cx="858940" cy="1393353"/>
            <a:chOff x="7617143" y="4451824"/>
            <a:chExt cx="858940" cy="1393353"/>
          </a:xfrm>
        </p:grpSpPr>
        <p:pic>
          <p:nvPicPr>
            <p:cNvPr id="64" name="Google Shape;64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667196" y="4451824"/>
              <a:ext cx="752287" cy="7522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8"/>
            <p:cNvSpPr/>
            <p:nvPr/>
          </p:nvSpPr>
          <p:spPr>
            <a:xfrm>
              <a:off x="7617143" y="5614774"/>
              <a:ext cx="858940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Dropout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... and Five Important Hyper-parameters for Training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" name="Google Shape;72;p9"/>
          <p:cNvGrpSpPr/>
          <p:nvPr/>
        </p:nvGrpSpPr>
        <p:grpSpPr>
          <a:xfrm>
            <a:off x="1813107" y="2361160"/>
            <a:ext cx="754191" cy="1493790"/>
            <a:chOff x="1813107" y="2361160"/>
            <a:chExt cx="754191" cy="1493790"/>
          </a:xfrm>
        </p:grpSpPr>
        <p:pic>
          <p:nvPicPr>
            <p:cNvPr id="73" name="Google Shape;7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33098" y="2361160"/>
              <a:ext cx="733242" cy="9046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" name="Google Shape;74;p9"/>
            <p:cNvSpPr/>
            <p:nvPr/>
          </p:nvSpPr>
          <p:spPr>
            <a:xfrm>
              <a:off x="1813107" y="3624547"/>
              <a:ext cx="754191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Epochs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" name="Google Shape;75;p9"/>
          <p:cNvGrpSpPr/>
          <p:nvPr/>
        </p:nvGrpSpPr>
        <p:grpSpPr>
          <a:xfrm>
            <a:off x="5560257" y="2394641"/>
            <a:ext cx="1068438" cy="1460309"/>
            <a:chOff x="5560257" y="2394641"/>
            <a:chExt cx="1068438" cy="1460309"/>
          </a:xfrm>
        </p:grpSpPr>
        <p:pic>
          <p:nvPicPr>
            <p:cNvPr id="76" name="Google Shape;76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648103" y="2394641"/>
              <a:ext cx="895126" cy="8475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" name="Google Shape;77;p9"/>
            <p:cNvSpPr/>
            <p:nvPr/>
          </p:nvSpPr>
          <p:spPr>
            <a:xfrm>
              <a:off x="5560257" y="3624547"/>
              <a:ext cx="1068438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Batch Size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" name="Google Shape;78;p9"/>
          <p:cNvGrpSpPr/>
          <p:nvPr/>
        </p:nvGrpSpPr>
        <p:grpSpPr>
          <a:xfrm>
            <a:off x="9281220" y="2383482"/>
            <a:ext cx="1435059" cy="1471468"/>
            <a:chOff x="9281220" y="2383482"/>
            <a:chExt cx="1435059" cy="1471468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451943" y="2383482"/>
              <a:ext cx="1161759" cy="8856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9281220" y="3624547"/>
              <a:ext cx="1435059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Learning Rate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" name="Google Shape;81;p9"/>
          <p:cNvGrpSpPr/>
          <p:nvPr/>
        </p:nvGrpSpPr>
        <p:grpSpPr>
          <a:xfrm>
            <a:off x="2948203" y="4262009"/>
            <a:ext cx="2388273" cy="1583168"/>
            <a:chOff x="2948203" y="4262009"/>
            <a:chExt cx="2388273" cy="1583168"/>
          </a:xfrm>
        </p:grpSpPr>
        <p:pic>
          <p:nvPicPr>
            <p:cNvPr id="82" name="Google Shape;82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651329" y="4262009"/>
              <a:ext cx="1018920" cy="11046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" name="Google Shape;83;p9"/>
            <p:cNvSpPr/>
            <p:nvPr/>
          </p:nvSpPr>
          <p:spPr>
            <a:xfrm>
              <a:off x="2948203" y="5614774"/>
              <a:ext cx="2388273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Gradient Accumulation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" name="Google Shape;84;p9"/>
          <p:cNvGrpSpPr/>
          <p:nvPr/>
        </p:nvGrpSpPr>
        <p:grpSpPr>
          <a:xfrm>
            <a:off x="7533344" y="4407193"/>
            <a:ext cx="1026538" cy="1437984"/>
            <a:chOff x="7533344" y="4407193"/>
            <a:chExt cx="1026538" cy="1437984"/>
          </a:xfrm>
        </p:grpSpPr>
        <p:pic>
          <p:nvPicPr>
            <p:cNvPr id="85" name="Google Shape;85;p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667202" y="4407193"/>
              <a:ext cx="752287" cy="799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p9"/>
            <p:cNvSpPr/>
            <p:nvPr/>
          </p:nvSpPr>
          <p:spPr>
            <a:xfrm>
              <a:off x="7533344" y="5614774"/>
              <a:ext cx="1026538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Optimizer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"/>
          <p:cNvSpPr/>
          <p:nvPr/>
        </p:nvSpPr>
        <p:spPr>
          <a:xfrm>
            <a:off x="0" y="419516"/>
            <a:ext cx="121890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0"/>
          <p:cNvSpPr/>
          <p:nvPr/>
        </p:nvSpPr>
        <p:spPr>
          <a:xfrm>
            <a:off x="0" y="790154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1"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Four Steps Of Training</a:t>
            </a:r>
            <a:endParaRPr b="1" i="0" sz="1800" u="none" cap="none" strike="noStrike">
              <a:solidFill>
                <a:schemeClr val="dk1"/>
              </a:solidFill>
            </a:endParaRPr>
          </a:p>
        </p:txBody>
      </p:sp>
      <p:pic>
        <p:nvPicPr>
          <p:cNvPr id="94" name="Google Shape;94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6350" y="2543110"/>
            <a:ext cx="2525365" cy="2371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0359" y="2363250"/>
            <a:ext cx="3187504" cy="2787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32290" y="2562381"/>
            <a:ext cx="3048917" cy="2602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83862" y="2549534"/>
            <a:ext cx="3095113" cy="237138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0"/>
          <p:cNvSpPr/>
          <p:nvPr/>
        </p:nvSpPr>
        <p:spPr>
          <a:xfrm>
            <a:off x="528750" y="1539575"/>
            <a:ext cx="11181300" cy="7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Tweaking the </a:t>
            </a:r>
            <a:r>
              <a:rPr b="1"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parameters</a:t>
            </a: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of a model based on training data..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..in a way that should </a:t>
            </a:r>
            <a:r>
              <a:rPr b="1"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generalize</a:t>
            </a: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to unseen data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0"/>
          <p:cNvSpPr/>
          <p:nvPr/>
        </p:nvSpPr>
        <p:spPr>
          <a:xfrm>
            <a:off x="359775" y="5429425"/>
            <a:ext cx="11181300" cy="7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You can specify additional settings that aren’t updated during training known as </a:t>
            </a:r>
            <a:r>
              <a:rPr b="1"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hyper-parameters</a:t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Like </a:t>
            </a:r>
            <a:r>
              <a:rPr b="1"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epoch</a:t>
            </a: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learning rate</a:t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process of experimenting with these is called </a:t>
            </a:r>
            <a:r>
              <a:rPr b="1"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hyper-parameter optimization</a:t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(It’s basically a fancy way of saying</a:t>
            </a:r>
            <a:r>
              <a:rPr b="1" lang="en-US" sz="16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 Trial &amp; Error</a:t>
            </a:r>
            <a:r>
              <a:rPr lang="en-US" sz="16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1600">
              <a:solidFill>
                <a:srgbClr val="F0B35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PROGRESS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1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TRAINING IN PROGRESS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1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5_w7_3-2.png" id="108" name="Google Shape;108;p11"/>
          <p:cNvPicPr preferRelativeResize="0"/>
          <p:nvPr/>
        </p:nvPicPr>
        <p:blipFill rotWithShape="1">
          <a:blip r:embed="rId3">
            <a:alphaModFix/>
          </a:blip>
          <a:srcRect b="0" l="1928" r="1928" t="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1"/>
          <p:cNvSpPr/>
          <p:nvPr/>
        </p:nvSpPr>
        <p:spPr>
          <a:xfrm>
            <a:off x="5156392" y="2192062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1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1"/>
          <p:cNvSpPr/>
          <p:nvPr/>
        </p:nvSpPr>
        <p:spPr>
          <a:xfrm>
            <a:off x="5156392" y="2517542"/>
            <a:ext cx="6897791" cy="1535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Generate text and code with Frontier Models and Open Source models using APIs and Hugging Face, including tools, assistants and RAG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Follow a 5 step strategy to solve problems, including dataset curation, making a baseline model, and fine-tuning a Frontier model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Explain QLoRA for fine-tuning open-source models including defining and choosing hyper-parameters and kicking off a training run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111;p11"/>
          <p:cNvCxnSpPr/>
          <p:nvPr/>
        </p:nvCxnSpPr>
        <p:spPr>
          <a:xfrm>
            <a:off x="5156349" y="4334983"/>
            <a:ext cx="627060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" name="Google Shape;112;p11"/>
          <p:cNvSpPr/>
          <p:nvPr/>
        </p:nvSpPr>
        <p:spPr>
          <a:xfrm>
            <a:off x="5156392" y="4467894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0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By next time you will be able to: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1"/>
          <p:cNvSpPr/>
          <p:nvPr/>
        </p:nvSpPr>
        <p:spPr>
          <a:xfrm>
            <a:off x="5156392" y="4793374"/>
            <a:ext cx="6897791" cy="941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lang="en-US" sz="12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Dig in to Training Loss vs Validation Loss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See your model in the Hugging Face hub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lang="en-US" sz="12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Compare performance of different runs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