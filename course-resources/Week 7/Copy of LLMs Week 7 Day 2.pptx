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28408"/>
            <a:ext cx="11998500" cy="51326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7_Brain_F2 copy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325" l="0" r="0" t="325"/>
          <a:stretch/>
        </p:blipFill>
        <p:spPr>
          <a:xfrm>
            <a:off x="95226" y="1628408"/>
            <a:ext cx="11998500" cy="513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Proprietary Models Start Today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2_w7_1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QLoRA for fine-tuning open-source models including defining target modules, r and alpha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326943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lang="en-US" sz="1287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793374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Prepare a dataset for fine tuning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instruct and base variants for a task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Evaluate a base model against a business objective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Which Model?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901892" y="1523619"/>
            <a:ext cx="4810929" cy="48565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901892" y="1523619"/>
            <a:ext cx="4810929" cy="485653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8 at 19.59.28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470" r="470" t="0"/>
          <a:stretch/>
        </p:blipFill>
        <p:spPr>
          <a:xfrm>
            <a:off x="6901892" y="1523619"/>
            <a:ext cx="4810929" cy="485653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761810" y="1726123"/>
            <a:ext cx="6020847" cy="374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2340"/>
              <a:buFont typeface="Montserrat"/>
              <a:buNone/>
            </a:pPr>
            <a:r>
              <a:rPr b="1" i="0" lang="en-US" sz="23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Decisions to select our base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61810" y="2318163"/>
            <a:ext cx="6020847" cy="171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ontserrat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Number of parameters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244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ontserrat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vs Qwen vs Phi vs Gemma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244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ontserrat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 or Instruct variants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0" y="379863"/>
            <a:ext cx="12188952" cy="43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9"/>
              <a:buFont typeface="Montserrat"/>
              <a:buNone/>
            </a:pPr>
            <a:r>
              <a:rPr b="0" i="0" lang="en-US" sz="27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Average prediction error from our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76131" y="4226888"/>
            <a:ext cx="1360374" cy="1600955"/>
          </a:xfrm>
          <a:prstGeom prst="rect">
            <a:avLst/>
          </a:prstGeom>
          <a:noFill/>
          <a:ln cap="flat" cmpd="sng" w="254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408116" y="5967111"/>
            <a:ext cx="1496353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Constant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753036" y="4822480"/>
            <a:ext cx="806566" cy="40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Montserra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$146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2122130" y="4303647"/>
            <a:ext cx="1360374" cy="1524196"/>
          </a:xfrm>
          <a:prstGeom prst="rect">
            <a:avLst/>
          </a:prstGeom>
          <a:noFill/>
          <a:ln cap="flat" cmpd="sng" w="254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2054169" y="5967111"/>
            <a:ext cx="1496353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Features + LR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2420038" y="4860860"/>
            <a:ext cx="764666" cy="40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Montserra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$139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768203" y="4764195"/>
            <a:ext cx="1360374" cy="1063648"/>
          </a:xfrm>
          <a:prstGeom prst="rect">
            <a:avLst/>
          </a:prstGeom>
          <a:noFill/>
          <a:ln cap="flat" cmpd="sng" w="254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3700221" y="5967111"/>
            <a:ext cx="1496353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123702" y="5091134"/>
            <a:ext cx="649443" cy="40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Montserra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$97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414279" y="4435232"/>
            <a:ext cx="1360374" cy="1392611"/>
          </a:xfrm>
          <a:prstGeom prst="rect">
            <a:avLst/>
          </a:prstGeom>
          <a:noFill/>
          <a:ln cap="flat" cmpd="sng" w="254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5346273" y="5967111"/>
            <a:ext cx="1496353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Human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712143" y="4926652"/>
            <a:ext cx="764666" cy="40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Montserra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$127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7060278" y="4994469"/>
            <a:ext cx="1360374" cy="833374"/>
          </a:xfrm>
          <a:prstGeom prst="rect">
            <a:avLst/>
          </a:prstGeom>
          <a:noFill/>
          <a:ln cap="flat" cmpd="sng" w="254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6992325" y="5967111"/>
            <a:ext cx="1496353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GPT-4o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421044" y="5206271"/>
            <a:ext cx="638968" cy="40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Montserra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$76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8706351" y="1485529"/>
            <a:ext cx="1360374" cy="4342314"/>
          </a:xfrm>
          <a:prstGeom prst="rect">
            <a:avLst/>
          </a:prstGeom>
          <a:solidFill>
            <a:srgbClr val="62A8BB"/>
          </a:solidFill>
          <a:ln cap="flat" cmpd="sng" w="254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8638378" y="5967111"/>
            <a:ext cx="1496353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3.1 Base 8B 4-bit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957110" y="3451801"/>
            <a:ext cx="858940" cy="40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Montserra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$396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0352427" y="2527245"/>
            <a:ext cx="1360371" cy="3300598"/>
          </a:xfrm>
          <a:prstGeom prst="rect">
            <a:avLst/>
          </a:prstGeom>
          <a:solidFill>
            <a:srgbClr val="62A8BB"/>
          </a:solidFill>
          <a:ln cap="flat" cmpd="sng" w="25400">
            <a:solidFill>
              <a:srgbClr val="62A8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0284430" y="5967111"/>
            <a:ext cx="1496353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3.1 Base 8B 8-bit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0639825" y="3972659"/>
            <a:ext cx="785616" cy="40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Montserrat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$301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EIGHTY PERCENT!!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8 at 13.38.36.png" id="80" name="Google Shape;80;p7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QLoRA for fine-tuning open-source models including defining target modules, r and alpha, select and evaluate a base open source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7"/>
          <p:cNvCxnSpPr/>
          <p:nvPr/>
        </p:nvCxnSpPr>
        <p:spPr>
          <a:xfrm>
            <a:off x="5156349" y="4375182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7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next time you will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156392" y="4793374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Outline the major hyper-parameters used during training 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 up an Supervised Fine Tuning Trainer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Kick off training your own proprietary LLM!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