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ba6adf41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aba6adf41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aba6adf41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ba6adf413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aba6adf413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ba6adf413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ba6adf413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aba6adf413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aba6adf413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ba6adf413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aba6adf413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aba6adf413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ba6adf413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aba6adf413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aba6adf413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64399"/>
            <a:ext cx="11998500" cy="509666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d Image October 08, 2025 - 7_47PM (1) (2)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1454" l="0" r="0" t="1454"/>
          <a:stretch/>
        </p:blipFill>
        <p:spPr>
          <a:xfrm>
            <a:off x="95226" y="1664399"/>
            <a:ext cx="11998500" cy="5096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517655" y="598660"/>
            <a:ext cx="5153641" cy="350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30"/>
              <a:buFont typeface="Montserrat"/>
              <a:buNone/>
            </a:pPr>
            <a:r>
              <a:rPr b="0" i="0" lang="en-US" sz="26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517655" y="985517"/>
            <a:ext cx="5153641" cy="28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Montserrat"/>
              <a:buNone/>
            </a:pPr>
            <a:r>
              <a:rPr b="0" i="0" lang="en-US" sz="175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7 DAY </a:t>
            </a:r>
            <a:r>
              <a:rPr lang="en-US" sz="1594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Training Results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9_w7_5-2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 QLoRA for fine-tuning open-source models including defining and choosing hyper-parameters and running and monitoring training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this session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156392" y="4793374"/>
            <a:ext cx="6897791" cy="1139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how Training works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 inference on a QLoRA fine-tuned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open source models to solve a business problem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Four Steps in Training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5"/>
          <p:cNvGrpSpPr/>
          <p:nvPr/>
        </p:nvGrpSpPr>
        <p:grpSpPr>
          <a:xfrm>
            <a:off x="665155" y="3006815"/>
            <a:ext cx="2074026" cy="1872486"/>
            <a:chOff x="665155" y="3006815"/>
            <a:chExt cx="2074026" cy="1872486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9273" y="3006815"/>
              <a:ext cx="780855" cy="6856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5"/>
            <p:cNvSpPr/>
            <p:nvPr/>
          </p:nvSpPr>
          <p:spPr>
            <a:xfrm>
              <a:off x="665155" y="4136388"/>
              <a:ext cx="2074026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Forward pass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665155" y="4452717"/>
              <a:ext cx="2074026" cy="426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Predict the next token in training data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5"/>
          <p:cNvGrpSpPr/>
          <p:nvPr/>
        </p:nvGrpSpPr>
        <p:grpSpPr>
          <a:xfrm>
            <a:off x="3321013" y="2873004"/>
            <a:ext cx="2618720" cy="2006297"/>
            <a:chOff x="3321013" y="2873004"/>
            <a:chExt cx="2618720" cy="2006297"/>
          </a:xfrm>
        </p:grpSpPr>
        <p:pic>
          <p:nvPicPr>
            <p:cNvPr id="44" name="Google Shape;44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28638" y="2873004"/>
              <a:ext cx="809423" cy="9141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45;p5"/>
            <p:cNvSpPr/>
            <p:nvPr/>
          </p:nvSpPr>
          <p:spPr>
            <a:xfrm>
              <a:off x="3321013" y="4136388"/>
              <a:ext cx="2618720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Loss calculation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3321013" y="4452717"/>
              <a:ext cx="2618720" cy="426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How different was it to the true next token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5"/>
          <p:cNvGrpSpPr/>
          <p:nvPr/>
        </p:nvGrpSpPr>
        <p:grpSpPr>
          <a:xfrm>
            <a:off x="6348730" y="3007044"/>
            <a:ext cx="2419697" cy="2085548"/>
            <a:chOff x="6348730" y="3007044"/>
            <a:chExt cx="2419697" cy="2085548"/>
          </a:xfrm>
        </p:grpSpPr>
        <p:pic>
          <p:nvPicPr>
            <p:cNvPr id="48" name="Google Shape;48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5678" y="3007044"/>
              <a:ext cx="780855" cy="6856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5"/>
            <p:cNvSpPr/>
            <p:nvPr/>
          </p:nvSpPr>
          <p:spPr>
            <a:xfrm>
              <a:off x="6348730" y="4136388"/>
              <a:ext cx="2419697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Backward pass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6348730" y="4452717"/>
              <a:ext cx="2419697" cy="639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How much should we tweak parameters to do better next time (the "gradients")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51;p5"/>
          <p:cNvGrpSpPr/>
          <p:nvPr/>
        </p:nvGrpSpPr>
        <p:grpSpPr>
          <a:xfrm>
            <a:off x="9208848" y="2928806"/>
            <a:ext cx="2555871" cy="1950495"/>
            <a:chOff x="9208848" y="2928806"/>
            <a:chExt cx="2555871" cy="1950495"/>
          </a:xfrm>
        </p:grpSpPr>
        <p:pic>
          <p:nvPicPr>
            <p:cNvPr id="52" name="Google Shape;52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107373" y="2928806"/>
              <a:ext cx="752287" cy="79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9208848" y="4136388"/>
              <a:ext cx="2555871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Optimization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9208848" y="4452717"/>
              <a:ext cx="2555871" cy="426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Update parameters a tiny step to do better next time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0" y="362827"/>
            <a:ext cx="12188878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The Forward Pass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661631" y="3034144"/>
            <a:ext cx="1393159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047488" y="3418620"/>
            <a:ext cx="2621444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1237940" y="3502464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301448" y="7494896"/>
            <a:ext cx="1428393" cy="142839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4638258" y="2456835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4638258" y="2837740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4638258" y="3228168"/>
            <a:ext cx="1456189" cy="24849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4638258" y="3609072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638258" y="4009022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4638258" y="4389927"/>
            <a:ext cx="1456189" cy="24849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638258" y="4780355"/>
            <a:ext cx="1456189" cy="2484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4638258" y="5161260"/>
            <a:ext cx="1456189" cy="2484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503950" y="3228168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7180055" y="3228168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7180055" y="4389927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503950" y="4389927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49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5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>
            <a:off x="9017919" y="3095744"/>
            <a:ext cx="2621444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9208372" y="3179598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8890414" y="2691330"/>
            <a:ext cx="2805140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227529" y="1897679"/>
            <a:ext cx="2315767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932717" y="2098845"/>
            <a:ext cx="813767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989214" y="2611866"/>
            <a:ext cx="2315767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789627" y="2854023"/>
            <a:ext cx="833571" cy="226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0" y="362827"/>
            <a:ext cx="12188878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The Loss Calculation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661631" y="3034144"/>
            <a:ext cx="1393159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047488" y="3418620"/>
            <a:ext cx="2621444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237940" y="3502464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301448" y="7494896"/>
            <a:ext cx="1428393" cy="142839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638258" y="2456835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4638258" y="2837740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638258" y="3228168"/>
            <a:ext cx="1456189" cy="24849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638258" y="3609072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638258" y="4009022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638258" y="4389927"/>
            <a:ext cx="1456189" cy="24849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4638258" y="4780355"/>
            <a:ext cx="1456189" cy="2484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4638258" y="5161260"/>
            <a:ext cx="1456189" cy="2484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6503950" y="3228168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7180055" y="3228168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180055" y="4389927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503950" y="4389927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49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5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9017919" y="3095744"/>
            <a:ext cx="2621444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208372" y="3179598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890414" y="2691330"/>
            <a:ext cx="2805140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017919" y="4419388"/>
            <a:ext cx="2621444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9208372" y="4503242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890414" y="4014974"/>
            <a:ext cx="2805140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Actual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979691" y="2691330"/>
            <a:ext cx="2315767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80104" y="2933487"/>
            <a:ext cx="833571" cy="226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208484" y="1897679"/>
            <a:ext cx="2315767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913671" y="2098845"/>
            <a:ext cx="813767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698430" y="4498475"/>
            <a:ext cx="687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0100" y="5828303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loss should be 0 if the model predicts exactly the right answer;</a:t>
            </a:r>
            <a:b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a higher loss should mean the prediction is “more wrong”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-9523" y="362827"/>
            <a:ext cx="12188878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The Backward Pass ("Backprop")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661631" y="3034144"/>
            <a:ext cx="1393159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047488" y="3418620"/>
            <a:ext cx="2621444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237940" y="3502464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301448" y="7494896"/>
            <a:ext cx="1428393" cy="142839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638260" y="2456835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4638260" y="2837740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638260" y="3228168"/>
            <a:ext cx="1456189" cy="24849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638260" y="3609072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638260" y="4009022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638260" y="4389927"/>
            <a:ext cx="1456189" cy="24849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638260" y="4780355"/>
            <a:ext cx="1456189" cy="2484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638260" y="5161260"/>
            <a:ext cx="1456189" cy="2484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6503948" y="3228168"/>
            <a:ext cx="527454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680117" y="3320572"/>
            <a:ext cx="175053" cy="575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"/>
              <a:buFont typeface="Montserrat"/>
              <a:buNone/>
            </a:pPr>
            <a:r>
              <a:rPr b="0" i="0" lang="en-US" sz="3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180055" y="3228168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7180055" y="4389927"/>
            <a:ext cx="527452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6503948" y="4389927"/>
            <a:ext cx="527454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51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51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49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5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9017919" y="3095744"/>
            <a:ext cx="2621446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9208372" y="3179598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890414" y="2691330"/>
            <a:ext cx="2805140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9017919" y="4419388"/>
            <a:ext cx="2621446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9208372" y="4503242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890414" y="4014974"/>
            <a:ext cx="2805140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Actual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4691" y="4082822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6642798" y="4330188"/>
            <a:ext cx="149386" cy="386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299859" y="4330188"/>
            <a:ext cx="149386" cy="386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642798" y="3158905"/>
            <a:ext cx="149386" cy="386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290336" y="3158905"/>
            <a:ext cx="149386" cy="386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208484" y="1954815"/>
            <a:ext cx="2315767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913671" y="2155980"/>
            <a:ext cx="813767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978920" y="2629885"/>
            <a:ext cx="2315767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769810" y="2872042"/>
            <a:ext cx="833571" cy="226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698430" y="4498475"/>
            <a:ext cx="687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0" y="362827"/>
            <a:ext cx="12188878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Optimization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0" y="978375"/>
            <a:ext cx="12188878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Shift weights a tiny amount (the Learning Rate) for a slightly higher chance of predicting the right token next time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661631" y="3034144"/>
            <a:ext cx="1393159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047488" y="3418620"/>
            <a:ext cx="2621444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1237940" y="3502464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301447" y="7494896"/>
            <a:ext cx="1428393" cy="142839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638259" y="2456835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638259" y="2837740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638259" y="3228168"/>
            <a:ext cx="1456189" cy="24849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638259" y="3609072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638259" y="4009022"/>
            <a:ext cx="1456189" cy="2484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638259" y="4389927"/>
            <a:ext cx="1456189" cy="24849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638259" y="4780355"/>
            <a:ext cx="1456189" cy="2484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638259" y="5161260"/>
            <a:ext cx="1456189" cy="2484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503948" y="3228168"/>
            <a:ext cx="527454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680117" y="3320572"/>
            <a:ext cx="175053" cy="575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"/>
              <a:buFont typeface="Montserrat"/>
              <a:buNone/>
            </a:pPr>
            <a:r>
              <a:rPr b="0" i="0" lang="en-US" sz="3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180054" y="3228168"/>
            <a:ext cx="527454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7180054" y="4389927"/>
            <a:ext cx="527454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503948" y="4389927"/>
            <a:ext cx="527454" cy="24849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208484" y="2021925"/>
            <a:ext cx="2315767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951123" y="2539420"/>
            <a:ext cx="2315767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50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50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50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4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9017920" y="3095744"/>
            <a:ext cx="2621445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9208372" y="3179598"/>
            <a:ext cx="2464543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890414" y="2691330"/>
            <a:ext cx="2805140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9017920" y="4419388"/>
            <a:ext cx="2621445" cy="599925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9208372" y="4506067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890414" y="4014974"/>
            <a:ext cx="2805140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Actual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0698430" y="4498475"/>
            <a:ext cx="687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4691" y="4082822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6642798" y="4330188"/>
            <a:ext cx="149386" cy="386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299859" y="4330188"/>
            <a:ext cx="149386" cy="386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642798" y="3158905"/>
            <a:ext cx="149386" cy="386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290336" y="3158905"/>
            <a:ext cx="149386" cy="386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503948" y="4389927"/>
            <a:ext cx="527454" cy="248491"/>
          </a:xfrm>
          <a:prstGeom prst="rect">
            <a:avLst/>
          </a:prstGeom>
          <a:solidFill>
            <a:srgbClr val="62B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7180054" y="4389927"/>
            <a:ext cx="527454" cy="248491"/>
          </a:xfrm>
          <a:prstGeom prst="rect">
            <a:avLst/>
          </a:prstGeom>
          <a:solidFill>
            <a:srgbClr val="62B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503948" y="3228168"/>
            <a:ext cx="527454" cy="248491"/>
          </a:xfrm>
          <a:prstGeom prst="rect">
            <a:avLst/>
          </a:prstGeom>
          <a:solidFill>
            <a:srgbClr val="62B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7180054" y="3228168"/>
            <a:ext cx="527454" cy="248491"/>
          </a:xfrm>
          <a:prstGeom prst="rect">
            <a:avLst/>
          </a:prstGeom>
          <a:solidFill>
            <a:srgbClr val="62B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1450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1450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6749688" y="2781125"/>
            <a:ext cx="833571" cy="226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913671" y="2223090"/>
            <a:ext cx="813767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The Forward Pass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661631" y="3034144"/>
            <a:ext cx="1393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047488" y="3418620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237940" y="3502464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301448" y="7494896"/>
            <a:ext cx="1428300" cy="142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638258" y="245683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638258" y="283774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638258" y="3228168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638258" y="360907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638258" y="400902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638258" y="4389927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638258" y="478035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638258" y="516126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503950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7180055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7180055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503950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49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5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>
            <a:off x="9017919" y="3095744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9208372" y="3179598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8890414" y="2691330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227529" y="1897679"/>
            <a:ext cx="231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932717" y="2098845"/>
            <a:ext cx="813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989214" y="2611866"/>
            <a:ext cx="23157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789627" y="2854023"/>
            <a:ext cx="8337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0100" y="5828303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 LLM doesn’t simply “predict the next token” - it gives a probability distribution;</a:t>
            </a:r>
            <a:b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probability for each possible </a:t>
            </a: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</a:t>
            </a: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token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The Loss Calculation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661631" y="3034144"/>
            <a:ext cx="1393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047488" y="3418620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1237940" y="3502464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3301448" y="7494896"/>
            <a:ext cx="1428300" cy="142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4638258" y="245683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638258" y="283774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638258" y="3228168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638258" y="360907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638258" y="400902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638258" y="4389927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638258" y="478035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638258" y="516126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6503950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7180055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7180055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503950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49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5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/>
          <p:nvPr/>
        </p:nvSpPr>
        <p:spPr>
          <a:xfrm>
            <a:off x="9017919" y="3095744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9208372" y="3179598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8890414" y="2691330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9017919" y="4419388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9208372" y="4503242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890414" y="4014974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Actual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979691" y="2691330"/>
            <a:ext cx="23157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780104" y="2933487"/>
            <a:ext cx="8337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208484" y="1897679"/>
            <a:ext cx="231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913671" y="2098845"/>
            <a:ext cx="813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0698430" y="4498475"/>
            <a:ext cx="687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0100" y="568392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trick: don’t consider the predicted next token..</a:t>
            </a:r>
            <a:endParaRPr sz="18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Consider what probability did the model assign the true next token (89)</a:t>
            </a:r>
            <a:endParaRPr sz="18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it gave this a probability of 100%, then loss = 0. Otherwise, the lower the prob, the higher the loss.</a:t>
            </a:r>
            <a:endParaRPr sz="18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The Loss Calculation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661631" y="3034144"/>
            <a:ext cx="1393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1047488" y="3418620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1237940" y="3502464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3301448" y="7494896"/>
            <a:ext cx="1428300" cy="142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4638258" y="245683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4638258" y="283774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4638258" y="3228168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4638258" y="360907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4638258" y="400902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4638258" y="4389927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4638258" y="478035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4638258" y="516126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6503950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7180055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7180055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6503950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49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49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5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/>
          <p:nvPr/>
        </p:nvSpPr>
        <p:spPr>
          <a:xfrm>
            <a:off x="9017919" y="3095744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9208372" y="3179598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8890414" y="2691330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9017919" y="4419388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9208372" y="4503242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8890414" y="4014974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Actual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979691" y="2691330"/>
            <a:ext cx="23157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780104" y="2933487"/>
            <a:ext cx="8337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208484" y="1897679"/>
            <a:ext cx="231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913671" y="2098845"/>
            <a:ext cx="813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0698430" y="4498475"/>
            <a:ext cx="687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40100" y="568392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negative log of the probability of the true value</a:t>
            </a:r>
            <a:endParaRPr sz="18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-log(probability of $89)</a:t>
            </a:r>
            <a:endParaRPr sz="18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18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Because -log(1) = 0 and -log(small number) = higher number</a:t>
            </a:r>
            <a:endParaRPr sz="18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t/>
            </a:r>
            <a:endParaRPr sz="18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/>
          <p:nvPr/>
        </p:nvSpPr>
        <p:spPr>
          <a:xfrm>
            <a:off x="-9523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The Backward Pass ("Backprop")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661631" y="3034144"/>
            <a:ext cx="1393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047488" y="3418620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1237940" y="3502464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3301448" y="7494896"/>
            <a:ext cx="1428300" cy="142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4638260" y="245683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638260" y="283774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638260" y="3228168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638260" y="360907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4638260" y="400902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4638260" y="4389927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4638260" y="478035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4638260" y="516126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6503948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6680117" y="3320572"/>
            <a:ext cx="175200" cy="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"/>
              <a:buFont typeface="Montserrat"/>
              <a:buNone/>
            </a:pPr>
            <a:r>
              <a:rPr b="0" i="0" lang="en-US" sz="3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180055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7180055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6503948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51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51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49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5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>
            <a:off x="9017919" y="3095744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9208372" y="3179598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8890414" y="2691330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9017919" y="4419388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9208372" y="4503242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890414" y="4014974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Actual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4691" y="4082822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/>
          <p:nvPr/>
        </p:nvSpPr>
        <p:spPr>
          <a:xfrm>
            <a:off x="6642798" y="4330188"/>
            <a:ext cx="149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7299859" y="4330188"/>
            <a:ext cx="149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6642798" y="3158905"/>
            <a:ext cx="149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7290336" y="3158905"/>
            <a:ext cx="149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4208484" y="1954815"/>
            <a:ext cx="231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4913671" y="2155980"/>
            <a:ext cx="813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5978920" y="2629885"/>
            <a:ext cx="23157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769810" y="2872042"/>
            <a:ext cx="8337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0698430" y="4498475"/>
            <a:ext cx="687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Optimization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0" y="978375"/>
            <a:ext cx="1218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Shift weights a tiny amount (the Learning Rate) for a slightly higher chance of predicting the right token next time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1661631" y="3034144"/>
            <a:ext cx="1393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047488" y="3418620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1237940" y="3502464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3301447" y="7494896"/>
            <a:ext cx="1428300" cy="142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4638259" y="245683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4638259" y="283774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4638259" y="3228168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4638259" y="360907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4638259" y="4009022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4638259" y="4389927"/>
            <a:ext cx="1456200" cy="248400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4638259" y="4780355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4638259" y="5161260"/>
            <a:ext cx="1456200" cy="24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6503948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6680117" y="3320572"/>
            <a:ext cx="175200" cy="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"/>
              <a:buFont typeface="Montserrat"/>
              <a:buNone/>
            </a:pPr>
            <a:r>
              <a:rPr b="0" i="0" lang="en-US" sz="3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7180054" y="3228168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7180054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6503948" y="4389927"/>
            <a:ext cx="527400" cy="2484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208484" y="2021925"/>
            <a:ext cx="231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5951123" y="2539420"/>
            <a:ext cx="23157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LoRA Adaptors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50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450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3350" y="3396302"/>
            <a:ext cx="447563" cy="638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394" y="3423381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4"/>
          <p:cNvSpPr/>
          <p:nvPr/>
        </p:nvSpPr>
        <p:spPr>
          <a:xfrm>
            <a:off x="9017920" y="3095744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9208372" y="3179598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r>
              <a:rPr b="1" i="0" lang="en-US" sz="2400" u="none" cap="none" strike="noStrike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8890414" y="2691330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Predicted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9017920" y="4419388"/>
            <a:ext cx="2621400" cy="600000"/>
          </a:xfrm>
          <a:prstGeom prst="rect">
            <a:avLst/>
          </a:prstGeom>
          <a:noFill/>
          <a:ln cap="flat" cmpd="sng" w="127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9208372" y="4506067"/>
            <a:ext cx="24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rPr>
              <a:t>Price is $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8890414" y="4014974"/>
            <a:ext cx="280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Actual Next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10698430" y="4498475"/>
            <a:ext cx="687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4691" y="4082822"/>
            <a:ext cx="447563" cy="63801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4"/>
          <p:cNvSpPr/>
          <p:nvPr/>
        </p:nvSpPr>
        <p:spPr>
          <a:xfrm>
            <a:off x="6642798" y="4330188"/>
            <a:ext cx="149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7299859" y="4330188"/>
            <a:ext cx="149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6642798" y="3158905"/>
            <a:ext cx="149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7290336" y="3158905"/>
            <a:ext cx="149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175"/>
              <a:buFont typeface="Montserrat"/>
              <a:buNone/>
            </a:pPr>
            <a:r>
              <a:rPr b="1" i="0" lang="en-US" sz="2175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6503948" y="4389927"/>
            <a:ext cx="527400" cy="248400"/>
          </a:xfrm>
          <a:prstGeom prst="rect">
            <a:avLst/>
          </a:prstGeom>
          <a:solidFill>
            <a:srgbClr val="62B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7180054" y="4389927"/>
            <a:ext cx="527400" cy="248400"/>
          </a:xfrm>
          <a:prstGeom prst="rect">
            <a:avLst/>
          </a:prstGeom>
          <a:solidFill>
            <a:srgbClr val="62B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6503948" y="3228168"/>
            <a:ext cx="527400" cy="248400"/>
          </a:xfrm>
          <a:prstGeom prst="rect">
            <a:avLst/>
          </a:prstGeom>
          <a:solidFill>
            <a:srgbClr val="62B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4"/>
          <p:cNvSpPr/>
          <p:nvPr/>
        </p:nvSpPr>
        <p:spPr>
          <a:xfrm>
            <a:off x="7180054" y="3228168"/>
            <a:ext cx="527400" cy="248400"/>
          </a:xfrm>
          <a:prstGeom prst="rect">
            <a:avLst/>
          </a:prstGeom>
          <a:solidFill>
            <a:srgbClr val="62B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1450" y="4381818"/>
            <a:ext cx="314246" cy="28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1450" y="3220059"/>
            <a:ext cx="314246" cy="28567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4"/>
          <p:cNvSpPr/>
          <p:nvPr/>
        </p:nvSpPr>
        <p:spPr>
          <a:xfrm>
            <a:off x="6749688" y="2781125"/>
            <a:ext cx="8337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913671" y="2223090"/>
            <a:ext cx="813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An important technical detail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 Token Prediction and Cross Entropy Loss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7318238" y="1952137"/>
            <a:ext cx="4394583" cy="442801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8 at 20.07.21.png" id="430" name="Google Shape;430;p15"/>
          <p:cNvPicPr preferRelativeResize="0"/>
          <p:nvPr/>
        </p:nvPicPr>
        <p:blipFill rotWithShape="1">
          <a:blip r:embed="rId3">
            <a:alphaModFix/>
          </a:blip>
          <a:srcRect b="0" l="378" r="378" t="0"/>
          <a:stretch/>
        </p:blipFill>
        <p:spPr>
          <a:xfrm>
            <a:off x="7318238" y="1952137"/>
            <a:ext cx="4394583" cy="4428018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5"/>
          <p:cNvSpPr/>
          <p:nvPr/>
        </p:nvSpPr>
        <p:spPr>
          <a:xfrm>
            <a:off x="761810" y="2187970"/>
            <a:ext cx="6478796" cy="22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04"/>
              <a:buFont typeface="Montserrat"/>
              <a:buNone/>
            </a:pPr>
            <a:r>
              <a:rPr b="1" i="0" lang="en-US" sz="140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The Model Output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761810" y="2543060"/>
            <a:ext cx="6478796" cy="14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model doesn't simply "Predict the next token"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Rather, it outputs the probabilities of all possible next tokens</a:t>
            </a:r>
            <a:endParaRPr/>
          </a:p>
          <a:p>
            <a:pPr indent="0" lvl="1" marL="457200" marR="0" rtl="0" algn="l">
              <a:lnSpc>
                <a:spcPct val="140096"/>
              </a:lnSpc>
              <a:spcBef>
                <a:spcPts val="228"/>
              </a:spcBef>
              <a:spcAft>
                <a:spcPts val="0"/>
              </a:spcAft>
              <a:buClr>
                <a:srgbClr val="FFFFFF"/>
              </a:buClr>
              <a:buSzPts val="828"/>
              <a:buFont typeface="Montserrat"/>
              <a:buNone/>
            </a:pPr>
            <a:r>
              <a:rPr b="0" i="0" lang="en-US" sz="82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is the result of using the 'softmax' function over the output from the last layer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551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During inference, you can pick the token with highest probability, or sample from possible next tokens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761810" y="4409344"/>
            <a:ext cx="6478796" cy="22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04"/>
              <a:buFont typeface="Montserrat"/>
              <a:buNone/>
            </a:pPr>
            <a:r>
              <a:rPr b="1" i="0" lang="en-US" sz="140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The Loss Function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761810" y="4764434"/>
            <a:ext cx="6478796" cy="1184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approach for calculating loss is quite simple:</a:t>
            </a:r>
            <a:endParaRPr/>
          </a:p>
          <a:p>
            <a:pPr indent="-242900" lvl="1" marL="485800" marR="0" rtl="0" algn="l">
              <a:lnSpc>
                <a:spcPct val="140096"/>
              </a:lnSpc>
              <a:spcBef>
                <a:spcPts val="228"/>
              </a:spcBef>
              <a:spcAft>
                <a:spcPts val="0"/>
              </a:spcAft>
              <a:buClr>
                <a:srgbClr val="FFFFFF"/>
              </a:buClr>
              <a:buSzPts val="828"/>
              <a:buFont typeface="Montserrat"/>
              <a:buChar char="•"/>
            </a:pPr>
            <a:r>
              <a:rPr b="0" i="0" lang="en-US" sz="82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Just ask: what probability did the model assign to the token that actually was the correct next token?</a:t>
            </a:r>
            <a:endParaRPr/>
          </a:p>
          <a:p>
            <a:pPr indent="-242900" lvl="1" marL="485800" marR="0" rtl="0" algn="l">
              <a:lnSpc>
                <a:spcPct val="140096"/>
              </a:lnSpc>
              <a:spcBef>
                <a:spcPts val="314"/>
              </a:spcBef>
              <a:spcAft>
                <a:spcPts val="0"/>
              </a:spcAft>
              <a:buClr>
                <a:srgbClr val="FFFFFF"/>
              </a:buClr>
              <a:buSzPts val="828"/>
              <a:buFont typeface="Montserrat"/>
              <a:buChar char="•"/>
            </a:pPr>
            <a:r>
              <a:rPr b="0" i="0" lang="en-US" sz="82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practice we then take the log of this probability and times by -1</a:t>
            </a:r>
            <a:endParaRPr/>
          </a:p>
          <a:p>
            <a:pPr indent="-242900" lvl="1" marL="485800" marR="0" rtl="0" algn="l">
              <a:lnSpc>
                <a:spcPct val="140096"/>
              </a:lnSpc>
              <a:spcBef>
                <a:spcPts val="314"/>
              </a:spcBef>
              <a:spcAft>
                <a:spcPts val="0"/>
              </a:spcAft>
              <a:buClr>
                <a:srgbClr val="FFFFFF"/>
              </a:buClr>
              <a:buSzPts val="828"/>
              <a:buFont typeface="Montserrat"/>
              <a:buChar char="•"/>
            </a:pPr>
            <a:r>
              <a:rPr b="0" i="0" lang="en-US" sz="82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 0 means we were 100% confident of the right result; higher numbers mean lower confidence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551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is called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cross-entropy loss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I've kept the best to last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10_w7_5-1.png" id="443" name="Google Shape;443;p16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6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16"/>
          <p:cNvCxnSpPr/>
          <p:nvPr/>
        </p:nvCxnSpPr>
        <p:spPr>
          <a:xfrm>
            <a:off x="5156386" y="4348196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7" name="Google Shape;447;p16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Next week is the finale -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5156392" y="4793374"/>
            <a:ext cx="6897791" cy="1139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customized models behind an API using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serverless AI platform modal.com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large scale RAG pipeline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an Agentic solution from scratch to solve a commercial problem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