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b7fed8e2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ab7fed8e2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ab7fed8e2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b7fed8e21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ab7fed8e21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ab7fed8e21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7fed8e21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ab7fed8e21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b7fed8e21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16411"/>
            <a:ext cx="11998500" cy="5144648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7_Brain_F2 copy (1).png" id="17" name="Google Shape;17;p3"/>
          <p:cNvPicPr preferRelativeResize="0"/>
          <p:nvPr/>
        </p:nvPicPr>
        <p:blipFill rotWithShape="1">
          <a:blip r:embed="rId3">
            <a:alphaModFix/>
          </a:blip>
          <a:srcRect b="208" l="0" r="0" t="208"/>
          <a:stretch/>
        </p:blipFill>
        <p:spPr>
          <a:xfrm>
            <a:off x="95226" y="1616411"/>
            <a:ext cx="11998500" cy="51446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753340" y="603942"/>
            <a:ext cx="4682272" cy="318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91"/>
              <a:buFont typeface="Montserrat"/>
              <a:buNone/>
            </a:pPr>
            <a:r>
              <a:rPr b="0" i="0" lang="en-US" sz="239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753340" y="955684"/>
            <a:ext cx="4682272" cy="254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Massive week ahead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8 at 06.37.50.png" id="28" name="Google Shape;28;p4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 Face transformers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advanced RAG solutions with LangChain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 and making a baseline model with traditional ML, DL and making a Frontier solution, and fine-tuning Frontier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3" y="4356416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Today your advanced journey begins - you will soon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793374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LoRA for fine-tuning Open Source models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Describe Quantization and QLoRA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3 key hyper-parameters: r, alpha and target modules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362827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RECAP: </a:t>
            </a: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YOUR 8 WEEK JOURNEY TO  MASTERY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37815"/>
            <a:ext cx="12198476" cy="390427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/>
          <p:nvPr/>
        </p:nvSpPr>
        <p:spPr>
          <a:xfrm>
            <a:off x="371382" y="5531898"/>
            <a:ext cx="1257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Montserrat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</a:t>
            </a:r>
            <a:r>
              <a:rPr b="1" lang="en-US"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WERE</a:t>
            </a: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HERE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617720" y="2727486"/>
            <a:ext cx="12570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4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Montserrat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791" y="2390178"/>
            <a:ext cx="371382" cy="48565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1209373" y="4261595"/>
            <a:ext cx="1676100" cy="1213911"/>
            <a:chOff x="1209373" y="4261595"/>
            <a:chExt cx="1676100" cy="1213911"/>
          </a:xfrm>
        </p:grpSpPr>
        <p:sp>
          <p:nvSpPr>
            <p:cNvPr id="45" name="Google Shape;45;p5"/>
            <p:cNvSpPr/>
            <p:nvPr/>
          </p:nvSpPr>
          <p:spPr>
            <a:xfrm>
              <a:off x="1209373" y="4261595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1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09373" y="4558656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lang="en-US" sz="96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Foundations and the</a:t>
              </a:r>
              <a:endParaRPr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lang="en-US" sz="96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 Completions API</a:t>
              </a:r>
              <a:endParaRPr sz="96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7" name="Google Shape;47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61609" y="5066033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" name="Google Shape;48;p5"/>
          <p:cNvGrpSpPr/>
          <p:nvPr/>
        </p:nvGrpSpPr>
        <p:grpSpPr>
          <a:xfrm>
            <a:off x="3094852" y="3580728"/>
            <a:ext cx="2161753" cy="808861"/>
            <a:chOff x="3094852" y="3580728"/>
            <a:chExt cx="2161753" cy="808861"/>
          </a:xfrm>
        </p:grpSpPr>
        <p:sp>
          <p:nvSpPr>
            <p:cNvPr id="49" name="Google Shape;49;p5"/>
            <p:cNvSpPr/>
            <p:nvPr/>
          </p:nvSpPr>
          <p:spPr>
            <a:xfrm>
              <a:off x="3580505" y="3580728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2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3580505" y="3877789"/>
              <a:ext cx="16761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Frontier Models with APIs, UIs</a:t>
              </a:r>
              <a:r>
                <a:rPr lang="en-US" sz="96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and Multi-modality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51" name="Google Shape;5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94852" y="3723344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" name="Google Shape;52;p5"/>
          <p:cNvGrpSpPr/>
          <p:nvPr/>
        </p:nvGrpSpPr>
        <p:grpSpPr>
          <a:xfrm>
            <a:off x="2114021" y="2104722"/>
            <a:ext cx="2237818" cy="752064"/>
            <a:chOff x="2114021" y="2104722"/>
            <a:chExt cx="2237818" cy="752064"/>
          </a:xfrm>
        </p:grpSpPr>
        <p:sp>
          <p:nvSpPr>
            <p:cNvPr id="53" name="Google Shape;53;p5"/>
            <p:cNvSpPr/>
            <p:nvPr/>
          </p:nvSpPr>
          <p:spPr>
            <a:xfrm>
              <a:off x="2114021" y="210472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3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2114021" y="240178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3 - Open Source with Hugging Face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55" name="Google Shape;55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066160" y="2456836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6" name="Google Shape;56;p5"/>
          <p:cNvGrpSpPr/>
          <p:nvPr/>
        </p:nvGrpSpPr>
        <p:grpSpPr>
          <a:xfrm>
            <a:off x="5675481" y="2599898"/>
            <a:ext cx="2142708" cy="761587"/>
            <a:chOff x="5675481" y="2599898"/>
            <a:chExt cx="2142708" cy="761587"/>
          </a:xfrm>
        </p:grpSpPr>
        <p:sp>
          <p:nvSpPr>
            <p:cNvPr id="57" name="Google Shape;57;p5"/>
            <p:cNvSpPr/>
            <p:nvPr/>
          </p:nvSpPr>
          <p:spPr>
            <a:xfrm>
              <a:off x="6142089" y="2599898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4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142089" y="2896959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Selecting LLMs and Code Generation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59" name="Google Shape;59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75481" y="2961535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5"/>
          <p:cNvGrpSpPr/>
          <p:nvPr/>
        </p:nvGrpSpPr>
        <p:grpSpPr>
          <a:xfrm>
            <a:off x="4266133" y="4542289"/>
            <a:ext cx="2190202" cy="1118570"/>
            <a:chOff x="4266133" y="4542289"/>
            <a:chExt cx="2190202" cy="1118570"/>
          </a:xfrm>
        </p:grpSpPr>
        <p:sp>
          <p:nvSpPr>
            <p:cNvPr id="61" name="Google Shape;61;p5"/>
            <p:cNvSpPr/>
            <p:nvPr/>
          </p:nvSpPr>
          <p:spPr>
            <a:xfrm>
              <a:off x="4266133" y="4851997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5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4266133" y="5149059"/>
              <a:ext cx="1676100" cy="5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and Question Answering -</a:t>
              </a:r>
              <a:br>
                <a:rPr lang="en-US" sz="96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Creating an Expert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63" name="Google Shape;63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161134" y="4542289"/>
              <a:ext cx="295201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4" name="Google Shape;64;p5"/>
          <p:cNvGrpSpPr/>
          <p:nvPr/>
        </p:nvGrpSpPr>
        <p:grpSpPr>
          <a:xfrm>
            <a:off x="6827718" y="4433002"/>
            <a:ext cx="1676100" cy="1175820"/>
            <a:chOff x="6827718" y="4433002"/>
            <a:chExt cx="1676100" cy="1175820"/>
          </a:xfrm>
        </p:grpSpPr>
        <p:sp>
          <p:nvSpPr>
            <p:cNvPr id="65" name="Google Shape;65;p5"/>
            <p:cNvSpPr/>
            <p:nvPr/>
          </p:nvSpPr>
          <p:spPr>
            <a:xfrm>
              <a:off x="6827718" y="443300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i="0" lang="en-US" sz="120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6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6827718" y="473006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i="0" lang="en-US" sz="960" u="none" cap="none" strike="noStrike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a Frontier Model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pic>
          <p:nvPicPr>
            <p:cNvPr id="67" name="Google Shape;67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656187" y="5208872"/>
              <a:ext cx="285679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8" name="Google Shape;68;p5"/>
          <p:cNvGrpSpPr/>
          <p:nvPr/>
        </p:nvGrpSpPr>
        <p:grpSpPr>
          <a:xfrm>
            <a:off x="8798899" y="4009023"/>
            <a:ext cx="2209367" cy="733610"/>
            <a:chOff x="8798899" y="4009023"/>
            <a:chExt cx="2209367" cy="733610"/>
          </a:xfrm>
        </p:grpSpPr>
        <p:sp>
          <p:nvSpPr>
            <p:cNvPr id="69" name="Google Shape;69;p5"/>
            <p:cNvSpPr/>
            <p:nvPr/>
          </p:nvSpPr>
          <p:spPr>
            <a:xfrm>
              <a:off x="9332166" y="410447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1" i="0" lang="en-US" sz="1200" u="none" cap="none" strike="noStrike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7</a:t>
              </a:r>
              <a:endParaRPr b="1" i="0" sz="1800" u="none" cap="none" strike="noStrike">
                <a:solidFill>
                  <a:srgbClr val="F0B356"/>
                </a:solidFill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9332166" y="440153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1" i="0" lang="en-US" sz="960" u="none" cap="none" strike="noStrike">
                  <a:solidFill>
                    <a:srgbClr val="F0B35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Fine-tuning an Open-Source Model</a:t>
              </a:r>
              <a:endParaRPr b="1" i="0" sz="1800" u="none" cap="none" strike="noStrike">
                <a:solidFill>
                  <a:srgbClr val="F0B356"/>
                </a:solidFill>
              </a:endParaRPr>
            </a:p>
          </p:txBody>
        </p:sp>
        <p:pic>
          <p:nvPicPr>
            <p:cNvPr id="71" name="Google Shape;71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98899" y="4009023"/>
              <a:ext cx="295201" cy="399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2" name="Google Shape;72;p5"/>
          <p:cNvGrpSpPr/>
          <p:nvPr/>
        </p:nvGrpSpPr>
        <p:grpSpPr>
          <a:xfrm>
            <a:off x="7751412" y="2104722"/>
            <a:ext cx="2142589" cy="837768"/>
            <a:chOff x="7751412" y="2104722"/>
            <a:chExt cx="2142589" cy="837768"/>
          </a:xfrm>
        </p:grpSpPr>
        <p:sp>
          <p:nvSpPr>
            <p:cNvPr id="73" name="Google Shape;73;p5"/>
            <p:cNvSpPr/>
            <p:nvPr/>
          </p:nvSpPr>
          <p:spPr>
            <a:xfrm>
              <a:off x="7751412" y="2104722"/>
              <a:ext cx="1676100" cy="1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ontserrat"/>
                <a:buNone/>
              </a:pPr>
              <a:r>
                <a:rPr b="0" i="0" lang="en-US" sz="12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Week 8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751412" y="2401783"/>
              <a:ext cx="16761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60"/>
                <a:buFont typeface="Montserrat"/>
                <a:buNone/>
              </a:pPr>
              <a:r>
                <a:rPr b="0" i="0" lang="en-US" sz="96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Finale - Agentic AI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608322" y="2533017"/>
              <a:ext cx="285679" cy="40947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1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BUT FIRST, TO INTRODUCE THE CAPSTONE PROJECT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juicy commercial problem: 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</a:t>
            </a: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ght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318238" y="1952137"/>
            <a:ext cx="4394700" cy="44280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5 at 19.33.52.pn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16918" r="16918" t="0"/>
          <a:stretch/>
        </p:blipFill>
        <p:spPr>
          <a:xfrm>
            <a:off x="7318238" y="1952137"/>
            <a:ext cx="4394584" cy="442801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761810" y="2173835"/>
            <a:ext cx="6478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Given a description of a product, predict its price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61810" y="2714616"/>
            <a:ext cx="6478800" cy="28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true value of a product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will ultimately be incorporated in an Agentic Solution that will hunt for bargains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Frontier models have done amazingly. Can we fine-tune an open-source model to have comparable performance at a fraction of the size?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0" y="419516"/>
            <a:ext cx="121890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0" y="790154"/>
            <a:ext cx="12189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Price Is R</a:t>
            </a: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b="1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ght</a:t>
            </a:r>
            <a:endParaRPr b="1"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747135" y="1899111"/>
            <a:ext cx="6478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ORDER OF PLAY: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2747125" y="2439904"/>
            <a:ext cx="64788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E66922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E66922"/>
                </a:solidFill>
                <a:latin typeface="Montserrat"/>
                <a:ea typeface="Montserrat"/>
                <a:cs typeface="Montserrat"/>
                <a:sym typeface="Montserrat"/>
              </a:rPr>
              <a:t>Week 6: Data Curation, Evaluation, Frontier Models</a:t>
            </a:r>
            <a:endParaRPr b="1" sz="1800">
              <a:solidFill>
                <a:srgbClr val="E669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0B35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Week 7: Fine-tune Open-Source LLM</a:t>
            </a:r>
            <a:endParaRPr b="1" sz="18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1: Introducing QLoRA</a:t>
            </a:r>
            <a:b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2: Prompt dataset &amp; base model eval</a:t>
            </a:r>
            <a:b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3: Training Part 1</a:t>
            </a:r>
            <a:b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4: Training Part 2</a:t>
            </a:r>
            <a:b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US" sz="1800">
                <a:solidFill>
                  <a:srgbClr val="F0B356"/>
                </a:solidFill>
                <a:latin typeface="Montserrat"/>
                <a:ea typeface="Montserrat"/>
                <a:cs typeface="Montserrat"/>
                <a:sym typeface="Montserrat"/>
              </a:rPr>
              <a:t>Day 5: Evaluation</a:t>
            </a:r>
            <a:endParaRPr b="1" sz="1800">
              <a:solidFill>
                <a:srgbClr val="F0B35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AD44A6"/>
              </a:buClr>
              <a:buSzPts val="1800"/>
              <a:buFont typeface="Montserrat"/>
              <a:buChar char="•"/>
            </a:pPr>
            <a:r>
              <a:rPr b="1" lang="en-US" sz="1800">
                <a:solidFill>
                  <a:srgbClr val="AD44A6"/>
                </a:solidFill>
                <a:latin typeface="Montserrat"/>
                <a:ea typeface="Montserrat"/>
                <a:cs typeface="Montserrat"/>
                <a:sym typeface="Montserrat"/>
              </a:rPr>
              <a:t>Week 8: Deployed model, RAG, Agentic Product</a:t>
            </a:r>
            <a:endParaRPr b="1" sz="1800">
              <a:solidFill>
                <a:srgbClr val="AD44A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2" marL="0" marR="0" rtl="0" algn="l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rgbClr val="FFFFFF"/>
              </a:buClr>
              <a:buSzPts val="1380"/>
              <a:buFont typeface="Montserrat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level explanation of LoRA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0" y="981053"/>
            <a:ext cx="12188952" cy="28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Using Llama 3.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 weights - far too much for us to train on a GPU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2304473" y="5132691"/>
            <a:ext cx="3641453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2304473" y="4732742"/>
            <a:ext cx="3641453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2304473" y="4332792"/>
            <a:ext cx="3641453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2294953" y="3932841"/>
            <a:ext cx="3641447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2285429" y="3532891"/>
            <a:ext cx="3641447" cy="274252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2275904" y="3132941"/>
            <a:ext cx="3641453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2266384" y="2732992"/>
            <a:ext cx="3641447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2256859" y="2333042"/>
            <a:ext cx="3641453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2247340" y="1933091"/>
            <a:ext cx="3641447" cy="274252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6780105" y="2126222"/>
            <a:ext cx="5264610" cy="3096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Llama 3.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 architecture consists of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28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groups of modules stacked on top of each other, called 'Llama Decoder Layers'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Each has self-attention layers,</a:t>
            </a:r>
            <a:b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multi-layer perceptron layers, SiLU activation and layer norm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952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These parameters take up </a:t>
            </a: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GB memory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level explanation of LoRA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0" y="981053"/>
            <a:ext cx="12188952" cy="28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1: Freeze the weights - we will not optimize them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2304473" y="5132691"/>
            <a:ext cx="3641453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2304473" y="4732742"/>
            <a:ext cx="3641453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2304473" y="4332792"/>
            <a:ext cx="3641453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2294953" y="3932841"/>
            <a:ext cx="3641447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2285429" y="3532891"/>
            <a:ext cx="3641447" cy="274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2275904" y="3132941"/>
            <a:ext cx="3641453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2266384" y="2732992"/>
            <a:ext cx="3641447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2256859" y="2333042"/>
            <a:ext cx="3641453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2247340" y="1933091"/>
            <a:ext cx="3641447" cy="274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level explanation of LoRA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0" y="981053"/>
            <a:ext cx="12188952" cy="28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2: Select some layers to target, called "Target Modules"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2304473" y="5132691"/>
            <a:ext cx="3641400" cy="2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"/>
          <p:cNvSpPr/>
          <p:nvPr/>
        </p:nvSpPr>
        <p:spPr>
          <a:xfrm>
            <a:off x="2304473" y="4732742"/>
            <a:ext cx="3641400" cy="2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2304473" y="4332792"/>
            <a:ext cx="3641400" cy="274200"/>
          </a:xfrm>
          <a:prstGeom prst="rect">
            <a:avLst/>
          </a:prstGeom>
          <a:solidFill>
            <a:srgbClr val="E6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"/>
          <p:cNvSpPr/>
          <p:nvPr/>
        </p:nvSpPr>
        <p:spPr>
          <a:xfrm>
            <a:off x="2294953" y="3932841"/>
            <a:ext cx="3641400" cy="2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2285429" y="3532891"/>
            <a:ext cx="3641400" cy="274200"/>
          </a:xfrm>
          <a:prstGeom prst="rect">
            <a:avLst/>
          </a:prstGeom>
          <a:solidFill>
            <a:srgbClr val="E6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2275904" y="3132941"/>
            <a:ext cx="3641400" cy="2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2266384" y="2732992"/>
            <a:ext cx="3641400" cy="274200"/>
          </a:xfrm>
          <a:prstGeom prst="rect">
            <a:avLst/>
          </a:prstGeom>
          <a:solidFill>
            <a:srgbClr val="E6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2256859" y="2333042"/>
            <a:ext cx="3641400" cy="2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2247340" y="1933091"/>
            <a:ext cx="3641400" cy="27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3174272" y="4404434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3174272" y="3595012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3174272" y="2785589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level explanation of LoRA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0" y="981053"/>
            <a:ext cx="12188952" cy="28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3: Create new "adaptor" matrices with lower dimensions, fewer parameters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2304473" y="513269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"/>
          <p:cNvSpPr/>
          <p:nvPr/>
        </p:nvSpPr>
        <p:spPr>
          <a:xfrm>
            <a:off x="2304473" y="4732742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"/>
          <p:cNvSpPr/>
          <p:nvPr/>
        </p:nvSpPr>
        <p:spPr>
          <a:xfrm>
            <a:off x="2304473" y="4332792"/>
            <a:ext cx="3641450" cy="274251"/>
          </a:xfrm>
          <a:prstGeom prst="rect">
            <a:avLst/>
          </a:prstGeom>
          <a:solidFill>
            <a:srgbClr val="E6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"/>
          <p:cNvSpPr/>
          <p:nvPr/>
        </p:nvSpPr>
        <p:spPr>
          <a:xfrm>
            <a:off x="2294951" y="393284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2285429" y="3532891"/>
            <a:ext cx="3641450" cy="274252"/>
          </a:xfrm>
          <a:prstGeom prst="rect">
            <a:avLst/>
          </a:prstGeom>
          <a:solidFill>
            <a:srgbClr val="E6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"/>
          <p:cNvSpPr/>
          <p:nvPr/>
        </p:nvSpPr>
        <p:spPr>
          <a:xfrm>
            <a:off x="2275906" y="313294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"/>
          <p:cNvSpPr/>
          <p:nvPr/>
        </p:nvSpPr>
        <p:spPr>
          <a:xfrm>
            <a:off x="2266384" y="2732992"/>
            <a:ext cx="3641447" cy="274251"/>
          </a:xfrm>
          <a:prstGeom prst="rect">
            <a:avLst/>
          </a:prstGeom>
          <a:solidFill>
            <a:srgbClr val="E669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/>
          <p:nvPr/>
        </p:nvSpPr>
        <p:spPr>
          <a:xfrm>
            <a:off x="6204482" y="2732992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/>
          <p:nvPr/>
        </p:nvSpPr>
        <p:spPr>
          <a:xfrm>
            <a:off x="2256859" y="2333042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"/>
          <p:cNvSpPr/>
          <p:nvPr/>
        </p:nvSpPr>
        <p:spPr>
          <a:xfrm>
            <a:off x="2247337" y="1933091"/>
            <a:ext cx="3641450" cy="274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3174272" y="4404434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3174272" y="3595012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3174272" y="2785589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207720" y="2785589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6207720" y="359501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204482" y="3542414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/>
          <p:nvPr/>
        </p:nvSpPr>
        <p:spPr>
          <a:xfrm>
            <a:off x="6207720" y="3604534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6207720" y="439491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6204482" y="4332792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6207720" y="4385389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level explanation of LoRA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0" y="981053"/>
            <a:ext cx="12188952" cy="28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4: Apply these adaptors to the Target Modules to adjust them - and these get trained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2304473" y="513269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2304473" y="4732742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2304473" y="4332792"/>
            <a:ext cx="3641450" cy="27425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"/>
          <p:cNvSpPr/>
          <p:nvPr/>
        </p:nvSpPr>
        <p:spPr>
          <a:xfrm>
            <a:off x="2294951" y="393284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2285429" y="3532891"/>
            <a:ext cx="3641450" cy="274252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/>
          <p:nvPr/>
        </p:nvSpPr>
        <p:spPr>
          <a:xfrm>
            <a:off x="2275906" y="313294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"/>
          <p:cNvSpPr/>
          <p:nvPr/>
        </p:nvSpPr>
        <p:spPr>
          <a:xfrm>
            <a:off x="2266384" y="2732992"/>
            <a:ext cx="3641447" cy="27425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6486670" y="2732992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2256859" y="2333042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2247337" y="1933091"/>
            <a:ext cx="3641450" cy="274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"/>
          <p:cNvSpPr/>
          <p:nvPr/>
        </p:nvSpPr>
        <p:spPr>
          <a:xfrm>
            <a:off x="3174272" y="4404434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3174272" y="3595012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3174272" y="2785589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/>
          <p:nvPr/>
        </p:nvSpPr>
        <p:spPr>
          <a:xfrm>
            <a:off x="6489908" y="2785589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6489908" y="359501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486670" y="3542414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6489908" y="3604534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489908" y="439491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6486670" y="4332792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6489908" y="4385389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533" y="2728231"/>
            <a:ext cx="323769" cy="314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3533" y="3528130"/>
            <a:ext cx="323769" cy="32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533" y="4318507"/>
            <a:ext cx="323769" cy="314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/>
          <p:nvPr/>
        </p:nvSpPr>
        <p:spPr>
          <a:xfrm>
            <a:off x="8127793" y="2732992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level explanation of LoRA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0" y="981053"/>
            <a:ext cx="12188952" cy="28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 be more precise: there are in fact two LoRA matrices that get applied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0" y="1162355"/>
            <a:ext cx="12188952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LoRA_a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2304474" y="513269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"/>
          <p:cNvSpPr/>
          <p:nvPr/>
        </p:nvSpPr>
        <p:spPr>
          <a:xfrm>
            <a:off x="2304474" y="4732742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/>
          <p:nvPr/>
        </p:nvSpPr>
        <p:spPr>
          <a:xfrm>
            <a:off x="2304474" y="4332792"/>
            <a:ext cx="3641450" cy="27425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2294951" y="393284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2285429" y="3532891"/>
            <a:ext cx="3641450" cy="274252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2275906" y="3132941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2266383" y="2732992"/>
            <a:ext cx="3641450" cy="274251"/>
          </a:xfrm>
          <a:prstGeom prst="rect">
            <a:avLst/>
          </a:prstGeom>
          <a:solidFill>
            <a:srgbClr val="F0B3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6408722" y="2732992"/>
            <a:ext cx="1601705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2256861" y="2333042"/>
            <a:ext cx="3641450" cy="2742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2247337" y="1933091"/>
            <a:ext cx="3641450" cy="2742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3174272" y="4404434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3174272" y="3595012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3174272" y="2785589"/>
            <a:ext cx="1604703" cy="191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Target Module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6431825" y="277860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LoRA_a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411962" y="359501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6408722" y="3542414"/>
            <a:ext cx="1601705" cy="274251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6430075" y="3582293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LoRA_a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411962" y="439491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408722" y="4332792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6431825" y="439320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LoRA_a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534" y="2728231"/>
            <a:ext cx="323769" cy="314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3534" y="3528130"/>
            <a:ext cx="323769" cy="32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534" y="4318507"/>
            <a:ext cx="323769" cy="31424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/>
          <p:nvPr/>
        </p:nvSpPr>
        <p:spPr>
          <a:xfrm>
            <a:off x="8131034" y="2785939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LoRA_b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8131034" y="359501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8127793" y="3542414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8131034" y="4394912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Low Rank Adaptor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8127793" y="4332792"/>
            <a:ext cx="1601700" cy="27420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8131034" y="4385389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LoRA_b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8127534" y="3595554"/>
            <a:ext cx="1604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LoRA_b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Three Essential Hyperparameters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0" y="978375"/>
            <a:ext cx="12188952" cy="2666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LoRA Fine-Tuning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1" name="Google Shape;251;p14"/>
          <p:cNvGrpSpPr/>
          <p:nvPr/>
        </p:nvGrpSpPr>
        <p:grpSpPr>
          <a:xfrm>
            <a:off x="393760" y="2671547"/>
            <a:ext cx="3592884" cy="3205620"/>
            <a:chOff x="393760" y="2671547"/>
            <a:chExt cx="3592884" cy="3205620"/>
          </a:xfrm>
        </p:grpSpPr>
        <p:pic>
          <p:nvPicPr>
            <p:cNvPr id="252" name="Google Shape;25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43399" y="2671547"/>
              <a:ext cx="1104624" cy="5237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14"/>
            <p:cNvSpPr/>
            <p:nvPr/>
          </p:nvSpPr>
          <p:spPr>
            <a:xfrm>
              <a:off x="393760" y="3734057"/>
              <a:ext cx="3592884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393760" y="4039673"/>
              <a:ext cx="3592884" cy="511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rank, or how many dimensions in the low-rank matrices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393760" y="5008674"/>
              <a:ext cx="3592884" cy="255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1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RULE OF THUMB: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393760" y="5365177"/>
              <a:ext cx="3592884" cy="511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Start with 8, then double to 16, then 32, until diminishing returns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" name="Google Shape;257;p14"/>
          <p:cNvGrpSpPr/>
          <p:nvPr/>
        </p:nvGrpSpPr>
        <p:grpSpPr>
          <a:xfrm>
            <a:off x="4360883" y="2484025"/>
            <a:ext cx="3467185" cy="3137147"/>
            <a:chOff x="4360883" y="2484025"/>
            <a:chExt cx="3467185" cy="3137147"/>
          </a:xfrm>
        </p:grpSpPr>
        <p:pic>
          <p:nvPicPr>
            <p:cNvPr id="258" name="Google Shape;25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61456" y="2484025"/>
              <a:ext cx="876081" cy="8760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14"/>
            <p:cNvSpPr/>
            <p:nvPr/>
          </p:nvSpPr>
          <p:spPr>
            <a:xfrm>
              <a:off x="4360883" y="3734057"/>
              <a:ext cx="3467185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Alpha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4360883" y="4039673"/>
              <a:ext cx="3467185" cy="511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scaling factor that multiplies the lower rank matrices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4360883" y="5008674"/>
              <a:ext cx="3467185" cy="255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1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RULE OF THUMB: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4360883" y="5365177"/>
              <a:ext cx="3467185" cy="255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Twice the value of  r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14"/>
          <p:cNvGrpSpPr/>
          <p:nvPr/>
        </p:nvGrpSpPr>
        <p:grpSpPr>
          <a:xfrm>
            <a:off x="8238970" y="2526465"/>
            <a:ext cx="3519560" cy="3094707"/>
            <a:chOff x="8238970" y="2526465"/>
            <a:chExt cx="3519560" cy="3094707"/>
          </a:xfrm>
        </p:grpSpPr>
        <p:pic>
          <p:nvPicPr>
            <p:cNvPr id="264" name="Google Shape;264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597009" y="2526465"/>
              <a:ext cx="809423" cy="8094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14"/>
            <p:cNvSpPr/>
            <p:nvPr/>
          </p:nvSpPr>
          <p:spPr>
            <a:xfrm>
              <a:off x="8238970" y="3734057"/>
              <a:ext cx="3519560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 Modules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8238970" y="4039673"/>
              <a:ext cx="3519560" cy="511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Which layers of the neural network are adapted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8238970" y="5008674"/>
              <a:ext cx="3519560" cy="255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b="1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RULE OF THUMB: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8238970" y="5365177"/>
              <a:ext cx="3519560" cy="255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Start by </a:t>
              </a: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targeting</a:t>
              </a:r>
              <a:r>
                <a:rPr b="0" i="0" lang="en-US" sz="144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the attention head</a:t>
              </a:r>
              <a:r>
                <a:rPr lang="en-US" sz="144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Quantization - the Q in QLoRA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7225811" y="1523619"/>
            <a:ext cx="4487010" cy="485653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8 at 19.44.46.png" id="276" name="Google Shape;276;p15"/>
          <p:cNvPicPr preferRelativeResize="0"/>
          <p:nvPr/>
        </p:nvPicPr>
        <p:blipFill rotWithShape="1">
          <a:blip r:embed="rId3">
            <a:alphaModFix/>
          </a:blip>
          <a:srcRect b="0" l="3804" r="3804" t="0"/>
          <a:stretch/>
        </p:blipFill>
        <p:spPr>
          <a:xfrm>
            <a:off x="7225811" y="1523619"/>
            <a:ext cx="4487010" cy="485653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5"/>
          <p:cNvSpPr/>
          <p:nvPr/>
        </p:nvSpPr>
        <p:spPr>
          <a:xfrm>
            <a:off x="761810" y="1726123"/>
            <a:ext cx="6377156" cy="374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2340"/>
              <a:buFont typeface="Montserrat"/>
              <a:buNone/>
            </a:pPr>
            <a:r>
              <a:rPr b="0" i="0" lang="en-US" sz="23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Even the </a:t>
            </a:r>
            <a:r>
              <a:rPr lang="en-US" sz="2340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0" i="0" lang="en-US" sz="234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 variants are enormous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761810" y="2318163"/>
            <a:ext cx="6377156" cy="3715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ontserrat"/>
              <a:buChar char="•"/>
            </a:pP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b="0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Billion * 32 bits = </a:t>
            </a:r>
            <a:r>
              <a:rPr lang="en-US" sz="2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13</a:t>
            </a:r>
            <a:r>
              <a:rPr b="0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GB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244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ontserrat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Intuition: keep the number of weights but reduce their precision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244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ontserrat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 is worse, but the impact is surprisingly small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244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Montserrat"/>
              <a:buChar char="•"/>
            </a:pPr>
            <a:r>
              <a:rPr b="0" i="0" lang="en-US" sz="22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Reduce to 8 bits, or even to 4 bits</a:t>
            </a:r>
            <a:endParaRPr/>
          </a:p>
          <a:p>
            <a:pPr indent="0" lvl="2" marL="914400" marR="0" rtl="0" algn="l">
              <a:lnSpc>
                <a:spcPct val="140000"/>
              </a:lnSpc>
              <a:spcBef>
                <a:spcPts val="379"/>
              </a:spcBef>
              <a:spcAft>
                <a:spcPts val="0"/>
              </a:spcAft>
              <a:buClr>
                <a:srgbClr val="FFFFFF"/>
              </a:buClr>
              <a:buSzPts val="1380"/>
              <a:buFont typeface="Montserrat"/>
              <a:buNone/>
            </a:pPr>
            <a:r>
              <a:rPr b="0" i="0" lang="en-US" sz="138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note 1: 4 bits are interpreted as float, not int</a:t>
            </a:r>
            <a:endParaRPr/>
          </a:p>
          <a:p>
            <a:pPr indent="0" lvl="2" marL="914400" marR="0" rtl="0" algn="l">
              <a:lnSpc>
                <a:spcPct val="140000"/>
              </a:lnSpc>
              <a:spcBef>
                <a:spcPts val="523"/>
              </a:spcBef>
              <a:spcAft>
                <a:spcPts val="0"/>
              </a:spcAft>
              <a:buClr>
                <a:srgbClr val="FFFFFF"/>
              </a:buClr>
              <a:buSzPts val="1380"/>
              <a:buFont typeface="Montserrat"/>
              <a:buNone/>
            </a:pPr>
            <a:r>
              <a:rPr b="0" i="0" lang="en-US" sz="138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note 2: the adaptor matrices are still 32 bit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/>
          <p:nvPr/>
        </p:nvSpPr>
        <p:spPr>
          <a:xfrm>
            <a:off x="0" y="362827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Size of Weights in MB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" name="Google Shape;285;p16"/>
          <p:cNvGrpSpPr/>
          <p:nvPr/>
        </p:nvGrpSpPr>
        <p:grpSpPr>
          <a:xfrm>
            <a:off x="342814" y="2391591"/>
            <a:ext cx="2932967" cy="3036019"/>
            <a:chOff x="342814" y="2391591"/>
            <a:chExt cx="2932967" cy="3036019"/>
          </a:xfrm>
        </p:grpSpPr>
        <p:sp>
          <p:nvSpPr>
            <p:cNvPr id="286" name="Google Shape;286;p16"/>
            <p:cNvSpPr/>
            <p:nvPr/>
          </p:nvSpPr>
          <p:spPr>
            <a:xfrm>
              <a:off x="476131" y="2391591"/>
              <a:ext cx="2666333" cy="2666333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342814" y="5197207"/>
              <a:ext cx="2932967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Llama 3.</a:t>
              </a: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1212229" y="3519887"/>
              <a:ext cx="1194136" cy="40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2550"/>
                <a:buFont typeface="Montserrat"/>
                <a:buNone/>
              </a:pPr>
              <a:r>
                <a:rPr lang="en-US" sz="255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13</a:t>
              </a:r>
              <a:r>
                <a:rPr b="0" i="0" lang="en-US" sz="255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,000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16"/>
          <p:cNvGrpSpPr/>
          <p:nvPr/>
        </p:nvGrpSpPr>
        <p:grpSpPr>
          <a:xfrm>
            <a:off x="3199600" y="3648576"/>
            <a:ext cx="2932967" cy="1783723"/>
            <a:chOff x="3199600" y="3648576"/>
            <a:chExt cx="2932967" cy="1783723"/>
          </a:xfrm>
        </p:grpSpPr>
        <p:sp>
          <p:nvSpPr>
            <p:cNvPr id="290" name="Google Shape;290;p16"/>
            <p:cNvSpPr/>
            <p:nvPr/>
          </p:nvSpPr>
          <p:spPr>
            <a:xfrm>
              <a:off x="3959066" y="3648576"/>
              <a:ext cx="1414035" cy="1414037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3199600" y="5201896"/>
              <a:ext cx="2932967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Quantized to 8 bit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4168526" y="4150725"/>
              <a:ext cx="995114" cy="40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2550"/>
                <a:buFont typeface="Montserrat"/>
                <a:buNone/>
              </a:pPr>
              <a:r>
                <a:rPr lang="en-US" sz="255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3,600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" name="Google Shape;293;p16"/>
          <p:cNvGrpSpPr/>
          <p:nvPr/>
        </p:nvGrpSpPr>
        <p:grpSpPr>
          <a:xfrm>
            <a:off x="6056386" y="3610342"/>
            <a:ext cx="3086911" cy="1818529"/>
            <a:chOff x="6056386" y="3610342"/>
            <a:chExt cx="3086911" cy="1818529"/>
          </a:xfrm>
        </p:grpSpPr>
        <p:sp>
          <p:nvSpPr>
            <p:cNvPr id="294" name="Google Shape;294;p16"/>
            <p:cNvSpPr/>
            <p:nvPr/>
          </p:nvSpPr>
          <p:spPr>
            <a:xfrm>
              <a:off x="6965166" y="3943778"/>
              <a:ext cx="1115405" cy="1115406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6056386" y="5198468"/>
              <a:ext cx="2932967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Quantized to 4 bit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8179608" y="3610342"/>
              <a:ext cx="963689" cy="40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2550"/>
                <a:buFont typeface="Montserrat"/>
                <a:buNone/>
              </a:pPr>
              <a:r>
                <a:rPr lang="en-US" sz="255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2,2</a:t>
              </a:r>
              <a:r>
                <a:rPr b="0" i="0" lang="en-US" sz="255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00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7" name="Google Shape;297;p16"/>
            <p:cNvCxnSpPr/>
            <p:nvPr/>
          </p:nvCxnSpPr>
          <p:spPr>
            <a:xfrm rot="-2700000">
              <a:off x="7612494" y="4081895"/>
              <a:ext cx="659952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8" name="Google Shape;298;p16"/>
          <p:cNvGrpSpPr/>
          <p:nvPr/>
        </p:nvGrpSpPr>
        <p:grpSpPr>
          <a:xfrm>
            <a:off x="8913171" y="4572127"/>
            <a:ext cx="2932967" cy="858737"/>
            <a:chOff x="8913171" y="4572127"/>
            <a:chExt cx="2932967" cy="858737"/>
          </a:xfrm>
        </p:grpSpPr>
        <p:sp>
          <p:nvSpPr>
            <p:cNvPr id="299" name="Google Shape;299;p16"/>
            <p:cNvSpPr/>
            <p:nvPr/>
          </p:nvSpPr>
          <p:spPr>
            <a:xfrm>
              <a:off x="10301847" y="4905562"/>
              <a:ext cx="155615" cy="155615"/>
            </a:xfrm>
            <a:prstGeom prst="ellipse">
              <a:avLst/>
            </a:prstGeom>
            <a:solidFill>
              <a:srgbClr val="FFFFFF"/>
            </a:solidFill>
            <a:ln cap="flat" cmpd="sng" w="254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8913171" y="5200461"/>
              <a:ext cx="2932967" cy="2304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b="0" i="0" lang="en-US" sz="144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QLoRA with r=32</a:t>
              </a:r>
              <a:endParaRPr b="0" i="0" sz="144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LoRA weights are 32 bit</a:t>
              </a:r>
              <a:endParaRPr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440"/>
                <a:buFont typeface="Montserrat"/>
                <a:buNone/>
              </a:pPr>
              <a:r>
                <a:rPr lang="en-US" sz="144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But there are far fewer!</a:t>
              </a:r>
              <a:endParaRPr sz="144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10573638" y="4572127"/>
              <a:ext cx="586593" cy="4079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2550"/>
                <a:buFont typeface="Montserrat"/>
                <a:buNone/>
              </a:pPr>
              <a:r>
                <a:rPr lang="en-US" sz="255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73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2" name="Google Shape;302;p16"/>
            <p:cNvCxnSpPr/>
            <p:nvPr/>
          </p:nvCxnSpPr>
          <p:spPr>
            <a:xfrm rot="-2700000">
              <a:off x="10375188" y="4883874"/>
              <a:ext cx="207955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Essential expertise acquired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1_w7_1-2.png" id="311" name="Google Shape;311;p17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7"/>
          <p:cNvSpPr/>
          <p:nvPr/>
        </p:nvSpPr>
        <p:spPr>
          <a:xfrm>
            <a:off x="5156392" y="2192062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1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156392" y="2517542"/>
            <a:ext cx="6897791" cy="15355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and Open Source models using APIs and Hugging Face, including tools, assistants and RAG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Follow a 5 step strategy to solve problems, including dataset curation, making a baseline model, and fine-tuning a Frontier model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Explain QLoRA for fine-tuning open-source models including defining target modules, r and alpha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7"/>
          <p:cNvCxnSpPr/>
          <p:nvPr/>
        </p:nvCxnSpPr>
        <p:spPr>
          <a:xfrm>
            <a:off x="5156349" y="4347575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p17"/>
          <p:cNvSpPr/>
          <p:nvPr/>
        </p:nvSpPr>
        <p:spPr>
          <a:xfrm>
            <a:off x="5156392" y="4467894"/>
            <a:ext cx="6897791" cy="2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9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87"/>
              <a:buFont typeface="Montserrat"/>
              <a:buNone/>
            </a:pPr>
            <a:r>
              <a:rPr b="0" i="0" lang="en-US" sz="1287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next time you will be able to: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5156392" y="4793374"/>
            <a:ext cx="6897791" cy="941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59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lang="en-US" sz="12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Prepare data for fine tuning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instruct and base variants for a task</a:t>
            </a:r>
            <a:endParaRPr/>
          </a:p>
          <a:p>
            <a:pPr indent="-242900" lvl="0" marL="242900" marR="0" rtl="0" algn="l">
              <a:lnSpc>
                <a:spcPct val="125928"/>
              </a:lnSpc>
              <a:spcBef>
                <a:spcPts val="1342"/>
              </a:spcBef>
              <a:spcAft>
                <a:spcPts val="0"/>
              </a:spcAft>
              <a:buClr>
                <a:srgbClr val="FFFFFF"/>
              </a:buClr>
              <a:buSzPts val="1238"/>
              <a:buFont typeface="Montserrat"/>
              <a:buChar char="•"/>
            </a:pPr>
            <a:r>
              <a:rPr b="0" i="0" lang="en-US" sz="123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Evaluate a base model against a business objective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