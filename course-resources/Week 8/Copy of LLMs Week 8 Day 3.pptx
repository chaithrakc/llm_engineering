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12192000"/>
  <p:embeddedFontLst>
    <p:embeddedFont>
      <p:font typeface="Montserrat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2" Type="http://schemas.openxmlformats.org/officeDocument/2006/relationships/font" Target="fonts/Montserrat-boldItalic.fntdata"/><Relationship Id="rId9" Type="http://schemas.openxmlformats.org/officeDocument/2006/relationships/font" Target="fonts/Montserr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04414"/>
            <a:ext cx="11998500" cy="5156645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ain_Week8_2_2.png" id="17" name="Google Shape;17;p3"/>
          <p:cNvPicPr preferRelativeResize="0"/>
          <p:nvPr/>
        </p:nvPicPr>
        <p:blipFill rotWithShape="1">
          <a:blip r:embed="rId3">
            <a:alphaModFix/>
          </a:blip>
          <a:srcRect b="92" l="0" r="0" t="92"/>
          <a:stretch/>
        </p:blipFill>
        <p:spPr>
          <a:xfrm>
            <a:off x="95226" y="1604414"/>
            <a:ext cx="11998500" cy="515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753340" y="603942"/>
            <a:ext cx="4682272" cy="318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1"/>
              <a:buFont typeface="Montserrat"/>
              <a:buNone/>
            </a:pPr>
            <a:r>
              <a:rPr b="0" i="0" lang="en-US" sz="239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753340" y="955684"/>
            <a:ext cx="4682272" cy="254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8 DAY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Continuing to Level Up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1 at 22.39.32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17542"/>
            <a:ext cx="6897791" cy="2105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specialized open source models that can outperform the Frontier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Deploy multiple models to production including proprietary LLMs on Modal, a RAG workflow with Frontier models, and 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Neural Network</a:t>
            </a: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156392" y="5094501"/>
            <a:ext cx="6897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today, you will also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156392" y="5419981"/>
            <a:ext cx="68979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Structured Outputs to ensure frontier models respond with a spec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LLMs to parse unstructured data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NEW SKILL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Structured Outputs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76131" y="1952137"/>
            <a:ext cx="4394583" cy="442801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2 at 08.20.52.png" id="41" name="Google Shape;41;p5"/>
          <p:cNvPicPr preferRelativeResize="0"/>
          <p:nvPr/>
        </p:nvPicPr>
        <p:blipFill rotWithShape="1">
          <a:blip r:embed="rId3">
            <a:alphaModFix/>
          </a:blip>
          <a:srcRect b="0" l="378" r="378" t="0"/>
          <a:stretch/>
        </p:blipFill>
        <p:spPr>
          <a:xfrm flipH="1">
            <a:off x="476131" y="1952137"/>
            <a:ext cx="4394583" cy="442801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5415547" y="1907660"/>
            <a:ext cx="6478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54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754"/>
              <a:buFont typeface="Montserrat"/>
              <a:buNone/>
            </a:pPr>
            <a:r>
              <a:rPr b="1" lang="en-US" sz="1755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How it feels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15550" y="2351583"/>
            <a:ext cx="64788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4676" lvl="0" marL="242900" marR="0" rtl="0" algn="l">
              <a:lnSpc>
                <a:spcPct val="1260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•"/>
            </a:pPr>
            <a:r>
              <a:rPr lang="en-U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define a Python Class as a subclass of Pydantic BaseModel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4676" lvl="0" marL="242900" marR="0" rtl="0" algn="l">
              <a:lnSpc>
                <a:spcPct val="126022"/>
              </a:lnSpc>
              <a:spcBef>
                <a:spcPts val="183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•"/>
            </a:pPr>
            <a:r>
              <a:rPr lang="en-U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model outputs an instance of this class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415547" y="3593978"/>
            <a:ext cx="6478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54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754"/>
              <a:buFont typeface="Montserrat"/>
              <a:buNone/>
            </a:pPr>
            <a:r>
              <a:rPr b="1" lang="en-US" sz="1755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How it works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415550" y="4086597"/>
            <a:ext cx="64788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4676" lvl="0" marL="242900" marR="0" rtl="0" algn="l">
              <a:lnSpc>
                <a:spcPct val="1260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•"/>
            </a:pPr>
            <a:r>
              <a:rPr lang="en-U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Pydantic Class is used to generate a JSON Schema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4676" lvl="0" marL="242900" marR="0" rtl="0" algn="l">
              <a:lnSpc>
                <a:spcPct val="126022"/>
              </a:lnSpc>
              <a:spcBef>
                <a:spcPts val="183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•"/>
            </a:pPr>
            <a:r>
              <a:rPr lang="en-U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OpenAI includes the Schema in the System Prompt:</a:t>
            </a:r>
            <a:br>
              <a:rPr lang="en-U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“you must respond with JSON according to this Schema”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4676" lvl="0" marL="242900" marR="0" rtl="0" algn="l">
              <a:lnSpc>
                <a:spcPct val="126022"/>
              </a:lnSpc>
              <a:spcBef>
                <a:spcPts val="183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•"/>
            </a:pPr>
            <a:r>
              <a:rPr lang="en-U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OpenAI client library creates an instance of the Pydantic class and populates with the JSON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4676" lvl="0" marL="242900" marR="0" rtl="0" algn="l">
              <a:lnSpc>
                <a:spcPct val="126022"/>
              </a:lnSpc>
              <a:spcBef>
                <a:spcPts val="183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•"/>
            </a:pPr>
            <a:r>
              <a:rPr lang="en-US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there’s a powerful trick - inference time constrained decoding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8 DAY 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 you believe it - 95%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1 at 22.42.36.png" id="54" name="Google Shape;54;p6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5156392" y="2517542"/>
            <a:ext cx="6897791" cy="2105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&amp; code with Frontier Models and Open Source models using APIs and Hugging Face, with tools, Structured Outputs,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specialized open source models that can outperform the Frontier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Deploy multiple models to production including proprietary LLMs on Modal, a RAG workflow with Frontier models, and 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Networks, and use Structured Outputs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5156392" y="5037689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tomorrow you will also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5156392" y="5363169"/>
            <a:ext cx="6897791" cy="569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 Agent Orchestration and use of Tools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Planning Agent with an Agent Loop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