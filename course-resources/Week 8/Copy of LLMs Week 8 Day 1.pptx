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bb805a124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abb805a124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abb805a124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13d91436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913d91436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913d91436d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13d91436d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913d91436d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913d91436d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13d91436d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913d91436d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913d91436d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10" Type="http://schemas.openxmlformats.org/officeDocument/2006/relationships/image" Target="../media/image19.png"/><Relationship Id="rId9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95226" y="1628408"/>
            <a:ext cx="11998500" cy="51326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in_Week8_2_2.png" id="19" name="Google Shape;19;p5"/>
          <p:cNvPicPr preferRelativeResize="0"/>
          <p:nvPr/>
        </p:nvPicPr>
        <p:blipFill rotWithShape="1">
          <a:blip r:embed="rId3">
            <a:alphaModFix/>
          </a:blip>
          <a:srcRect b="325" l="0" r="0" t="325"/>
          <a:stretch/>
        </p:blipFill>
        <p:spPr>
          <a:xfrm>
            <a:off x="95226" y="1628408"/>
            <a:ext cx="11998500" cy="513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"/>
          <p:cNvSpPr/>
          <p:nvPr/>
        </p:nvSpPr>
        <p:spPr>
          <a:xfrm>
            <a:off x="3753340" y="603942"/>
            <a:ext cx="4682272" cy="318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1"/>
              <a:buFont typeface="Montserrat"/>
              <a:buNone/>
            </a:pPr>
            <a:r>
              <a:rPr b="0" i="0" lang="en-US" sz="239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3753340" y="955684"/>
            <a:ext cx="4682272" cy="254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GAME 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17 at 23.20.47.png" id="30" name="Google Shape;30;p6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6"/>
          <p:cNvCxnSpPr/>
          <p:nvPr/>
        </p:nvCxnSpPr>
        <p:spPr>
          <a:xfrm>
            <a:off x="5156349" y="4337207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" name="Google Shape;34;p6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An intensive week lies ahead! After today, you'll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5156392" y="4793374"/>
            <a:ext cx="6897791" cy="1139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Modal, the serverless platform for AI, to run code remotely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Deploy an LLM behind an API in the cloud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an Agent that will be incorporated into an 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utonomous Agentic AI solution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RECAP: </a:t>
            </a: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8 WEEK JOURNEY TO  MASTERY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37815"/>
            <a:ext cx="12198476" cy="39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/>
          <p:nvPr/>
        </p:nvSpPr>
        <p:spPr>
          <a:xfrm>
            <a:off x="371382" y="5531898"/>
            <a:ext cx="1257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Montserrat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</a:t>
            </a:r>
            <a:r>
              <a:rPr b="1" lang="en-US"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WERE</a:t>
            </a: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10617720" y="2727486"/>
            <a:ext cx="1257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Montserrat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6791" y="2390178"/>
            <a:ext cx="371382" cy="4856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7"/>
          <p:cNvGrpSpPr/>
          <p:nvPr/>
        </p:nvGrpSpPr>
        <p:grpSpPr>
          <a:xfrm>
            <a:off x="1209373" y="4261595"/>
            <a:ext cx="1676100" cy="1213911"/>
            <a:chOff x="1209373" y="4261595"/>
            <a:chExt cx="1676100" cy="1213911"/>
          </a:xfrm>
        </p:grpSpPr>
        <p:sp>
          <p:nvSpPr>
            <p:cNvPr id="47" name="Google Shape;47;p7"/>
            <p:cNvSpPr/>
            <p:nvPr/>
          </p:nvSpPr>
          <p:spPr>
            <a:xfrm>
              <a:off x="1209373" y="4261595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1209373" y="4558656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lang="en-US" sz="96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Foundations and the</a:t>
              </a:r>
              <a:endParaRPr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lang="en-US" sz="96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Chat Completions API</a:t>
              </a:r>
              <a:endParaRPr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9" name="Google Shape;49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61609" y="5066033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" name="Google Shape;50;p7"/>
          <p:cNvGrpSpPr/>
          <p:nvPr/>
        </p:nvGrpSpPr>
        <p:grpSpPr>
          <a:xfrm>
            <a:off x="3094852" y="3580728"/>
            <a:ext cx="2161753" cy="808861"/>
            <a:chOff x="3094852" y="3580728"/>
            <a:chExt cx="2161753" cy="808861"/>
          </a:xfrm>
        </p:grpSpPr>
        <p:sp>
          <p:nvSpPr>
            <p:cNvPr id="51" name="Google Shape;51;p7"/>
            <p:cNvSpPr/>
            <p:nvPr/>
          </p:nvSpPr>
          <p:spPr>
            <a:xfrm>
              <a:off x="3580505" y="3580728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2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3580505" y="3877789"/>
              <a:ext cx="16761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Frontier Models with APIs, UIs</a:t>
              </a:r>
              <a:r>
                <a:rPr lang="en-US" sz="96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Multi-modality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53" name="Google Shape;5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4852" y="3723344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" name="Google Shape;54;p7"/>
          <p:cNvGrpSpPr/>
          <p:nvPr/>
        </p:nvGrpSpPr>
        <p:grpSpPr>
          <a:xfrm>
            <a:off x="2114021" y="2104722"/>
            <a:ext cx="2237818" cy="752064"/>
            <a:chOff x="2114021" y="2104722"/>
            <a:chExt cx="2237818" cy="752064"/>
          </a:xfrm>
        </p:grpSpPr>
        <p:sp>
          <p:nvSpPr>
            <p:cNvPr id="55" name="Google Shape;55;p7"/>
            <p:cNvSpPr/>
            <p:nvPr/>
          </p:nvSpPr>
          <p:spPr>
            <a:xfrm>
              <a:off x="2114021" y="210472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3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56" name="Google Shape;56;p7"/>
            <p:cNvSpPr/>
            <p:nvPr/>
          </p:nvSpPr>
          <p:spPr>
            <a:xfrm>
              <a:off x="2114021" y="240178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3 - Open Source with Hugging Face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57" name="Google Shape;57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66160" y="2456836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" name="Google Shape;58;p7"/>
          <p:cNvGrpSpPr/>
          <p:nvPr/>
        </p:nvGrpSpPr>
        <p:grpSpPr>
          <a:xfrm>
            <a:off x="5675481" y="2599898"/>
            <a:ext cx="2142708" cy="761587"/>
            <a:chOff x="5675481" y="2599898"/>
            <a:chExt cx="2142708" cy="761587"/>
          </a:xfrm>
        </p:grpSpPr>
        <p:sp>
          <p:nvSpPr>
            <p:cNvPr id="59" name="Google Shape;59;p7"/>
            <p:cNvSpPr/>
            <p:nvPr/>
          </p:nvSpPr>
          <p:spPr>
            <a:xfrm>
              <a:off x="6142089" y="2599898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4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6142089" y="2896959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Selecting LLMs and Code Generation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61" name="Google Shape;61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75481" y="2961535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" name="Google Shape;62;p7"/>
          <p:cNvGrpSpPr/>
          <p:nvPr/>
        </p:nvGrpSpPr>
        <p:grpSpPr>
          <a:xfrm>
            <a:off x="4266133" y="4542289"/>
            <a:ext cx="2190202" cy="1118570"/>
            <a:chOff x="4266133" y="4542289"/>
            <a:chExt cx="2190202" cy="1118570"/>
          </a:xfrm>
        </p:grpSpPr>
        <p:sp>
          <p:nvSpPr>
            <p:cNvPr id="63" name="Google Shape;63;p7"/>
            <p:cNvSpPr/>
            <p:nvPr/>
          </p:nvSpPr>
          <p:spPr>
            <a:xfrm>
              <a:off x="4266133" y="4851997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5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4266133" y="5149059"/>
              <a:ext cx="16761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RAG and Question Answering -</a:t>
              </a:r>
              <a:br>
                <a:rPr lang="en-US" sz="96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Creating an Expert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65" name="Google Shape;65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61134" y="4542289"/>
              <a:ext cx="295201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" name="Google Shape;66;p7"/>
          <p:cNvGrpSpPr/>
          <p:nvPr/>
        </p:nvGrpSpPr>
        <p:grpSpPr>
          <a:xfrm>
            <a:off x="6827718" y="4433002"/>
            <a:ext cx="1676100" cy="1175820"/>
            <a:chOff x="6827718" y="4433002"/>
            <a:chExt cx="1676100" cy="1175820"/>
          </a:xfrm>
        </p:grpSpPr>
        <p:sp>
          <p:nvSpPr>
            <p:cNvPr id="67" name="Google Shape;67;p7"/>
            <p:cNvSpPr/>
            <p:nvPr/>
          </p:nvSpPr>
          <p:spPr>
            <a:xfrm>
              <a:off x="6827718" y="443300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6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6827718" y="473006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a Frontier Model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69" name="Google Shape;69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56187" y="5208872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" name="Google Shape;70;p7"/>
          <p:cNvGrpSpPr/>
          <p:nvPr/>
        </p:nvGrpSpPr>
        <p:grpSpPr>
          <a:xfrm>
            <a:off x="8798899" y="4009023"/>
            <a:ext cx="2209367" cy="733610"/>
            <a:chOff x="8798899" y="4009023"/>
            <a:chExt cx="2209367" cy="733610"/>
          </a:xfrm>
        </p:grpSpPr>
        <p:sp>
          <p:nvSpPr>
            <p:cNvPr id="71" name="Google Shape;71;p7"/>
            <p:cNvSpPr/>
            <p:nvPr/>
          </p:nvSpPr>
          <p:spPr>
            <a:xfrm>
              <a:off x="9332166" y="410447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rgbClr val="F5F5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7</a:t>
              </a:r>
              <a:endParaRPr i="0" sz="1800" u="none" cap="none" strike="noStrike">
                <a:solidFill>
                  <a:srgbClr val="F5F5F5"/>
                </a:solidFill>
              </a:endParaRPr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9332166" y="440153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1"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an Open-Source Model</a:t>
              </a:r>
              <a:endParaRPr b="1"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73" name="Google Shape;73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98899" y="4009023"/>
              <a:ext cx="295201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7"/>
          <p:cNvGrpSpPr/>
          <p:nvPr/>
        </p:nvGrpSpPr>
        <p:grpSpPr>
          <a:xfrm>
            <a:off x="7751412" y="2104722"/>
            <a:ext cx="2142589" cy="837768"/>
            <a:chOff x="7751412" y="2104722"/>
            <a:chExt cx="2142589" cy="837768"/>
          </a:xfrm>
        </p:grpSpPr>
        <p:sp>
          <p:nvSpPr>
            <p:cNvPr id="75" name="Google Shape;75;p7"/>
            <p:cNvSpPr/>
            <p:nvPr/>
          </p:nvSpPr>
          <p:spPr>
            <a:xfrm>
              <a:off x="7751412" y="210472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1" i="0" lang="en-US" sz="1200" u="none" cap="none" strike="noStrike">
                  <a:solidFill>
                    <a:srgbClr val="F0B35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8</a:t>
              </a:r>
              <a:endParaRPr b="1" i="0" sz="1800" u="none" cap="none" strike="noStrike">
                <a:solidFill>
                  <a:srgbClr val="F0B356"/>
                </a:solidFill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7751412" y="240178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1" i="0" lang="en-US" sz="960" u="none" cap="none" strike="noStrike">
                  <a:solidFill>
                    <a:srgbClr val="F0B35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Finale - Agentic AI</a:t>
              </a:r>
              <a:endParaRPr b="1" i="0" sz="1800" u="none" cap="none" strike="noStrike">
                <a:solidFill>
                  <a:srgbClr val="F0B356"/>
                </a:solidFill>
              </a:endParaRPr>
            </a:p>
          </p:txBody>
        </p:sp>
        <p:pic>
          <p:nvPicPr>
            <p:cNvPr id="77" name="Google Shape;77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08322" y="2533017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It's all been building up to this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Capstone Project - "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Price Is Right</a:t>
            </a: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18238" y="1952137"/>
            <a:ext cx="4394583" cy="442801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2 at 08.14.28.png" id="86" name="Google Shape;86;p8"/>
          <p:cNvPicPr preferRelativeResize="0"/>
          <p:nvPr/>
        </p:nvPicPr>
        <p:blipFill rotWithShape="1">
          <a:blip r:embed="rId3">
            <a:alphaModFix/>
          </a:blip>
          <a:srcRect b="0" l="378" r="378" t="0"/>
          <a:stretch/>
        </p:blipFill>
        <p:spPr>
          <a:xfrm>
            <a:off x="7318238" y="1952137"/>
            <a:ext cx="4394583" cy="442801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761810" y="2183804"/>
            <a:ext cx="6478796" cy="243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6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21"/>
              <a:buFont typeface="Montserrat"/>
              <a:buNone/>
            </a:pPr>
            <a:r>
              <a:rPr b="1" i="0" lang="en-US" sz="1521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 will build an Autonomous Agentic AI framework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761810" y="2568578"/>
            <a:ext cx="6478796" cy="11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Watches for deals being published online</a:t>
            </a:r>
            <a:endParaRPr/>
          </a:p>
          <a:p>
            <a:pPr indent="-242900" lvl="0" marL="242900" marR="0" rtl="0" algn="l">
              <a:lnSpc>
                <a:spcPct val="125974"/>
              </a:lnSpc>
              <a:spcBef>
                <a:spcPts val="1586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Estimates the price of the product</a:t>
            </a:r>
            <a:endParaRPr/>
          </a:p>
          <a:p>
            <a:pPr indent="-242900" lvl="0" marL="242900" marR="0" rtl="0" algn="l">
              <a:lnSpc>
                <a:spcPct val="125974"/>
              </a:lnSpc>
              <a:spcBef>
                <a:spcPts val="1586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Sends a push notification when it finds great opportunities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8"/>
          <p:cNvCxnSpPr/>
          <p:nvPr/>
        </p:nvCxnSpPr>
        <p:spPr>
          <a:xfrm>
            <a:off x="761810" y="3918598"/>
            <a:ext cx="58899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8"/>
          <p:cNvSpPr/>
          <p:nvPr/>
        </p:nvSpPr>
        <p:spPr>
          <a:xfrm>
            <a:off x="761810" y="4136983"/>
            <a:ext cx="6478796" cy="243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6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21"/>
              <a:buFont typeface="Montserrat"/>
              <a:buNone/>
            </a:pPr>
            <a:r>
              <a:rPr b="1" i="0" lang="en-US" sz="1521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SEVEN Agents will collaborate in our framework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761810" y="4521756"/>
            <a:ext cx="6478796" cy="11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GPT-</a:t>
            </a:r>
            <a:r>
              <a:rPr lang="en-US" sz="14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model will identify the deals from an RSS feed</a:t>
            </a:r>
            <a:endParaRPr/>
          </a:p>
          <a:p>
            <a:pPr indent="-242900" lvl="0" marL="242900" marR="0" rtl="0" algn="l">
              <a:lnSpc>
                <a:spcPct val="125974"/>
              </a:lnSpc>
              <a:spcBef>
                <a:spcPts val="1586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 frontier-busting fine-tuned model will estimate prices</a:t>
            </a:r>
            <a:endParaRPr/>
          </a:p>
          <a:p>
            <a:pPr indent="-242900" lvl="0" marL="242900" marR="0" rtl="0" algn="l">
              <a:lnSpc>
                <a:spcPct val="125974"/>
              </a:lnSpc>
              <a:spcBef>
                <a:spcPts val="1586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We'll also use a Frontier Model with a massive RAG db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Price Is R</a:t>
            </a: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ght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2747135" y="1899111"/>
            <a:ext cx="6478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ORDER OF PLAY: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747125" y="2439904"/>
            <a:ext cx="64788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66922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Week 6: Data Curation, Evaluation, Frontier Models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0B35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Week 7: Fine-tune Open-Source LLM</a:t>
            </a:r>
            <a:endParaRPr b="1" sz="18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AD44A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Week 8: Deployed model, RAG, Agentic Product</a:t>
            </a:r>
            <a:endParaRPr b="1" sz="1800">
              <a:solidFill>
                <a:srgbClr val="AD44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Day 1: Deploy our LLM on modal.com</a:t>
            </a:r>
            <a:b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Day 2: Frontier Model + RAG</a:t>
            </a:r>
            <a:b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Day 3: Scanner Agent &amp; Messenging Agent</a:t>
            </a:r>
            <a:b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Day 4: Planning Agent</a:t>
            </a:r>
            <a:b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Day 5: Finale</a:t>
            </a:r>
            <a:endParaRPr b="1" sz="1800">
              <a:solidFill>
                <a:srgbClr val="AD44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2" marL="0" marR="0" rtl="0" algn="l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rgbClr val="FFFFFF"/>
              </a:buClr>
              <a:buSzPts val="1380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1" lang="en-US" sz="1594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CAPSTONE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 Alternative Ways to Follow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108" name="Google Shape;108;p10"/>
          <p:cNvGrpSpPr/>
          <p:nvPr/>
        </p:nvGrpSpPr>
        <p:grpSpPr>
          <a:xfrm>
            <a:off x="782724" y="1803925"/>
            <a:ext cx="2970000" cy="2773302"/>
            <a:chOff x="782724" y="1803925"/>
            <a:chExt cx="2970000" cy="2773302"/>
          </a:xfrm>
        </p:grpSpPr>
        <p:sp>
          <p:nvSpPr>
            <p:cNvPr id="109" name="Google Shape;109;p10"/>
            <p:cNvSpPr/>
            <p:nvPr/>
          </p:nvSpPr>
          <p:spPr>
            <a:xfrm>
              <a:off x="782724" y="3353827"/>
              <a:ext cx="2970000" cy="12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Focus on intuition</a:t>
              </a:r>
              <a:b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Watch lectures and see the results, recreate the final result 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1586200" y="1803925"/>
              <a:ext cx="1269900" cy="1269900"/>
            </a:xfrm>
            <a:prstGeom prst="ellipse">
              <a:avLst/>
            </a:prstGeom>
            <a:solidFill>
              <a:srgbClr val="E669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1</a:t>
              </a:r>
              <a:endParaRPr sz="4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11" name="Google Shape;111;p10"/>
          <p:cNvGrpSpPr/>
          <p:nvPr/>
        </p:nvGrpSpPr>
        <p:grpSpPr>
          <a:xfrm>
            <a:off x="4299662" y="1803925"/>
            <a:ext cx="3411000" cy="4183250"/>
            <a:chOff x="4157300" y="1803925"/>
            <a:chExt cx="3411000" cy="4183250"/>
          </a:xfrm>
        </p:grpSpPr>
        <p:sp>
          <p:nvSpPr>
            <p:cNvPr id="112" name="Google Shape;112;p10"/>
            <p:cNvSpPr/>
            <p:nvPr/>
          </p:nvSpPr>
          <p:spPr>
            <a:xfrm>
              <a:off x="4157300" y="3333075"/>
              <a:ext cx="3411000" cy="26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Follow along</a:t>
              </a:r>
              <a:endPara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Lite dataset, take shortcuts</a:t>
              </a:r>
              <a:endParaRPr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5216861" y="1803925"/>
              <a:ext cx="1269900" cy="1269900"/>
            </a:xfrm>
            <a:prstGeom prst="ellipse">
              <a:avLst/>
            </a:prstGeom>
            <a:solidFill>
              <a:srgbClr val="F0B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</a:t>
              </a:r>
              <a:endParaRPr sz="4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14" name="Google Shape;114;p10"/>
          <p:cNvGrpSpPr/>
          <p:nvPr/>
        </p:nvGrpSpPr>
        <p:grpSpPr>
          <a:xfrm>
            <a:off x="8257600" y="1681663"/>
            <a:ext cx="2970000" cy="4305510"/>
            <a:chOff x="8257600" y="1681663"/>
            <a:chExt cx="2970000" cy="4305510"/>
          </a:xfrm>
        </p:grpSpPr>
        <p:sp>
          <p:nvSpPr>
            <p:cNvPr id="115" name="Google Shape;115;p10"/>
            <p:cNvSpPr/>
            <p:nvPr/>
          </p:nvSpPr>
          <p:spPr>
            <a:xfrm>
              <a:off x="8257600" y="3333072"/>
              <a:ext cx="2970000" cy="26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Dig deep</a:t>
              </a:r>
              <a:endPara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the full dataset, tweak, make some changes, run the full platform</a:t>
              </a:r>
              <a:endParaRPr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9107650" y="1681663"/>
              <a:ext cx="1269900" cy="1269900"/>
            </a:xfrm>
            <a:prstGeom prst="ellipse">
              <a:avLst/>
            </a:prstGeom>
            <a:solidFill>
              <a:srgbClr val="AD44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3</a:t>
              </a:r>
              <a:endParaRPr sz="4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Three Definitions of Agents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944550" y="1657150"/>
            <a:ext cx="10299900" cy="45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Sam Altman:</a:t>
            </a:r>
            <a:br>
              <a:rPr b="1" lang="en-US" sz="21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21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“AI systems that can do work for you independently”</a:t>
            </a:r>
            <a:endParaRPr i="1" sz="21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1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Early 2025 consensus:</a:t>
            </a:r>
            <a:br>
              <a:rPr b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(Anthropic, Hugging Face, ..)</a:t>
            </a:r>
            <a:br>
              <a:rPr b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AI systems where an LLM controls the workflow</a:t>
            </a:r>
            <a:endParaRPr i="1" sz="21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1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Late 2025:</a:t>
            </a:r>
            <a:br>
              <a:rPr b="1" lang="en-US" sz="21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21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An Agent runs Tools in a Loop to achieve a goal</a:t>
            </a:r>
            <a:endParaRPr b="1" sz="21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 Architecture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12"/>
          <p:cNvGrpSpPr/>
          <p:nvPr/>
        </p:nvGrpSpPr>
        <p:grpSpPr>
          <a:xfrm>
            <a:off x="8851750" y="940357"/>
            <a:ext cx="2189250" cy="1728283"/>
            <a:chOff x="8851750" y="940357"/>
            <a:chExt cx="2189250" cy="1728283"/>
          </a:xfrm>
        </p:grpSpPr>
        <p:pic>
          <p:nvPicPr>
            <p:cNvPr id="132" name="Google Shape;13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48022" y="940357"/>
              <a:ext cx="695151" cy="10665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2"/>
            <p:cNvSpPr/>
            <p:nvPr/>
          </p:nvSpPr>
          <p:spPr>
            <a:xfrm>
              <a:off x="8851750" y="2139018"/>
              <a:ext cx="2189250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Scanner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851750" y="2455348"/>
              <a:ext cx="2189250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Identifies promising deals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2"/>
          <p:cNvGrpSpPr/>
          <p:nvPr/>
        </p:nvGrpSpPr>
        <p:grpSpPr>
          <a:xfrm>
            <a:off x="8200879" y="3017926"/>
            <a:ext cx="3310062" cy="1717122"/>
            <a:chOff x="8200879" y="3017926"/>
            <a:chExt cx="3310062" cy="1717122"/>
          </a:xfrm>
        </p:grpSpPr>
        <p:pic>
          <p:nvPicPr>
            <p:cNvPr id="136" name="Google Shape;13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355083" y="3017926"/>
              <a:ext cx="1104624" cy="1047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12"/>
            <p:cNvSpPr/>
            <p:nvPr/>
          </p:nvSpPr>
          <p:spPr>
            <a:xfrm>
              <a:off x="8200879" y="4205427"/>
              <a:ext cx="3310062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Ensemble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2"/>
            <p:cNvSpPr/>
            <p:nvPr/>
          </p:nvSpPr>
          <p:spPr>
            <a:xfrm>
              <a:off x="8200879" y="4521756"/>
              <a:ext cx="3310062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 using multiple models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12"/>
          <p:cNvGrpSpPr/>
          <p:nvPr/>
        </p:nvGrpSpPr>
        <p:grpSpPr>
          <a:xfrm>
            <a:off x="8870795" y="5086860"/>
            <a:ext cx="2084501" cy="1457486"/>
            <a:chOff x="8870795" y="5086860"/>
            <a:chExt cx="2084501" cy="1457486"/>
          </a:xfrm>
        </p:grpSpPr>
        <p:pic>
          <p:nvPicPr>
            <p:cNvPr id="140" name="Google Shape;14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41367" y="5086860"/>
              <a:ext cx="885604" cy="695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2"/>
            <p:cNvSpPr/>
            <p:nvPr/>
          </p:nvSpPr>
          <p:spPr>
            <a:xfrm>
              <a:off x="8870795" y="6014724"/>
              <a:ext cx="2084501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Messaging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2"/>
            <p:cNvSpPr/>
            <p:nvPr/>
          </p:nvSpPr>
          <p:spPr>
            <a:xfrm>
              <a:off x="8870795" y="6331054"/>
              <a:ext cx="2084501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Sends push notifications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2"/>
          <p:cNvGrpSpPr/>
          <p:nvPr/>
        </p:nvGrpSpPr>
        <p:grpSpPr>
          <a:xfrm>
            <a:off x="537076" y="2830009"/>
            <a:ext cx="2219722" cy="1647928"/>
            <a:chOff x="537076" y="2830009"/>
            <a:chExt cx="2219722" cy="1647928"/>
          </a:xfrm>
        </p:grpSpPr>
        <p:pic>
          <p:nvPicPr>
            <p:cNvPr id="144" name="Google Shape;144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86794" y="2830009"/>
              <a:ext cx="904649" cy="6284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2"/>
            <p:cNvSpPr/>
            <p:nvPr/>
          </p:nvSpPr>
          <p:spPr>
            <a:xfrm>
              <a:off x="537076" y="3948316"/>
              <a:ext cx="1592182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UI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2"/>
            <p:cNvSpPr/>
            <p:nvPr/>
          </p:nvSpPr>
          <p:spPr>
            <a:xfrm>
              <a:off x="537076" y="4264645"/>
              <a:ext cx="1592182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Gradio, naturally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" name="Google Shape;147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33054" y="3208155"/>
              <a:ext cx="523744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" name="Google Shape;148;p12"/>
          <p:cNvGrpSpPr/>
          <p:nvPr/>
        </p:nvGrpSpPr>
        <p:grpSpPr>
          <a:xfrm>
            <a:off x="2809649" y="2863472"/>
            <a:ext cx="2918205" cy="1614465"/>
            <a:chOff x="2809649" y="2863472"/>
            <a:chExt cx="2918205" cy="1614465"/>
          </a:xfrm>
        </p:grpSpPr>
        <p:pic>
          <p:nvPicPr>
            <p:cNvPr id="149" name="Google Shape;149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81558" y="2863472"/>
              <a:ext cx="952262" cy="5523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2"/>
            <p:cNvSpPr/>
            <p:nvPr/>
          </p:nvSpPr>
          <p:spPr>
            <a:xfrm>
              <a:off x="2809649" y="3948316"/>
              <a:ext cx="2293999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Agent Framework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2"/>
            <p:cNvSpPr/>
            <p:nvPr/>
          </p:nvSpPr>
          <p:spPr>
            <a:xfrm>
              <a:off x="2809649" y="4264645"/>
              <a:ext cx="2293999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With memory and logging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2" name="Google Shape;152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204110" y="3208155"/>
              <a:ext cx="523744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12"/>
          <p:cNvGrpSpPr/>
          <p:nvPr/>
        </p:nvGrpSpPr>
        <p:grpSpPr>
          <a:xfrm>
            <a:off x="5707858" y="2670495"/>
            <a:ext cx="2743466" cy="1826488"/>
            <a:chOff x="5707858" y="2670495"/>
            <a:chExt cx="2743466" cy="1826488"/>
          </a:xfrm>
        </p:grpSpPr>
        <p:pic>
          <p:nvPicPr>
            <p:cNvPr id="154" name="Google Shape;154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18116" y="2670495"/>
              <a:ext cx="780855" cy="990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2"/>
            <p:cNvSpPr/>
            <p:nvPr/>
          </p:nvSpPr>
          <p:spPr>
            <a:xfrm>
              <a:off x="5707858" y="3967361"/>
              <a:ext cx="1801679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Planning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2"/>
            <p:cNvSpPr/>
            <p:nvPr/>
          </p:nvSpPr>
          <p:spPr>
            <a:xfrm>
              <a:off x="5707858" y="4283691"/>
              <a:ext cx="1801679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Coordinates activities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" name="Google Shape;157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937103" y="3208155"/>
              <a:ext cx="514221" cy="6761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Introducing Modal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1578708" y="1523619"/>
            <a:ext cx="9031536" cy="485653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65" name="Google Shape;1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708" y="1523619"/>
            <a:ext cx="9031536" cy="485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told you this week would be big!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1 at 22.18.00.png" id="174" name="Google Shape;174;p1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5156392" y="2517542"/>
            <a:ext cx="6897791" cy="1907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Modal to deploy LLMs for production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5156392" y="483972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next time you'll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5156392" y="5165202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build an advanced RAG solution</a:t>
            </a:r>
            <a:endParaRPr sz="123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an ensemble model with a high level of expertise</a:t>
            </a:r>
            <a:r>
              <a:rPr lang="en-US"/>
              <a:t>\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Deliver production ready code to call a number of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