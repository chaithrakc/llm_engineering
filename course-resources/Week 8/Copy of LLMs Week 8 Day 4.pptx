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ceb9a844f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aceb9a844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aceb9a844f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2.png"/><Relationship Id="rId13" Type="http://schemas.openxmlformats.org/officeDocument/2006/relationships/image" Target="../media/image6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04414"/>
            <a:ext cx="11998500" cy="5156645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eek8_2_2.png" id="17" name="Google Shape;17;p3"/>
          <p:cNvPicPr preferRelativeResize="0"/>
          <p:nvPr/>
        </p:nvPicPr>
        <p:blipFill rotWithShape="1">
          <a:blip r:embed="rId3">
            <a:alphaModFix/>
          </a:blip>
          <a:srcRect b="92" l="0" r="0" t="92"/>
          <a:stretch/>
        </p:blipFill>
        <p:spPr>
          <a:xfrm>
            <a:off x="95226" y="1604414"/>
            <a:ext cx="11998500" cy="515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1 at 22.48.22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2105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&amp; code with Frontier Models and Open Source models using APIs and Hugging Face, with tools, Structured Outputs,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multiple models to production including proprietary LLMs on Modal, a RAG workflow with Frontier models, and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Networks, with structured outputs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156392" y="5037689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also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156392" y="5363169"/>
            <a:ext cx="6897791" cy="569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7213" lvl="0" marL="45720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Agent Orchestration and use of Tools</a:t>
            </a:r>
            <a:endParaRPr sz="123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7213" lvl="0" marL="45720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Planning Agent with an Agent Loop</a:t>
            </a:r>
            <a:endParaRPr sz="123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Hallmarks of an Agentic AI 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5"/>
          <p:cNvGrpSpPr/>
          <p:nvPr/>
        </p:nvGrpSpPr>
        <p:grpSpPr>
          <a:xfrm>
            <a:off x="618970" y="1926395"/>
            <a:ext cx="3142464" cy="1932274"/>
            <a:chOff x="618970" y="1926395"/>
            <a:chExt cx="3142464" cy="1932274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77305" y="1926395"/>
              <a:ext cx="809423" cy="8665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5"/>
            <p:cNvSpPr/>
            <p:nvPr/>
          </p:nvSpPr>
          <p:spPr>
            <a:xfrm>
              <a:off x="618970" y="3167461"/>
              <a:ext cx="3142464" cy="691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Breaking a larger problem into smaller steps carried out by individual processes / models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oogle Shape;42;p5"/>
          <p:cNvGrpSpPr/>
          <p:nvPr/>
        </p:nvGrpSpPr>
        <p:grpSpPr>
          <a:xfrm>
            <a:off x="4518006" y="1848280"/>
            <a:ext cx="3152939" cy="1779986"/>
            <a:chOff x="4518006" y="1848280"/>
            <a:chExt cx="3152939" cy="1779986"/>
          </a:xfrm>
        </p:grpSpPr>
        <p:pic>
          <p:nvPicPr>
            <p:cNvPr id="43" name="Google Shape;43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92741" y="1848280"/>
              <a:ext cx="809423" cy="999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5"/>
            <p:cNvSpPr/>
            <p:nvPr/>
          </p:nvSpPr>
          <p:spPr>
            <a:xfrm>
              <a:off x="4518006" y="3167461"/>
              <a:ext cx="3152939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Using Tools / Function Calling / Structured Outputs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5"/>
          <p:cNvGrpSpPr/>
          <p:nvPr/>
        </p:nvGrpSpPr>
        <p:grpSpPr>
          <a:xfrm>
            <a:off x="8354193" y="1926400"/>
            <a:ext cx="3289113" cy="1701866"/>
            <a:chOff x="8354193" y="1926400"/>
            <a:chExt cx="3289113" cy="1701866"/>
          </a:xfrm>
        </p:grpSpPr>
        <p:pic>
          <p:nvPicPr>
            <p:cNvPr id="46" name="Google Shape;46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19325" y="1926400"/>
              <a:ext cx="761810" cy="8570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5"/>
            <p:cNvSpPr/>
            <p:nvPr/>
          </p:nvSpPr>
          <p:spPr>
            <a:xfrm>
              <a:off x="8354193" y="3167461"/>
              <a:ext cx="3289113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Agent Environment in which Agents can collaborate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2366847" y="4373715"/>
            <a:ext cx="3550985" cy="1701864"/>
            <a:chOff x="2366847" y="4373715"/>
            <a:chExt cx="3550985" cy="1701864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818719" y="4373715"/>
              <a:ext cx="647538" cy="8570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5"/>
            <p:cNvSpPr/>
            <p:nvPr/>
          </p:nvSpPr>
          <p:spPr>
            <a:xfrm>
              <a:off x="2366847" y="5614774"/>
              <a:ext cx="3550985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Planning Agent that coordinates activities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5"/>
          <p:cNvGrpSpPr/>
          <p:nvPr/>
        </p:nvGrpSpPr>
        <p:grpSpPr>
          <a:xfrm>
            <a:off x="6459668" y="4340233"/>
            <a:ext cx="3173889" cy="1735346"/>
            <a:chOff x="6459668" y="4340233"/>
            <a:chExt cx="3173889" cy="1735346"/>
          </a:xfrm>
        </p:grpSpPr>
        <p:pic>
          <p:nvPicPr>
            <p:cNvPr id="52" name="Google Shape;52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56034" y="4340233"/>
              <a:ext cx="790377" cy="9427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6459668" y="5614774"/>
              <a:ext cx="3173889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Autonomy &amp; Memory - existing beyond a chat with a human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 Workflows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6"/>
          <p:cNvGrpSpPr/>
          <p:nvPr/>
        </p:nvGrpSpPr>
        <p:grpSpPr>
          <a:xfrm>
            <a:off x="7594765" y="1148664"/>
            <a:ext cx="2189400" cy="1519984"/>
            <a:chOff x="7594765" y="1148664"/>
            <a:chExt cx="2189400" cy="1519984"/>
          </a:xfrm>
        </p:grpSpPr>
        <p:pic>
          <p:nvPicPr>
            <p:cNvPr id="61" name="Google Shape;6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0608" y="1148664"/>
              <a:ext cx="580880" cy="895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6"/>
            <p:cNvSpPr/>
            <p:nvPr/>
          </p:nvSpPr>
          <p:spPr>
            <a:xfrm>
              <a:off x="7594765" y="2139018"/>
              <a:ext cx="21894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Scanner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7594765" y="2455348"/>
              <a:ext cx="21894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Identifies promising deals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6"/>
          <p:cNvGrpSpPr/>
          <p:nvPr/>
        </p:nvGrpSpPr>
        <p:grpSpPr>
          <a:xfrm>
            <a:off x="6943894" y="3147527"/>
            <a:ext cx="3310200" cy="1587529"/>
            <a:chOff x="6943894" y="3147527"/>
            <a:chExt cx="3310200" cy="1587529"/>
          </a:xfrm>
        </p:grpSpPr>
        <p:pic>
          <p:nvPicPr>
            <p:cNvPr id="65" name="Google Shape;6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9310" y="3147527"/>
              <a:ext cx="990352" cy="933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6"/>
            <p:cNvSpPr/>
            <p:nvPr/>
          </p:nvSpPr>
          <p:spPr>
            <a:xfrm>
              <a:off x="6943894" y="4205427"/>
              <a:ext cx="3310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Ensemble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6943894" y="4521756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6"/>
          <p:cNvGrpSpPr/>
          <p:nvPr/>
        </p:nvGrpSpPr>
        <p:grpSpPr>
          <a:xfrm>
            <a:off x="7613810" y="5247703"/>
            <a:ext cx="2084400" cy="1296651"/>
            <a:chOff x="7613810" y="5247703"/>
            <a:chExt cx="2084400" cy="1296651"/>
          </a:xfrm>
        </p:grpSpPr>
        <p:pic>
          <p:nvPicPr>
            <p:cNvPr id="69" name="Google Shape;6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298441" y="5247703"/>
              <a:ext cx="752287" cy="5904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6"/>
            <p:cNvSpPr/>
            <p:nvPr/>
          </p:nvSpPr>
          <p:spPr>
            <a:xfrm>
              <a:off x="7613810" y="6014724"/>
              <a:ext cx="20844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Messaging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7613810" y="6331054"/>
              <a:ext cx="20844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Sends push notifications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6"/>
          <p:cNvGrpSpPr/>
          <p:nvPr/>
        </p:nvGrpSpPr>
        <p:grpSpPr>
          <a:xfrm>
            <a:off x="13332" y="3000004"/>
            <a:ext cx="2057838" cy="1477941"/>
            <a:chOff x="13332" y="3000004"/>
            <a:chExt cx="2057838" cy="1477941"/>
          </a:xfrm>
        </p:grpSpPr>
        <p:grpSp>
          <p:nvGrpSpPr>
            <p:cNvPr id="73" name="Google Shape;73;p6"/>
            <p:cNvGrpSpPr/>
            <p:nvPr/>
          </p:nvGrpSpPr>
          <p:grpSpPr>
            <a:xfrm>
              <a:off x="13332" y="3000004"/>
              <a:ext cx="1592100" cy="1477941"/>
              <a:chOff x="13332" y="3000004"/>
              <a:chExt cx="1592100" cy="1477941"/>
            </a:xfrm>
          </p:grpSpPr>
          <p:pic>
            <p:nvPicPr>
              <p:cNvPr id="74" name="Google Shape;74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10045" y="3000004"/>
                <a:ext cx="809423" cy="5618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" name="Google Shape;75;p6"/>
              <p:cNvSpPr/>
              <p:nvPr/>
            </p:nvSpPr>
            <p:spPr>
              <a:xfrm>
                <a:off x="13332" y="3948316"/>
                <a:ext cx="15921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UI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13332" y="4264645"/>
                <a:ext cx="1592100" cy="21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Montserrat"/>
                  <a:buNone/>
                </a:pPr>
                <a:r>
                  <a:rPr b="0" i="0" lang="en-US" sz="1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 Gradio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7" name="Google Shape;77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56949" y="3208155"/>
              <a:ext cx="514221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6"/>
          <p:cNvGrpSpPr/>
          <p:nvPr/>
        </p:nvGrpSpPr>
        <p:grpSpPr>
          <a:xfrm>
            <a:off x="2019271" y="3060743"/>
            <a:ext cx="2899162" cy="1417202"/>
            <a:chOff x="2019271" y="3060743"/>
            <a:chExt cx="2899162" cy="1417202"/>
          </a:xfrm>
        </p:grpSpPr>
        <p:pic>
          <p:nvPicPr>
            <p:cNvPr id="79" name="Google Shape;79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81728" y="3060743"/>
              <a:ext cx="761810" cy="447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6"/>
            <p:cNvSpPr/>
            <p:nvPr/>
          </p:nvSpPr>
          <p:spPr>
            <a:xfrm>
              <a:off x="2019271" y="3948316"/>
              <a:ext cx="22941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Agent Framework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2019271" y="4264645"/>
              <a:ext cx="22941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Memory, logging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" name="Google Shape;82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04212" y="3208155"/>
              <a:ext cx="514221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6"/>
          <p:cNvGrpSpPr/>
          <p:nvPr/>
        </p:nvGrpSpPr>
        <p:grpSpPr>
          <a:xfrm>
            <a:off x="4907958" y="2869720"/>
            <a:ext cx="2572058" cy="1627271"/>
            <a:chOff x="4907958" y="2869720"/>
            <a:chExt cx="2572058" cy="1627271"/>
          </a:xfrm>
        </p:grpSpPr>
        <p:pic>
          <p:nvPicPr>
            <p:cNvPr id="84" name="Google Shape;84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482767" y="2869720"/>
              <a:ext cx="657061" cy="828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6"/>
            <p:cNvSpPr/>
            <p:nvPr/>
          </p:nvSpPr>
          <p:spPr>
            <a:xfrm>
              <a:off x="4907958" y="3967361"/>
              <a:ext cx="18018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Planning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4907958" y="4283691"/>
              <a:ext cx="18018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Coordinates activities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" name="Google Shape;87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56272" y="3208155"/>
              <a:ext cx="523744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6"/>
          <p:cNvGrpSpPr/>
          <p:nvPr/>
        </p:nvGrpSpPr>
        <p:grpSpPr>
          <a:xfrm>
            <a:off x="9400729" y="1355062"/>
            <a:ext cx="3310200" cy="1313586"/>
            <a:chOff x="9400729" y="1355062"/>
            <a:chExt cx="3310200" cy="1313586"/>
          </a:xfrm>
        </p:grpSpPr>
        <p:sp>
          <p:nvSpPr>
            <p:cNvPr id="89" name="Google Shape;89;p6"/>
            <p:cNvSpPr/>
            <p:nvPr/>
          </p:nvSpPr>
          <p:spPr>
            <a:xfrm>
              <a:off x="9400729" y="2455348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pricer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" name="Google Shape;90;p6"/>
            <p:cNvGrpSpPr/>
            <p:nvPr/>
          </p:nvGrpSpPr>
          <p:grpSpPr>
            <a:xfrm>
              <a:off x="9400729" y="1355062"/>
              <a:ext cx="3310200" cy="1014356"/>
              <a:chOff x="9400729" y="1355062"/>
              <a:chExt cx="3310200" cy="1014356"/>
            </a:xfrm>
          </p:grpSpPr>
          <p:sp>
            <p:nvSpPr>
              <p:cNvPr id="91" name="Google Shape;91;p6"/>
              <p:cNvSpPr/>
              <p:nvPr/>
            </p:nvSpPr>
            <p:spPr>
              <a:xfrm>
                <a:off x="9400729" y="2139018"/>
                <a:ext cx="33102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Frontier Agent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2" name="Google Shape;92;p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0692663" y="1355062"/>
                <a:ext cx="695151" cy="5237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3" name="Google Shape;93;p6"/>
          <p:cNvGrpSpPr/>
          <p:nvPr/>
        </p:nvGrpSpPr>
        <p:grpSpPr>
          <a:xfrm>
            <a:off x="9400729" y="3274250"/>
            <a:ext cx="3310200" cy="1460806"/>
            <a:chOff x="9400729" y="3274250"/>
            <a:chExt cx="3310200" cy="1460806"/>
          </a:xfrm>
        </p:grpSpPr>
        <p:sp>
          <p:nvSpPr>
            <p:cNvPr id="94" name="Google Shape;94;p6"/>
            <p:cNvSpPr/>
            <p:nvPr/>
          </p:nvSpPr>
          <p:spPr>
            <a:xfrm>
              <a:off x="9400729" y="4205427"/>
              <a:ext cx="3310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Specialist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9400729" y="4521756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752771" y="3274250"/>
              <a:ext cx="609448" cy="7903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6"/>
          <p:cNvGrpSpPr/>
          <p:nvPr/>
        </p:nvGrpSpPr>
        <p:grpSpPr>
          <a:xfrm>
            <a:off x="9400729" y="5258130"/>
            <a:ext cx="3310200" cy="1333837"/>
            <a:chOff x="9400729" y="5258130"/>
            <a:chExt cx="3310200" cy="1333837"/>
          </a:xfrm>
        </p:grpSpPr>
        <p:sp>
          <p:nvSpPr>
            <p:cNvPr id="98" name="Google Shape;98;p6"/>
            <p:cNvSpPr/>
            <p:nvPr/>
          </p:nvSpPr>
          <p:spPr>
            <a:xfrm>
              <a:off x="9400729" y="6062337"/>
              <a:ext cx="3310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Neural Network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9400729" y="6378667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663412" y="5258130"/>
              <a:ext cx="790377" cy="63801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1" name="Google Shape;101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79741" y="3280989"/>
            <a:ext cx="523744" cy="676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 DAY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One. Day. Left.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1 at 22.52.30.png"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156392" y="2517542"/>
            <a:ext cx="6897791" cy="2675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&amp; code with Frontier Models and Open Source models using APIs and Hugging Face, with tools, Structured Outputs,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solution with</a:t>
            </a: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multiple models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including proprietary LLMs on Modal, a RAG workflow with Frontier models, and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Neural Network, and use Structured Outputs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156392" y="5273145"/>
            <a:ext cx="6897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tomorrow you will also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156392" y="5598625"/>
            <a:ext cx="6897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Agentic Workflows with Planning, Memory, Database and multiple Agents collaborating to solve a complex task</a:t>
            </a:r>
            <a:endParaRPr sz="123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 an AI Engineer!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