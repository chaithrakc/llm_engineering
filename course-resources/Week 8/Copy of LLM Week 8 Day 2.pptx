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13" Type="http://schemas.openxmlformats.org/officeDocument/2006/relationships/image" Target="../media/image5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28408"/>
            <a:ext cx="11998500" cy="51326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Week8_2_2.png" id="17" name="Google Shape;17;p3"/>
          <p:cNvPicPr preferRelativeResize="0"/>
          <p:nvPr/>
        </p:nvPicPr>
        <p:blipFill rotWithShape="1">
          <a:blip r:embed="rId3">
            <a:alphaModFix/>
          </a:blip>
          <a:srcRect b="325" l="0" r="0" t="325"/>
          <a:stretch/>
        </p:blipFill>
        <p:spPr>
          <a:xfrm>
            <a:off x="95226" y="1628408"/>
            <a:ext cx="11998500" cy="513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753340" y="603942"/>
            <a:ext cx="4682272" cy="31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1"/>
              <a:buFont typeface="Montserrat"/>
              <a:buNone/>
            </a:pPr>
            <a:r>
              <a:rPr b="0" i="0" lang="en-US" sz="239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53340" y="955684"/>
            <a:ext cx="4682272" cy="254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 days to go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1 at 22.17.37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1907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Modal to deploy LLMs for production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728916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83972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today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5165202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build an advanced RAG solution, without Langchain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an ensemble model with a high level of expertise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Deliver production ready code to call a number of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REFRESHER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Capstone Project - "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Right</a:t>
            </a: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318238" y="1952137"/>
            <a:ext cx="4394583" cy="442801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2 at 08.17.43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378" r="378" t="0"/>
          <a:stretch/>
        </p:blipFill>
        <p:spPr>
          <a:xfrm>
            <a:off x="7318238" y="1952137"/>
            <a:ext cx="4394583" cy="442801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761810" y="2183804"/>
            <a:ext cx="6478796" cy="243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6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21"/>
              <a:buFont typeface="Montserrat"/>
              <a:buNone/>
            </a:pPr>
            <a:r>
              <a:rPr b="1" i="0" lang="en-US" sz="1521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 will build an Autonomous Agentic AI framework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61810" y="2568578"/>
            <a:ext cx="6478796" cy="11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Watches for deals being published online</a:t>
            </a:r>
            <a:endParaRPr/>
          </a:p>
          <a:p>
            <a:pPr indent="-242900" lvl="0" marL="242900" marR="0" rtl="0" algn="l">
              <a:lnSpc>
                <a:spcPct val="125974"/>
              </a:lnSpc>
              <a:spcBef>
                <a:spcPts val="1586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Estimates the price of the product</a:t>
            </a:r>
            <a:endParaRPr/>
          </a:p>
          <a:p>
            <a:pPr indent="-242900" lvl="0" marL="242900" marR="0" rtl="0" algn="l">
              <a:lnSpc>
                <a:spcPct val="125974"/>
              </a:lnSpc>
              <a:spcBef>
                <a:spcPts val="1586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Sends a push notification when it finds great opportunities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761810" y="3814925"/>
            <a:ext cx="5889814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5"/>
          <p:cNvSpPr/>
          <p:nvPr/>
        </p:nvSpPr>
        <p:spPr>
          <a:xfrm>
            <a:off x="761810" y="4136983"/>
            <a:ext cx="6478796" cy="243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6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21"/>
              <a:buFont typeface="Montserrat"/>
              <a:buNone/>
            </a:pPr>
            <a:r>
              <a:rPr b="1" i="0" lang="en-US" sz="1521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SEVEN Agents will collaborate in our framework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61810" y="4521756"/>
            <a:ext cx="6478796" cy="1112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GPT-</a:t>
            </a:r>
            <a:r>
              <a:rPr lang="en-US" sz="1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5.1</a:t>
            </a: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model will identify the deals from an RSS feed</a:t>
            </a:r>
            <a:endParaRPr/>
          </a:p>
          <a:p>
            <a:pPr indent="-242900" lvl="0" marL="242900" marR="0" rtl="0" algn="l">
              <a:lnSpc>
                <a:spcPct val="125974"/>
              </a:lnSpc>
              <a:spcBef>
                <a:spcPts val="1586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frontier-busting fine-tuned model will estimate prices</a:t>
            </a:r>
            <a:endParaRPr/>
          </a:p>
          <a:p>
            <a:pPr indent="-242900" lvl="0" marL="242900" marR="0" rtl="0" algn="l">
              <a:lnSpc>
                <a:spcPct val="125974"/>
              </a:lnSpc>
              <a:spcBef>
                <a:spcPts val="1586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Montserrat"/>
              <a:buChar char="•"/>
            </a:pPr>
            <a:r>
              <a:rPr b="0" i="0" lang="en-US" sz="146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We'll also use a Frontier Model with a massive RAG db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 Workflows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6"/>
          <p:cNvGrpSpPr/>
          <p:nvPr/>
        </p:nvGrpSpPr>
        <p:grpSpPr>
          <a:xfrm>
            <a:off x="7594765" y="1148664"/>
            <a:ext cx="2189250" cy="1519976"/>
            <a:chOff x="7594765" y="1148664"/>
            <a:chExt cx="2189250" cy="1519976"/>
          </a:xfrm>
        </p:grpSpPr>
        <p:pic>
          <p:nvPicPr>
            <p:cNvPr id="55" name="Google Shape;5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10608" y="1148664"/>
              <a:ext cx="580880" cy="895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6"/>
            <p:cNvSpPr/>
            <p:nvPr/>
          </p:nvSpPr>
          <p:spPr>
            <a:xfrm>
              <a:off x="7594765" y="2139018"/>
              <a:ext cx="2189250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Scanner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7594765" y="2455348"/>
              <a:ext cx="2189250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Identifies promising deals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p6"/>
          <p:cNvGrpSpPr/>
          <p:nvPr/>
        </p:nvGrpSpPr>
        <p:grpSpPr>
          <a:xfrm>
            <a:off x="6943894" y="3147527"/>
            <a:ext cx="3310062" cy="1587521"/>
            <a:chOff x="6943894" y="3147527"/>
            <a:chExt cx="3310062" cy="1587521"/>
          </a:xfrm>
        </p:grpSpPr>
        <p:pic>
          <p:nvPicPr>
            <p:cNvPr id="59" name="Google Shape;5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9310" y="3147527"/>
              <a:ext cx="990352" cy="933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6"/>
            <p:cNvSpPr/>
            <p:nvPr/>
          </p:nvSpPr>
          <p:spPr>
            <a:xfrm>
              <a:off x="6943894" y="4205427"/>
              <a:ext cx="3310062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Ensemble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6943894" y="4521756"/>
              <a:ext cx="3310062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7613810" y="5247703"/>
            <a:ext cx="2084501" cy="1296643"/>
            <a:chOff x="7613810" y="5247703"/>
            <a:chExt cx="2084501" cy="1296643"/>
          </a:xfrm>
        </p:grpSpPr>
        <p:pic>
          <p:nvPicPr>
            <p:cNvPr id="63" name="Google Shape;63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298441" y="5247703"/>
              <a:ext cx="752287" cy="5904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6"/>
            <p:cNvSpPr/>
            <p:nvPr/>
          </p:nvSpPr>
          <p:spPr>
            <a:xfrm>
              <a:off x="7613810" y="6014724"/>
              <a:ext cx="2084501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Messaging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7613810" y="6331054"/>
              <a:ext cx="2084501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Sends push notifications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6"/>
          <p:cNvGrpSpPr/>
          <p:nvPr/>
        </p:nvGrpSpPr>
        <p:grpSpPr>
          <a:xfrm>
            <a:off x="13332" y="3000004"/>
            <a:ext cx="2057838" cy="1477933"/>
            <a:chOff x="13332" y="3000004"/>
            <a:chExt cx="2057838" cy="1477933"/>
          </a:xfrm>
        </p:grpSpPr>
        <p:grpSp>
          <p:nvGrpSpPr>
            <p:cNvPr id="67" name="Google Shape;67;p6"/>
            <p:cNvGrpSpPr/>
            <p:nvPr/>
          </p:nvGrpSpPr>
          <p:grpSpPr>
            <a:xfrm>
              <a:off x="13332" y="3000004"/>
              <a:ext cx="1592182" cy="1477933"/>
              <a:chOff x="13332" y="3000004"/>
              <a:chExt cx="1592182" cy="1477933"/>
            </a:xfrm>
          </p:grpSpPr>
          <p:pic>
            <p:nvPicPr>
              <p:cNvPr id="68" name="Google Shape;68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10045" y="3000004"/>
                <a:ext cx="809423" cy="56183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" name="Google Shape;69;p6"/>
              <p:cNvSpPr/>
              <p:nvPr/>
            </p:nvSpPr>
            <p:spPr>
              <a:xfrm>
                <a:off x="13332" y="3948316"/>
                <a:ext cx="1592182" cy="230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UI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13332" y="4264645"/>
                <a:ext cx="1592182" cy="2132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Montserrat"/>
                  <a:buNone/>
                </a:pPr>
                <a:r>
                  <a:rPr b="0" i="0" lang="en-US" sz="1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 Gradio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1" name="Google Shape;71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56949" y="3208155"/>
              <a:ext cx="514221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" name="Google Shape;72;p6"/>
          <p:cNvGrpSpPr/>
          <p:nvPr/>
        </p:nvGrpSpPr>
        <p:grpSpPr>
          <a:xfrm>
            <a:off x="2019271" y="3060743"/>
            <a:ext cx="2899162" cy="1417194"/>
            <a:chOff x="2019271" y="3060743"/>
            <a:chExt cx="2899162" cy="1417194"/>
          </a:xfrm>
        </p:grpSpPr>
        <p:pic>
          <p:nvPicPr>
            <p:cNvPr id="73" name="Google Shape;73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81728" y="3060743"/>
              <a:ext cx="761810" cy="447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6"/>
            <p:cNvSpPr/>
            <p:nvPr/>
          </p:nvSpPr>
          <p:spPr>
            <a:xfrm>
              <a:off x="2019271" y="3948316"/>
              <a:ext cx="229399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Agent Framework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2019271" y="4264645"/>
              <a:ext cx="2293999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Memory, logging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" name="Google Shape;76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04212" y="3208155"/>
              <a:ext cx="514221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" name="Google Shape;77;p6"/>
          <p:cNvGrpSpPr/>
          <p:nvPr/>
        </p:nvGrpSpPr>
        <p:grpSpPr>
          <a:xfrm>
            <a:off x="4907958" y="2869720"/>
            <a:ext cx="2572058" cy="1627263"/>
            <a:chOff x="4907958" y="2869720"/>
            <a:chExt cx="2572058" cy="1627263"/>
          </a:xfrm>
        </p:grpSpPr>
        <p:pic>
          <p:nvPicPr>
            <p:cNvPr id="78" name="Google Shape;78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482767" y="2869720"/>
              <a:ext cx="657061" cy="828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6"/>
            <p:cNvSpPr/>
            <p:nvPr/>
          </p:nvSpPr>
          <p:spPr>
            <a:xfrm>
              <a:off x="4907958" y="3967361"/>
              <a:ext cx="1801679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Planning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4907958" y="4283691"/>
              <a:ext cx="1801679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Coordinates activities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" name="Google Shape;81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956272" y="3208155"/>
              <a:ext cx="523744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" name="Google Shape;82;p6"/>
          <p:cNvGrpSpPr/>
          <p:nvPr/>
        </p:nvGrpSpPr>
        <p:grpSpPr>
          <a:xfrm>
            <a:off x="9400729" y="1355062"/>
            <a:ext cx="3310062" cy="1313578"/>
            <a:chOff x="9400729" y="1355062"/>
            <a:chExt cx="3310062" cy="1313578"/>
          </a:xfrm>
        </p:grpSpPr>
        <p:sp>
          <p:nvSpPr>
            <p:cNvPr id="83" name="Google Shape;83;p6"/>
            <p:cNvSpPr/>
            <p:nvPr/>
          </p:nvSpPr>
          <p:spPr>
            <a:xfrm>
              <a:off x="9400729" y="2455348"/>
              <a:ext cx="3310062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pricer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>
              <a:off x="9400729" y="1355062"/>
              <a:ext cx="3310062" cy="1014359"/>
              <a:chOff x="9400729" y="1355062"/>
              <a:chExt cx="3310062" cy="1014359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9400729" y="2139018"/>
                <a:ext cx="3310062" cy="230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Frontier Agent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6" name="Google Shape;86;p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0692663" y="1355062"/>
                <a:ext cx="695151" cy="5237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7" name="Google Shape;87;p6"/>
          <p:cNvGrpSpPr/>
          <p:nvPr/>
        </p:nvGrpSpPr>
        <p:grpSpPr>
          <a:xfrm>
            <a:off x="9400729" y="3274250"/>
            <a:ext cx="3310062" cy="1460798"/>
            <a:chOff x="9400729" y="3274250"/>
            <a:chExt cx="3310062" cy="1460798"/>
          </a:xfrm>
        </p:grpSpPr>
        <p:sp>
          <p:nvSpPr>
            <p:cNvPr id="88" name="Google Shape;88;p6"/>
            <p:cNvSpPr/>
            <p:nvPr/>
          </p:nvSpPr>
          <p:spPr>
            <a:xfrm>
              <a:off x="9400729" y="4205427"/>
              <a:ext cx="3310062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Specialist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9400729" y="4521756"/>
              <a:ext cx="3310062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" name="Google Shape;90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752771" y="3274250"/>
              <a:ext cx="609448" cy="7903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" name="Google Shape;91;p6"/>
          <p:cNvGrpSpPr/>
          <p:nvPr/>
        </p:nvGrpSpPr>
        <p:grpSpPr>
          <a:xfrm>
            <a:off x="9400729" y="5258130"/>
            <a:ext cx="3310062" cy="1333829"/>
            <a:chOff x="9400729" y="5258130"/>
            <a:chExt cx="3310062" cy="1333829"/>
          </a:xfrm>
        </p:grpSpPr>
        <p:sp>
          <p:nvSpPr>
            <p:cNvPr id="92" name="Google Shape;92;p6"/>
            <p:cNvSpPr/>
            <p:nvPr/>
          </p:nvSpPr>
          <p:spPr>
            <a:xfrm>
              <a:off x="9400729" y="6062337"/>
              <a:ext cx="3310062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Neural Network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9400729" y="6378667"/>
              <a:ext cx="3310062" cy="213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" name="Google Shape;94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663412" y="5258130"/>
              <a:ext cx="790377" cy="63801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5" name="Google Shape;9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79741" y="3280989"/>
            <a:ext cx="523744" cy="676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92.5% to Advanced Expertise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17 at 23.08.30.png"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156392" y="2517542"/>
            <a:ext cx="6897791" cy="2105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multiple models to production including proprietary LLMs on Modal, a RAG workflow with Frontier models, and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Neural Network</a:t>
            </a: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156392" y="5037689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next time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156392" y="5363169"/>
            <a:ext cx="6897791" cy="569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Structured Outputs to ensure frontier models respond with a spec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 even further experience using models to solve problems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