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embeddedFontLs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aceeebaa08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g3aceeebaa08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aceeebaa08_0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ceeebaa08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aceeebaa08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aceeebaa08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ceeebaa08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aceeebaa08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aceeebaa08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11.png"/><Relationship Id="rId13" Type="http://schemas.openxmlformats.org/officeDocument/2006/relationships/image" Target="../media/image21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6.png"/><Relationship Id="rId9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5.png"/><Relationship Id="rId8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604414"/>
            <a:ext cx="11998500" cy="5156645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rain_Week8_2_2.png" id="17" name="Google Shape;17;p3"/>
          <p:cNvPicPr preferRelativeResize="0"/>
          <p:nvPr/>
        </p:nvPicPr>
        <p:blipFill rotWithShape="1">
          <a:blip r:embed="rId3">
            <a:alphaModFix/>
          </a:blip>
          <a:srcRect b="92" l="0" r="0" t="92"/>
          <a:stretch/>
        </p:blipFill>
        <p:spPr>
          <a:xfrm>
            <a:off x="95226" y="1604414"/>
            <a:ext cx="11998500" cy="515664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753340" y="603942"/>
            <a:ext cx="4682272" cy="318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91"/>
              <a:buFont typeface="Montserrat"/>
              <a:buNone/>
            </a:pPr>
            <a:r>
              <a:rPr b="0" i="0" lang="en-US" sz="239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753340" y="955684"/>
            <a:ext cx="4682272" cy="2549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8 DAY 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LAST DAY IS HERE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21 at 22.56.07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517542"/>
            <a:ext cx="6897791" cy="2675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&amp; code with Frontier Models and Open Source models using APIs and Hugging Face, with tools, Structured Outputs,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carry out the end-to-end process for selecting and training specialized open source models that can outperform the Frontier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Deploy multiple models to production including proprietary LLMs on Modal, a RAG workflow with Frontier models, and </a:t>
            </a: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Neural Networks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156392" y="5207909"/>
            <a:ext cx="6897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today you will also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156392" y="5533389"/>
            <a:ext cx="68979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Build Agentic Workflows with Planning, Memory, Database and multiple Agents collaborating to solve a complex task</a:t>
            </a:r>
            <a:endParaRPr sz="1238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2900" lvl="0" marL="24290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 an AI Engineer!</a:t>
            </a:r>
            <a:endParaRPr sz="123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0" y="419516"/>
            <a:ext cx="12189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0" y="790154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Three Definitions of Agents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944550" y="1657150"/>
            <a:ext cx="10299900" cy="45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52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Sam Altman:</a:t>
            </a:r>
            <a:br>
              <a:rPr b="1" lang="en-US" sz="21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 sz="21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“AI systems that can do work for you independently”</a:t>
            </a:r>
            <a:endParaRPr i="1" sz="21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40000"/>
              </a:lnSpc>
              <a:spcBef>
                <a:spcPts val="52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21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40000"/>
              </a:lnSpc>
              <a:spcBef>
                <a:spcPts val="52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Early 2025 consensus:</a:t>
            </a:r>
            <a:br>
              <a:rPr b="1" lang="en-US" sz="21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21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(Anthropic, Hugging Face, ..)</a:t>
            </a:r>
            <a:br>
              <a:rPr b="1" lang="en-US" sz="21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 sz="21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AI systems where an LLM controls the workflow</a:t>
            </a:r>
            <a:endParaRPr i="1" sz="2100">
              <a:solidFill>
                <a:srgbClr val="F0B35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40000"/>
              </a:lnSpc>
              <a:spcBef>
                <a:spcPts val="52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2100">
              <a:solidFill>
                <a:srgbClr val="F0B35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40000"/>
              </a:lnSpc>
              <a:spcBef>
                <a:spcPts val="52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  <a:t>Late 2025:</a:t>
            </a:r>
            <a:br>
              <a:rPr b="1" lang="en-US" sz="21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 sz="21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  <a:t>An Agent runs Tools in a Loop to achieve a goal</a:t>
            </a:r>
            <a:endParaRPr b="1" sz="21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Hallmarks of an Agentic AI solution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7305" y="1926395"/>
            <a:ext cx="809423" cy="86655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618970" y="3167461"/>
            <a:ext cx="3142464" cy="69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Breaking a larger problem into smaller steps carried out by individual processes /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2741" y="1848280"/>
            <a:ext cx="809423" cy="99987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4518006" y="3167461"/>
            <a:ext cx="3152939" cy="460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Using Tools / Function Calling / Structured Outputs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9324" y="1926400"/>
            <a:ext cx="761810" cy="85703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8354193" y="3167461"/>
            <a:ext cx="3289113" cy="460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 Agent Environment in which Agents can collaborate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8719" y="4373715"/>
            <a:ext cx="647538" cy="85703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2366847" y="5614774"/>
            <a:ext cx="3550985" cy="460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Planning Agent that coordinates activities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56034" y="4340233"/>
            <a:ext cx="790377" cy="94273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6459668" y="5614774"/>
            <a:ext cx="3173889" cy="460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Autonomy &amp; Memory - existing beyond a chat with a human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Agent Workflows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7"/>
          <p:cNvGrpSpPr/>
          <p:nvPr/>
        </p:nvGrpSpPr>
        <p:grpSpPr>
          <a:xfrm>
            <a:off x="7594765" y="1148664"/>
            <a:ext cx="2189400" cy="1519984"/>
            <a:chOff x="7594765" y="1148664"/>
            <a:chExt cx="2189400" cy="151998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10608" y="1148664"/>
              <a:ext cx="580880" cy="895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7594765" y="2139018"/>
              <a:ext cx="21894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Scanner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7"/>
            <p:cNvSpPr/>
            <p:nvPr/>
          </p:nvSpPr>
          <p:spPr>
            <a:xfrm>
              <a:off x="7594765" y="2455348"/>
              <a:ext cx="21894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Identifies promising deals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7"/>
          <p:cNvGrpSpPr/>
          <p:nvPr/>
        </p:nvGrpSpPr>
        <p:grpSpPr>
          <a:xfrm>
            <a:off x="6943894" y="3147527"/>
            <a:ext cx="3310200" cy="1587529"/>
            <a:chOff x="6943894" y="3147527"/>
            <a:chExt cx="3310200" cy="1587529"/>
          </a:xfrm>
        </p:grpSpPr>
        <p:pic>
          <p:nvPicPr>
            <p:cNvPr id="68" name="Google Shape;6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19310" y="3147527"/>
              <a:ext cx="990352" cy="933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7"/>
            <p:cNvSpPr/>
            <p:nvPr/>
          </p:nvSpPr>
          <p:spPr>
            <a:xfrm>
              <a:off x="6943894" y="4205427"/>
              <a:ext cx="33102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Ensemble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6943894" y="4521756"/>
              <a:ext cx="33102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Estimates prices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7"/>
          <p:cNvGrpSpPr/>
          <p:nvPr/>
        </p:nvGrpSpPr>
        <p:grpSpPr>
          <a:xfrm>
            <a:off x="7613810" y="5247703"/>
            <a:ext cx="2084400" cy="1296651"/>
            <a:chOff x="7613810" y="5247703"/>
            <a:chExt cx="2084400" cy="1296651"/>
          </a:xfrm>
        </p:grpSpPr>
        <p:pic>
          <p:nvPicPr>
            <p:cNvPr id="72" name="Google Shape;72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298441" y="5247703"/>
              <a:ext cx="752287" cy="5904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" name="Google Shape;73;p7"/>
            <p:cNvSpPr/>
            <p:nvPr/>
          </p:nvSpPr>
          <p:spPr>
            <a:xfrm>
              <a:off x="7613810" y="6014724"/>
              <a:ext cx="20844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Messaging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7"/>
            <p:cNvSpPr/>
            <p:nvPr/>
          </p:nvSpPr>
          <p:spPr>
            <a:xfrm>
              <a:off x="7613810" y="6331054"/>
              <a:ext cx="20844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Sends push notifications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7"/>
          <p:cNvGrpSpPr/>
          <p:nvPr/>
        </p:nvGrpSpPr>
        <p:grpSpPr>
          <a:xfrm>
            <a:off x="13332" y="3000004"/>
            <a:ext cx="2057838" cy="1477941"/>
            <a:chOff x="13332" y="3000004"/>
            <a:chExt cx="2057838" cy="1477941"/>
          </a:xfrm>
        </p:grpSpPr>
        <p:grpSp>
          <p:nvGrpSpPr>
            <p:cNvPr id="76" name="Google Shape;76;p7"/>
            <p:cNvGrpSpPr/>
            <p:nvPr/>
          </p:nvGrpSpPr>
          <p:grpSpPr>
            <a:xfrm>
              <a:off x="13332" y="3000004"/>
              <a:ext cx="1592100" cy="1477941"/>
              <a:chOff x="13332" y="3000004"/>
              <a:chExt cx="1592100" cy="1477941"/>
            </a:xfrm>
          </p:grpSpPr>
          <p:pic>
            <p:nvPicPr>
              <p:cNvPr id="77" name="Google Shape;77;p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10045" y="3000004"/>
                <a:ext cx="809423" cy="56183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" name="Google Shape;78;p7"/>
              <p:cNvSpPr/>
              <p:nvPr/>
            </p:nvSpPr>
            <p:spPr>
              <a:xfrm>
                <a:off x="13332" y="3948316"/>
                <a:ext cx="15921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597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40"/>
                  <a:buFont typeface="Montserrat"/>
                  <a:buNone/>
                </a:pPr>
                <a:r>
                  <a:rPr b="0" i="0" lang="en-US" sz="144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The UI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7"/>
              <p:cNvSpPr/>
              <p:nvPr/>
            </p:nvSpPr>
            <p:spPr>
              <a:xfrm>
                <a:off x="13332" y="4264645"/>
                <a:ext cx="1592100" cy="21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Montserrat"/>
                  <a:buNone/>
                </a:pPr>
                <a:r>
                  <a:rPr b="0" i="0" lang="en-US" sz="12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In Gradio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0" name="Google Shape;80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56949" y="3208155"/>
              <a:ext cx="514221" cy="6761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7"/>
          <p:cNvGrpSpPr/>
          <p:nvPr/>
        </p:nvGrpSpPr>
        <p:grpSpPr>
          <a:xfrm>
            <a:off x="2019271" y="3060743"/>
            <a:ext cx="2899162" cy="1417202"/>
            <a:chOff x="2019271" y="3060743"/>
            <a:chExt cx="2899162" cy="1417202"/>
          </a:xfrm>
        </p:grpSpPr>
        <p:pic>
          <p:nvPicPr>
            <p:cNvPr id="82" name="Google Shape;82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781728" y="3060743"/>
              <a:ext cx="761810" cy="4475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7"/>
            <p:cNvSpPr/>
            <p:nvPr/>
          </p:nvSpPr>
          <p:spPr>
            <a:xfrm>
              <a:off x="2019271" y="3948316"/>
              <a:ext cx="22941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Agent Framework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2019271" y="4264645"/>
              <a:ext cx="22941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Memory, logging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5" name="Google Shape;85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04212" y="3208155"/>
              <a:ext cx="514221" cy="6761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" name="Google Shape;86;p7"/>
          <p:cNvGrpSpPr/>
          <p:nvPr/>
        </p:nvGrpSpPr>
        <p:grpSpPr>
          <a:xfrm>
            <a:off x="4907958" y="2869720"/>
            <a:ext cx="2572058" cy="1627271"/>
            <a:chOff x="4907958" y="2869720"/>
            <a:chExt cx="2572058" cy="1627271"/>
          </a:xfrm>
        </p:grpSpPr>
        <p:pic>
          <p:nvPicPr>
            <p:cNvPr id="87" name="Google Shape;87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482767" y="2869720"/>
              <a:ext cx="657061" cy="8284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7"/>
            <p:cNvSpPr/>
            <p:nvPr/>
          </p:nvSpPr>
          <p:spPr>
            <a:xfrm>
              <a:off x="4907958" y="3967361"/>
              <a:ext cx="18018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Planning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4907958" y="4283691"/>
              <a:ext cx="18018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Coordinates activities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" name="Google Shape;90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956272" y="3208155"/>
              <a:ext cx="523744" cy="6761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" name="Google Shape;91;p7"/>
          <p:cNvGrpSpPr/>
          <p:nvPr/>
        </p:nvGrpSpPr>
        <p:grpSpPr>
          <a:xfrm>
            <a:off x="9400729" y="1355062"/>
            <a:ext cx="3310200" cy="1313586"/>
            <a:chOff x="9400729" y="1355062"/>
            <a:chExt cx="3310200" cy="1313586"/>
          </a:xfrm>
        </p:grpSpPr>
        <p:sp>
          <p:nvSpPr>
            <p:cNvPr id="92" name="Google Shape;92;p7"/>
            <p:cNvSpPr/>
            <p:nvPr/>
          </p:nvSpPr>
          <p:spPr>
            <a:xfrm>
              <a:off x="9400729" y="2455348"/>
              <a:ext cx="33102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RAG pricer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" name="Google Shape;93;p7"/>
            <p:cNvGrpSpPr/>
            <p:nvPr/>
          </p:nvGrpSpPr>
          <p:grpSpPr>
            <a:xfrm>
              <a:off x="9400729" y="1355062"/>
              <a:ext cx="3310200" cy="1014356"/>
              <a:chOff x="9400729" y="1355062"/>
              <a:chExt cx="3310200" cy="1014356"/>
            </a:xfrm>
          </p:grpSpPr>
          <p:sp>
            <p:nvSpPr>
              <p:cNvPr id="94" name="Google Shape;94;p7"/>
              <p:cNvSpPr/>
              <p:nvPr/>
            </p:nvSpPr>
            <p:spPr>
              <a:xfrm>
                <a:off x="9400729" y="2139018"/>
                <a:ext cx="33102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597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40"/>
                  <a:buFont typeface="Montserrat"/>
                  <a:buNone/>
                </a:pPr>
                <a:r>
                  <a:rPr b="0" i="0" lang="en-US" sz="144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Frontier Agent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5" name="Google Shape;95;p7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0692663" y="1355062"/>
                <a:ext cx="695151" cy="5237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6" name="Google Shape;96;p7"/>
          <p:cNvGrpSpPr/>
          <p:nvPr/>
        </p:nvGrpSpPr>
        <p:grpSpPr>
          <a:xfrm>
            <a:off x="9400729" y="3274250"/>
            <a:ext cx="3310200" cy="1460806"/>
            <a:chOff x="9400729" y="3274250"/>
            <a:chExt cx="3310200" cy="1460806"/>
          </a:xfrm>
        </p:grpSpPr>
        <p:sp>
          <p:nvSpPr>
            <p:cNvPr id="97" name="Google Shape;97;p7"/>
            <p:cNvSpPr/>
            <p:nvPr/>
          </p:nvSpPr>
          <p:spPr>
            <a:xfrm>
              <a:off x="9400729" y="4205427"/>
              <a:ext cx="33102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Specialist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9400729" y="4521756"/>
              <a:ext cx="33102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Estimates prices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" name="Google Shape;99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0752771" y="3274250"/>
              <a:ext cx="609448" cy="7903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" name="Google Shape;100;p7"/>
          <p:cNvGrpSpPr/>
          <p:nvPr/>
        </p:nvGrpSpPr>
        <p:grpSpPr>
          <a:xfrm>
            <a:off x="9400729" y="5258130"/>
            <a:ext cx="3310200" cy="1333837"/>
            <a:chOff x="9400729" y="5258130"/>
            <a:chExt cx="3310200" cy="1333837"/>
          </a:xfrm>
        </p:grpSpPr>
        <p:sp>
          <p:nvSpPr>
            <p:cNvPr id="101" name="Google Shape;101;p7"/>
            <p:cNvSpPr/>
            <p:nvPr/>
          </p:nvSpPr>
          <p:spPr>
            <a:xfrm>
              <a:off x="9400729" y="6062337"/>
              <a:ext cx="3310200" cy="2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Neural Network Agent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9400729" y="6378667"/>
              <a:ext cx="33102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Estimates prices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3" name="Google Shape;103;p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0663412" y="5258130"/>
              <a:ext cx="790377" cy="63801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4" name="Google Shape;104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79741" y="3280989"/>
            <a:ext cx="523744" cy="676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RECAP: </a:t>
            </a: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8 WEEK JOURNEY TO  MASTERY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37815"/>
            <a:ext cx="12198476" cy="3904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8"/>
          <p:cNvSpPr/>
          <p:nvPr/>
        </p:nvSpPr>
        <p:spPr>
          <a:xfrm>
            <a:off x="371382" y="5531898"/>
            <a:ext cx="12570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Montserrat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 </a:t>
            </a:r>
            <a:r>
              <a:rPr b="1" lang="en-US" sz="9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WERE</a:t>
            </a:r>
            <a:r>
              <a:rPr b="1" i="0" lang="en-US" sz="9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HERE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10617720" y="2727486"/>
            <a:ext cx="12570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Montserrat"/>
              <a:buNone/>
            </a:pPr>
            <a:r>
              <a:rPr b="1" i="0" lang="en-US" sz="960" u="none" cap="none" strike="noStrike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LLM ENGINEER</a:t>
            </a:r>
            <a:endParaRPr b="0" i="0" sz="1800" u="none" cap="none" strike="noStrike">
              <a:solidFill>
                <a:srgbClr val="F0B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6791" y="2390178"/>
            <a:ext cx="371382" cy="4856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" name="Google Shape;115;p8"/>
          <p:cNvGrpSpPr/>
          <p:nvPr/>
        </p:nvGrpSpPr>
        <p:grpSpPr>
          <a:xfrm>
            <a:off x="1209373" y="4261595"/>
            <a:ext cx="1676100" cy="1213911"/>
            <a:chOff x="1209373" y="4261595"/>
            <a:chExt cx="1676100" cy="1213911"/>
          </a:xfrm>
        </p:grpSpPr>
        <p:sp>
          <p:nvSpPr>
            <p:cNvPr id="116" name="Google Shape;116;p8"/>
            <p:cNvSpPr/>
            <p:nvPr/>
          </p:nvSpPr>
          <p:spPr>
            <a:xfrm>
              <a:off x="1209373" y="4261595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1209373" y="4558656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lang="en-US" sz="96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Foundations and the</a:t>
              </a:r>
              <a:endParaRPr sz="9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lang="en-US" sz="96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Chat Completions API</a:t>
              </a:r>
              <a:endParaRPr sz="9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8" name="Google Shape;118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61609" y="5066033"/>
              <a:ext cx="285679" cy="4094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" name="Google Shape;119;p8"/>
          <p:cNvGrpSpPr/>
          <p:nvPr/>
        </p:nvGrpSpPr>
        <p:grpSpPr>
          <a:xfrm>
            <a:off x="3094852" y="3580728"/>
            <a:ext cx="2161753" cy="808861"/>
            <a:chOff x="3094852" y="3580728"/>
            <a:chExt cx="2161753" cy="808861"/>
          </a:xfrm>
        </p:grpSpPr>
        <p:sp>
          <p:nvSpPr>
            <p:cNvPr id="120" name="Google Shape;120;p8"/>
            <p:cNvSpPr/>
            <p:nvPr/>
          </p:nvSpPr>
          <p:spPr>
            <a:xfrm>
              <a:off x="3580505" y="3580728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2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3580505" y="3877789"/>
              <a:ext cx="1676100" cy="5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Frontier Models with APIs, UIs</a:t>
              </a:r>
              <a:r>
                <a:rPr lang="en-US" sz="96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Multi-modality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122" name="Google Shape;122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4852" y="3723344"/>
              <a:ext cx="285679" cy="4094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" name="Google Shape;123;p8"/>
          <p:cNvGrpSpPr/>
          <p:nvPr/>
        </p:nvGrpSpPr>
        <p:grpSpPr>
          <a:xfrm>
            <a:off x="2114021" y="2104722"/>
            <a:ext cx="2237818" cy="752064"/>
            <a:chOff x="2114021" y="2104722"/>
            <a:chExt cx="2237818" cy="752064"/>
          </a:xfrm>
        </p:grpSpPr>
        <p:sp>
          <p:nvSpPr>
            <p:cNvPr id="124" name="Google Shape;124;p8"/>
            <p:cNvSpPr/>
            <p:nvPr/>
          </p:nvSpPr>
          <p:spPr>
            <a:xfrm>
              <a:off x="2114021" y="2104722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3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2114021" y="2401783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3 - Open Source with Hugging Face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126" name="Google Shape;126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66160" y="2456836"/>
              <a:ext cx="285679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8"/>
          <p:cNvGrpSpPr/>
          <p:nvPr/>
        </p:nvGrpSpPr>
        <p:grpSpPr>
          <a:xfrm>
            <a:off x="5675481" y="2599898"/>
            <a:ext cx="2142708" cy="761587"/>
            <a:chOff x="5675481" y="2599898"/>
            <a:chExt cx="2142708" cy="761587"/>
          </a:xfrm>
        </p:grpSpPr>
        <p:sp>
          <p:nvSpPr>
            <p:cNvPr id="128" name="Google Shape;128;p8"/>
            <p:cNvSpPr/>
            <p:nvPr/>
          </p:nvSpPr>
          <p:spPr>
            <a:xfrm>
              <a:off x="6142089" y="2599898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4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6142089" y="2896959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Selecting LLMs and Code Generation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130" name="Google Shape;130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75481" y="2961535"/>
              <a:ext cx="285679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8"/>
          <p:cNvGrpSpPr/>
          <p:nvPr/>
        </p:nvGrpSpPr>
        <p:grpSpPr>
          <a:xfrm>
            <a:off x="4266133" y="4542289"/>
            <a:ext cx="2190202" cy="1118570"/>
            <a:chOff x="4266133" y="4542289"/>
            <a:chExt cx="2190202" cy="1118570"/>
          </a:xfrm>
        </p:grpSpPr>
        <p:sp>
          <p:nvSpPr>
            <p:cNvPr id="132" name="Google Shape;132;p8"/>
            <p:cNvSpPr/>
            <p:nvPr/>
          </p:nvSpPr>
          <p:spPr>
            <a:xfrm>
              <a:off x="4266133" y="4851997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5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4266133" y="5149059"/>
              <a:ext cx="1676100" cy="5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RAG and Question Answering -</a:t>
              </a:r>
              <a:br>
                <a:rPr lang="en-US" sz="96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Creating an Expert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134" name="Google Shape;134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161134" y="4542289"/>
              <a:ext cx="295201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" name="Google Shape;135;p8"/>
          <p:cNvGrpSpPr/>
          <p:nvPr/>
        </p:nvGrpSpPr>
        <p:grpSpPr>
          <a:xfrm>
            <a:off x="6827718" y="4433002"/>
            <a:ext cx="1676100" cy="1175820"/>
            <a:chOff x="6827718" y="4433002"/>
            <a:chExt cx="1676100" cy="1175820"/>
          </a:xfrm>
        </p:grpSpPr>
        <p:sp>
          <p:nvSpPr>
            <p:cNvPr id="136" name="Google Shape;136;p8"/>
            <p:cNvSpPr/>
            <p:nvPr/>
          </p:nvSpPr>
          <p:spPr>
            <a:xfrm>
              <a:off x="6827718" y="4433002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6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6827718" y="4730063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Fine-tuning a Frontier Model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138" name="Google Shape;138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56187" y="5208872"/>
              <a:ext cx="285679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" name="Google Shape;139;p8"/>
          <p:cNvGrpSpPr/>
          <p:nvPr/>
        </p:nvGrpSpPr>
        <p:grpSpPr>
          <a:xfrm>
            <a:off x="8798899" y="4009023"/>
            <a:ext cx="2209367" cy="733610"/>
            <a:chOff x="8798899" y="4009023"/>
            <a:chExt cx="2209367" cy="733610"/>
          </a:xfrm>
        </p:grpSpPr>
        <p:sp>
          <p:nvSpPr>
            <p:cNvPr id="140" name="Google Shape;140;p8"/>
            <p:cNvSpPr/>
            <p:nvPr/>
          </p:nvSpPr>
          <p:spPr>
            <a:xfrm>
              <a:off x="9332166" y="4104472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rgbClr val="F5F5F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7</a:t>
              </a:r>
              <a:endParaRPr i="0" sz="1800" u="none" cap="none" strike="noStrike">
                <a:solidFill>
                  <a:srgbClr val="F5F5F5"/>
                </a:solidFill>
              </a:endParaRPr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9332166" y="4401533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b="1"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Fine-tuning an Open-Source Model</a:t>
              </a:r>
              <a:endParaRPr b="1"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142" name="Google Shape;142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98899" y="4009023"/>
              <a:ext cx="295201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" name="Google Shape;143;p8"/>
          <p:cNvGrpSpPr/>
          <p:nvPr/>
        </p:nvGrpSpPr>
        <p:grpSpPr>
          <a:xfrm>
            <a:off x="7751412" y="2104722"/>
            <a:ext cx="2142589" cy="837768"/>
            <a:chOff x="7751412" y="2104722"/>
            <a:chExt cx="2142589" cy="837768"/>
          </a:xfrm>
        </p:grpSpPr>
        <p:sp>
          <p:nvSpPr>
            <p:cNvPr id="144" name="Google Shape;144;p8"/>
            <p:cNvSpPr/>
            <p:nvPr/>
          </p:nvSpPr>
          <p:spPr>
            <a:xfrm>
              <a:off x="7751412" y="2104722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8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7751412" y="2401783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Finale - Agentic AI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146" name="Google Shape;146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608322" y="2533017"/>
              <a:ext cx="285679" cy="4094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 SO MUCH</a:t>
            </a: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- And one last treat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8373974" y="1523619"/>
            <a:ext cx="3338847" cy="48565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22 at 08.27.24.png" id="154" name="Google Shape;154;p9"/>
          <p:cNvPicPr preferRelativeResize="0"/>
          <p:nvPr/>
        </p:nvPicPr>
        <p:blipFill rotWithShape="1">
          <a:blip r:embed="rId3">
            <a:alphaModFix/>
          </a:blip>
          <a:srcRect b="6266" l="4900" r="4900" t="6266"/>
          <a:stretch/>
        </p:blipFill>
        <p:spPr>
          <a:xfrm>
            <a:off x="8373974" y="1523619"/>
            <a:ext cx="3338847" cy="485653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/>
          <p:nvPr/>
        </p:nvSpPr>
        <p:spPr>
          <a:xfrm>
            <a:off x="761810" y="1751120"/>
            <a:ext cx="7640116" cy="262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4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637"/>
              <a:buFont typeface="Montserrat"/>
              <a:buNone/>
            </a:pPr>
            <a:r>
              <a:rPr b="1" i="0" lang="en-US" sz="1638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Congratulations and thank you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761810" y="2165503"/>
            <a:ext cx="7640116" cy="1450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Montserrat"/>
              <a:buChar char="•"/>
            </a:pPr>
            <a:r>
              <a:rPr b="0" i="0" lang="en-US" sz="15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I've had so much fun on this course; I do hope you have too!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708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Montserrat"/>
              <a:buChar char="•"/>
            </a:pPr>
            <a:r>
              <a:rPr b="0" i="0" lang="en-US" sz="15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Please stay in touch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708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Montserrat"/>
              <a:buChar char="•"/>
            </a:pPr>
            <a:r>
              <a:rPr b="0" i="0" lang="en-US" sz="15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big challenge is to come up with new Agent </a:t>
            </a:r>
            <a:r>
              <a:rPr lang="en-US" sz="157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r>
              <a:rPr b="0" i="0" lang="en-US" sz="15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with groundbreaking fine-tuned models - and then tell me!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761810" y="4506133"/>
            <a:ext cx="76401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Montserrat"/>
              <a:buChar char="•"/>
            </a:pPr>
            <a:r>
              <a:rPr b="0" i="0" lang="en-US" sz="15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made a project to fine-tune an LLM on my 240,000 text message history to create a simulation of myself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708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Montserrat"/>
              <a:buChar char="•"/>
            </a:pPr>
            <a:r>
              <a:rPr b="0" i="0" lang="en-US" sz="1575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Full write-up at edwarddonner.com and instructions for you to do it too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0" y="0"/>
            <a:ext cx="12188952" cy="6856286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ast image.png" id="164" name="Google Shape;164;p10"/>
          <p:cNvPicPr preferRelativeResize="0"/>
          <p:nvPr/>
        </p:nvPicPr>
        <p:blipFill rotWithShape="1">
          <a:blip r:embed="rId3">
            <a:alphaModFix/>
          </a:blip>
          <a:srcRect b="476" l="0" r="0" t="476"/>
          <a:stretch/>
        </p:blipFill>
        <p:spPr>
          <a:xfrm>
            <a:off x="0" y="0"/>
            <a:ext cx="12188952" cy="6856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