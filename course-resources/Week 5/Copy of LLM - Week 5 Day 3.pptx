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9ec5ade11d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9ec5ade11d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9ec5ade11d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ec5ade11d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9ec5ade11d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9ec5ade11d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ec5ade11d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9ec5ade11d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9ec5ade11d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ec5ade11d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9ec5ade11d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9ec5ade11d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664399"/>
            <a:ext cx="11998500" cy="509666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ntitled-0.png" id="17" name="Google Shape;17;p3"/>
          <p:cNvPicPr preferRelativeResize="0"/>
          <p:nvPr/>
        </p:nvPicPr>
        <p:blipFill rotWithShape="1">
          <a:blip r:embed="rId3">
            <a:alphaModFix/>
          </a:blip>
          <a:srcRect b="673" l="0" r="0" t="673"/>
          <a:stretch/>
        </p:blipFill>
        <p:spPr>
          <a:xfrm>
            <a:off x="95226" y="1664399"/>
            <a:ext cx="11998500" cy="50966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517655" y="598660"/>
            <a:ext cx="5153641" cy="350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30"/>
              <a:buFont typeface="Montserrat"/>
              <a:buNone/>
            </a:pPr>
            <a:r>
              <a:rPr b="0" i="0" lang="en-US" sz="26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517655" y="985517"/>
            <a:ext cx="5153641" cy="28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Montserrat"/>
              <a:buNone/>
            </a:pPr>
            <a:r>
              <a:rPr b="0" i="0" lang="en-US" sz="175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5 DAY 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now.. RAG with LangChain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5_w5_3-1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93029"/>
            <a:ext cx="6897791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60"/>
              <a:buFont typeface="Montserrat"/>
              <a:buNone/>
            </a:pPr>
            <a:r>
              <a:rPr b="1" i="0" lang="en-US" sz="126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71553"/>
            <a:ext cx="6897791" cy="136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including AI Assistants with Tools, </a:t>
            </a:r>
            <a:b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with open-source models with Hugging Face transformers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choose the right LLM for your project, backed by metrics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how RAG uses vector embeddings and vector datastores to add context</a:t>
            </a:r>
            <a:b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prompts, turn documents into chunks, vectorize and store in Chroma</a:t>
            </a:r>
            <a:endParaRPr sz="126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9" y="4197185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433895"/>
            <a:ext cx="68979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60"/>
              <a:buFont typeface="Montserrat"/>
              <a:buNone/>
            </a:pPr>
            <a:r>
              <a:rPr b="1" i="0" lang="en-US" sz="126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today,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812419"/>
            <a:ext cx="68979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8610" lvl="0" marL="45720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 LangChain to build a RAG pipeline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chemeClr val="lt1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Deliver a RAG-based expert question answerer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chemeClr val="lt1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Create a Gradio based Chatbot for RAG application showing source documents</a:t>
            </a:r>
            <a:endParaRPr sz="126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356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9523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Don’t hate me - one more recap</a:t>
            </a:r>
            <a:r>
              <a:rPr lang="en-US" sz="3188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0" i="0" lang="en-US" sz="3188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The big idea behind RAG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513596" y="2961534"/>
            <a:ext cx="1428300" cy="1428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de (1).png" id="41" name="Google Shape;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596" y="2961534"/>
            <a:ext cx="1428300" cy="1428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5960683" y="4481582"/>
            <a:ext cx="5343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8789377" y="2885354"/>
            <a:ext cx="1428300" cy="1428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LM.png" id="44" name="Google Shape;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9377" y="2885354"/>
            <a:ext cx="1428300" cy="1428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9283601" y="4405401"/>
            <a:ext cx="439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2409223" y="2961534"/>
            <a:ext cx="1428300" cy="1428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t.png" id="47" name="Google Shape;4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9223" y="2961534"/>
            <a:ext cx="1428300" cy="1428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8" name="Google Shape;48;p5"/>
          <p:cNvSpPr/>
          <p:nvPr/>
        </p:nvSpPr>
        <p:spPr>
          <a:xfrm>
            <a:off x="2652049" y="4481582"/>
            <a:ext cx="9426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Chat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723094" y="5361235"/>
            <a:ext cx="1066500" cy="10665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ectore Database.png" id="50" name="Google Shape;5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23094" y="5361235"/>
            <a:ext cx="1066500" cy="1066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5416465" y="6547991"/>
            <a:ext cx="1717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Vector Datastore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5"/>
          <p:cNvGrpSpPr/>
          <p:nvPr/>
        </p:nvGrpSpPr>
        <p:grpSpPr>
          <a:xfrm>
            <a:off x="7146725" y="3243493"/>
            <a:ext cx="1239513" cy="313847"/>
            <a:chOff x="7146725" y="3243493"/>
            <a:chExt cx="1239513" cy="313847"/>
          </a:xfrm>
        </p:grpSpPr>
        <p:cxnSp>
          <p:nvCxnSpPr>
            <p:cNvPr id="53" name="Google Shape;53;p5"/>
            <p:cNvCxnSpPr/>
            <p:nvPr/>
          </p:nvCxnSpPr>
          <p:spPr>
            <a:xfrm>
              <a:off x="7270308" y="3488820"/>
              <a:ext cx="10473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" name="Google Shape;54;p5"/>
            <p:cNvSpPr/>
            <p:nvPr/>
          </p:nvSpPr>
          <p:spPr>
            <a:xfrm rot="5400000">
              <a:off x="8249138" y="3420240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7146725" y="3243493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1125"/>
                <a:buFont typeface="Montserrat"/>
                <a:buNone/>
              </a:pPr>
              <a:r>
                <a:rPr b="1" i="0" lang="en-US" sz="1125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Prompt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p5"/>
          <p:cNvGrpSpPr/>
          <p:nvPr/>
        </p:nvGrpSpPr>
        <p:grpSpPr>
          <a:xfrm>
            <a:off x="4011650" y="3801205"/>
            <a:ext cx="1182799" cy="309777"/>
            <a:chOff x="4011650" y="3801205"/>
            <a:chExt cx="1182799" cy="309777"/>
          </a:xfrm>
        </p:grpSpPr>
        <p:cxnSp>
          <p:nvCxnSpPr>
            <p:cNvPr id="57" name="Google Shape;57;p5"/>
            <p:cNvCxnSpPr/>
            <p:nvPr/>
          </p:nvCxnSpPr>
          <p:spPr>
            <a:xfrm>
              <a:off x="4080230" y="3869725"/>
              <a:ext cx="10473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8" name="Google Shape;58;p5"/>
            <p:cNvSpPr/>
            <p:nvPr/>
          </p:nvSpPr>
          <p:spPr>
            <a:xfrm rot="-5400000">
              <a:off x="4011650" y="380120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4251849" y="3930982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1125"/>
                <a:buFont typeface="Montserrat"/>
                <a:buNone/>
              </a:pPr>
              <a:r>
                <a:rPr b="1" i="0" lang="en-US" sz="1125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Answer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p5"/>
          <p:cNvGrpSpPr/>
          <p:nvPr/>
        </p:nvGrpSpPr>
        <p:grpSpPr>
          <a:xfrm>
            <a:off x="6175255" y="4814663"/>
            <a:ext cx="1009422" cy="472312"/>
            <a:chOff x="6175255" y="4814663"/>
            <a:chExt cx="1009422" cy="472312"/>
          </a:xfrm>
        </p:grpSpPr>
        <p:cxnSp>
          <p:nvCxnSpPr>
            <p:cNvPr id="61" name="Google Shape;61;p5"/>
            <p:cNvCxnSpPr/>
            <p:nvPr/>
          </p:nvCxnSpPr>
          <p:spPr>
            <a:xfrm rot="5400000">
              <a:off x="6076285" y="5050793"/>
              <a:ext cx="3351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2" name="Google Shape;62;p5"/>
            <p:cNvSpPr/>
            <p:nvPr/>
          </p:nvSpPr>
          <p:spPr>
            <a:xfrm>
              <a:off x="6175255" y="4814663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 rot="10800000">
              <a:off x="6175315" y="514987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6242077" y="4978470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1125"/>
                <a:buFont typeface="Montserrat"/>
                <a:buNone/>
              </a:pPr>
              <a:r>
                <a:rPr b="1" i="0" lang="en-US" sz="1125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Retrieve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" name="Google Shape;65;p5"/>
          <p:cNvGrpSpPr/>
          <p:nvPr/>
        </p:nvGrpSpPr>
        <p:grpSpPr>
          <a:xfrm>
            <a:off x="4004261" y="3243493"/>
            <a:ext cx="1191900" cy="313847"/>
            <a:chOff x="4004261" y="3243493"/>
            <a:chExt cx="1191900" cy="313847"/>
          </a:xfrm>
        </p:grpSpPr>
        <p:cxnSp>
          <p:nvCxnSpPr>
            <p:cNvPr id="66" name="Google Shape;66;p5"/>
            <p:cNvCxnSpPr/>
            <p:nvPr/>
          </p:nvCxnSpPr>
          <p:spPr>
            <a:xfrm>
              <a:off x="4080230" y="3488820"/>
              <a:ext cx="10473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7" name="Google Shape;67;p5"/>
            <p:cNvSpPr/>
            <p:nvPr/>
          </p:nvSpPr>
          <p:spPr>
            <a:xfrm rot="5400000">
              <a:off x="5059061" y="3420240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4004261" y="3243493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1125"/>
                <a:buFont typeface="Montserrat"/>
                <a:buNone/>
              </a:pPr>
              <a:r>
                <a:rPr b="1" i="0" lang="en-US" sz="1125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Question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5"/>
          <p:cNvGrpSpPr/>
          <p:nvPr/>
        </p:nvGrpSpPr>
        <p:grpSpPr>
          <a:xfrm>
            <a:off x="7201728" y="3801205"/>
            <a:ext cx="1211366" cy="317439"/>
            <a:chOff x="7201728" y="3801205"/>
            <a:chExt cx="1211366" cy="317439"/>
          </a:xfrm>
        </p:grpSpPr>
        <p:cxnSp>
          <p:nvCxnSpPr>
            <p:cNvPr id="70" name="Google Shape;70;p5"/>
            <p:cNvCxnSpPr/>
            <p:nvPr/>
          </p:nvCxnSpPr>
          <p:spPr>
            <a:xfrm>
              <a:off x="7270308" y="3869725"/>
              <a:ext cx="10473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" name="Google Shape;71;p5"/>
            <p:cNvSpPr/>
            <p:nvPr/>
          </p:nvSpPr>
          <p:spPr>
            <a:xfrm rot="-5400000">
              <a:off x="7201728" y="380120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470494" y="3938644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1125"/>
                <a:buFont typeface="Montserrat"/>
                <a:buNone/>
              </a:pPr>
              <a:r>
                <a:rPr b="1" i="0" lang="en-US" sz="1125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5"/>
          <p:cNvGrpSpPr/>
          <p:nvPr/>
        </p:nvGrpSpPr>
        <p:grpSpPr>
          <a:xfrm>
            <a:off x="5384895" y="1024872"/>
            <a:ext cx="1717800" cy="1327182"/>
            <a:chOff x="5384895" y="1024872"/>
            <a:chExt cx="1717800" cy="1327182"/>
          </a:xfrm>
        </p:grpSpPr>
        <p:sp>
          <p:nvSpPr>
            <p:cNvPr id="74" name="Google Shape;74;p5"/>
            <p:cNvSpPr/>
            <p:nvPr/>
          </p:nvSpPr>
          <p:spPr>
            <a:xfrm>
              <a:off x="5682001" y="1285554"/>
              <a:ext cx="1066500" cy="10665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Encoding LLM.png" id="75" name="Google Shape;75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82001" y="1285554"/>
              <a:ext cx="1066500" cy="10665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76" name="Google Shape;76;p5"/>
            <p:cNvSpPr/>
            <p:nvPr/>
          </p:nvSpPr>
          <p:spPr>
            <a:xfrm>
              <a:off x="5384895" y="1024872"/>
              <a:ext cx="17178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Encoding LLM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5"/>
          <p:cNvGrpSpPr/>
          <p:nvPr/>
        </p:nvGrpSpPr>
        <p:grpSpPr>
          <a:xfrm>
            <a:off x="6175255" y="2434008"/>
            <a:ext cx="1009422" cy="472312"/>
            <a:chOff x="6175255" y="2434008"/>
            <a:chExt cx="1009422" cy="472312"/>
          </a:xfrm>
        </p:grpSpPr>
        <p:sp>
          <p:nvSpPr>
            <p:cNvPr id="78" name="Google Shape;78;p5"/>
            <p:cNvSpPr/>
            <p:nvPr/>
          </p:nvSpPr>
          <p:spPr>
            <a:xfrm>
              <a:off x="6242077" y="2597815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1125"/>
                <a:buFont typeface="Montserrat"/>
                <a:buNone/>
              </a:pPr>
              <a:r>
                <a:rPr b="1" i="0" lang="en-US" sz="1125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Vectorize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" name="Google Shape;79;p5"/>
            <p:cNvCxnSpPr/>
            <p:nvPr/>
          </p:nvCxnSpPr>
          <p:spPr>
            <a:xfrm rot="5400000">
              <a:off x="6076285" y="2670138"/>
              <a:ext cx="3351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0" name="Google Shape;80;p5"/>
            <p:cNvSpPr/>
            <p:nvPr/>
          </p:nvSpPr>
          <p:spPr>
            <a:xfrm>
              <a:off x="6175255" y="2434008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 rot="10800000">
              <a:off x="6175315" y="2769220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191800" y="362825"/>
            <a:ext cx="11880900" cy="1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we did yesterday: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6"/>
          <p:cNvGrpSpPr/>
          <p:nvPr/>
        </p:nvGrpSpPr>
        <p:grpSpPr>
          <a:xfrm>
            <a:off x="387811" y="1440944"/>
            <a:ext cx="3739500" cy="1750448"/>
            <a:chOff x="387811" y="1440944"/>
            <a:chExt cx="3739500" cy="1750448"/>
          </a:xfrm>
        </p:grpSpPr>
        <p:sp>
          <p:nvSpPr>
            <p:cNvPr id="89" name="Google Shape;89;p6"/>
            <p:cNvSpPr/>
            <p:nvPr/>
          </p:nvSpPr>
          <p:spPr>
            <a:xfrm>
              <a:off x="1543381" y="1440944"/>
              <a:ext cx="1428300" cy="1428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Docsfolder.png" id="90" name="Google Shape;9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43381" y="1440944"/>
              <a:ext cx="1428300" cy="1428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91" name="Google Shape;91;p6"/>
            <p:cNvSpPr/>
            <p:nvPr/>
          </p:nvSpPr>
          <p:spPr>
            <a:xfrm>
              <a:off x="387811" y="2960992"/>
              <a:ext cx="37395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Read in the documents in all folders 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" name="Google Shape;92;p6"/>
          <p:cNvGrpSpPr/>
          <p:nvPr/>
        </p:nvGrpSpPr>
        <p:grpSpPr>
          <a:xfrm>
            <a:off x="4438733" y="1440944"/>
            <a:ext cx="3446100" cy="1750448"/>
            <a:chOff x="4438733" y="1440944"/>
            <a:chExt cx="3446100" cy="1750448"/>
          </a:xfrm>
        </p:grpSpPr>
        <p:sp>
          <p:nvSpPr>
            <p:cNvPr id="93" name="Google Shape;93;p6"/>
            <p:cNvSpPr/>
            <p:nvPr/>
          </p:nvSpPr>
          <p:spPr>
            <a:xfrm>
              <a:off x="4438733" y="2960992"/>
              <a:ext cx="34461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Divide into chunks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" name="Google Shape;94;p6"/>
            <p:cNvGrpSpPr/>
            <p:nvPr/>
          </p:nvGrpSpPr>
          <p:grpSpPr>
            <a:xfrm>
              <a:off x="5473578" y="1440944"/>
              <a:ext cx="1428300" cy="1428300"/>
              <a:chOff x="9284553" y="3110087"/>
              <a:chExt cx="1428300" cy="1428300"/>
            </a:xfrm>
          </p:grpSpPr>
          <p:sp>
            <p:nvSpPr>
              <p:cNvPr id="95" name="Google Shape;95;p6"/>
              <p:cNvSpPr/>
              <p:nvPr/>
            </p:nvSpPr>
            <p:spPr>
              <a:xfrm>
                <a:off x="9284553" y="3110087"/>
                <a:ext cx="1428300" cy="1428300"/>
              </a:xfrm>
              <a:prstGeom prst="ellipse">
                <a:avLst/>
              </a:prstGeom>
              <a:solidFill>
                <a:srgbClr val="FFFFFF">
                  <a:alpha val="298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Text chunks.png" id="96" name="Google Shape;96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84553" y="3110087"/>
                <a:ext cx="1428300" cy="1428300"/>
              </a:xfrm>
              <a:prstGeom prst="ellipse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7" name="Google Shape;97;p6"/>
          <p:cNvGrpSpPr/>
          <p:nvPr/>
        </p:nvGrpSpPr>
        <p:grpSpPr>
          <a:xfrm>
            <a:off x="8542030" y="1440944"/>
            <a:ext cx="3048300" cy="1980848"/>
            <a:chOff x="8542030" y="1440944"/>
            <a:chExt cx="3048300" cy="1980848"/>
          </a:xfrm>
        </p:grpSpPr>
        <p:grpSp>
          <p:nvGrpSpPr>
            <p:cNvPr id="98" name="Google Shape;98;p6"/>
            <p:cNvGrpSpPr/>
            <p:nvPr/>
          </p:nvGrpSpPr>
          <p:grpSpPr>
            <a:xfrm>
              <a:off x="9351980" y="1440944"/>
              <a:ext cx="1428300" cy="1428300"/>
              <a:chOff x="7857480" y="2384387"/>
              <a:chExt cx="1428300" cy="1428300"/>
            </a:xfrm>
          </p:grpSpPr>
          <p:sp>
            <p:nvSpPr>
              <p:cNvPr id="99" name="Google Shape;99;p6"/>
              <p:cNvSpPr/>
              <p:nvPr/>
            </p:nvSpPr>
            <p:spPr>
              <a:xfrm>
                <a:off x="7857480" y="2384387"/>
                <a:ext cx="1428300" cy="1428300"/>
              </a:xfrm>
              <a:prstGeom prst="ellipse">
                <a:avLst/>
              </a:prstGeom>
              <a:solidFill>
                <a:srgbClr val="FFFFFF">
                  <a:alpha val="298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Metadata.png" id="100" name="Google Shape;100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857480" y="2384387"/>
                <a:ext cx="1428300" cy="1428300"/>
              </a:xfrm>
              <a:prstGeom prst="ellipse">
                <a:avLst/>
              </a:prstGeom>
              <a:noFill/>
              <a:ln>
                <a:noFill/>
              </a:ln>
            </p:spPr>
          </p:pic>
        </p:grpSp>
        <p:sp>
          <p:nvSpPr>
            <p:cNvPr id="101" name="Google Shape;101;p6"/>
            <p:cNvSpPr/>
            <p:nvPr/>
          </p:nvSpPr>
          <p:spPr>
            <a:xfrm>
              <a:off x="8542030" y="2960992"/>
              <a:ext cx="3048300" cy="4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Vectorize and store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6"/>
          <p:cNvSpPr/>
          <p:nvPr/>
        </p:nvSpPr>
        <p:spPr>
          <a:xfrm>
            <a:off x="20691" y="3746583"/>
            <a:ext cx="121506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5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Keep in mind: the Encoder turns the text into a Vector. The Vector store is a Database that does quick lookup.</a:t>
            </a:r>
            <a:endParaRPr b="1" sz="15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4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i="1" sz="14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98275" y="4354350"/>
            <a:ext cx="4489200" cy="13737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Popular Encoders:</a:t>
            </a:r>
            <a:endParaRPr b="1" sz="14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OpenAI text embedding</a:t>
            </a:r>
            <a:endParaRPr sz="14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Gemini embedding</a:t>
            </a:r>
            <a:endParaRPr sz="14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Hugging Face all-MiniLM-L6-v2</a:t>
            </a:r>
            <a:endParaRPr i="1" sz="14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810900" y="4354350"/>
            <a:ext cx="5505600" cy="13737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Popular Vectorstores:</a:t>
            </a:r>
            <a:br>
              <a:rPr b="1"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Open-Source: Chroma, Qdrant, FAISS (in-memory)</a:t>
            </a:r>
            <a:b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Paid &amp; scalable: Pinecone, Weaviate, …</a:t>
            </a:r>
            <a:b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Mainstream databases (Postgres, Mongo, Elastic, …)</a:t>
            </a:r>
            <a:endParaRPr i="1" sz="14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20700" y="6163474"/>
            <a:ext cx="121506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i="1"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choice of Vector Database is largely unrelated to the vector calculation and is a cost / performance tradeoff</a:t>
            </a:r>
            <a:endParaRPr b="1" i="1" sz="14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356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We will use two key abstractions from LangChain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7"/>
          <p:cNvGrpSpPr/>
          <p:nvPr/>
        </p:nvGrpSpPr>
        <p:grpSpPr>
          <a:xfrm>
            <a:off x="2516825" y="1474735"/>
            <a:ext cx="2727196" cy="3342130"/>
            <a:chOff x="1476006" y="2905827"/>
            <a:chExt cx="1428300" cy="1750448"/>
          </a:xfrm>
        </p:grpSpPr>
        <p:sp>
          <p:nvSpPr>
            <p:cNvPr id="113" name="Google Shape;113;p7"/>
            <p:cNvSpPr/>
            <p:nvPr/>
          </p:nvSpPr>
          <p:spPr>
            <a:xfrm>
              <a:off x="1476006" y="2905827"/>
              <a:ext cx="1428300" cy="1428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174550" lIns="174550" spcFirstLastPara="1" rIns="174550" wrap="square" tIns="174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LM.png" id="114" name="Google Shape;11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76006" y="2905827"/>
              <a:ext cx="1428300" cy="1428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15" name="Google Shape;115;p7"/>
            <p:cNvSpPr/>
            <p:nvPr/>
          </p:nvSpPr>
          <p:spPr>
            <a:xfrm>
              <a:off x="1970230" y="4425875"/>
              <a:ext cx="4398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2749"/>
                <a:buFont typeface="Montserrat"/>
                <a:buNone/>
              </a:pPr>
              <a:r>
                <a:rPr b="0" i="0" lang="en-US" sz="2749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LLM</a:t>
              </a:r>
              <a:endParaRPr sz="2749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6" name="Google Shape;116;p7"/>
          <p:cNvGrpSpPr/>
          <p:nvPr/>
        </p:nvGrpSpPr>
        <p:grpSpPr>
          <a:xfrm>
            <a:off x="6354720" y="1474532"/>
            <a:ext cx="2727196" cy="3342305"/>
            <a:chOff x="5380280" y="2905827"/>
            <a:chExt cx="1428300" cy="1750448"/>
          </a:xfrm>
        </p:grpSpPr>
        <p:sp>
          <p:nvSpPr>
            <p:cNvPr id="117" name="Google Shape;117;p7"/>
            <p:cNvSpPr/>
            <p:nvPr/>
          </p:nvSpPr>
          <p:spPr>
            <a:xfrm>
              <a:off x="5380280" y="2905827"/>
              <a:ext cx="1428300" cy="1428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174575" lIns="174575" spcFirstLastPara="1" rIns="174575" wrap="square" tIns="17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Retriever.png" id="118" name="Google Shape;11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80280" y="2905827"/>
              <a:ext cx="1428300" cy="1428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19" name="Google Shape;119;p7"/>
            <p:cNvSpPr/>
            <p:nvPr/>
          </p:nvSpPr>
          <p:spPr>
            <a:xfrm>
              <a:off x="5628344" y="4425875"/>
              <a:ext cx="9324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2749"/>
                <a:buFont typeface="Montserrat"/>
                <a:buNone/>
              </a:pPr>
              <a:r>
                <a:rPr b="0" i="0" lang="en-US" sz="2749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Retriever</a:t>
              </a:r>
              <a:endParaRPr b="0" i="0" sz="343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7"/>
          <p:cNvSpPr txBox="1"/>
          <p:nvPr/>
        </p:nvSpPr>
        <p:spPr>
          <a:xfrm>
            <a:off x="22800" y="5641925"/>
            <a:ext cx="121380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49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Many common abstractions like this can be called with </a:t>
            </a:r>
            <a:r>
              <a:rPr b="1" i="1" lang="en-US" sz="2749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invoke()</a:t>
            </a:r>
            <a:endParaRPr b="1" i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191800" y="362825"/>
            <a:ext cx="11880900" cy="1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have turned this into two python modules</a:t>
            </a:r>
            <a:b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</a:t>
            </a: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implementation</a:t>
            </a: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directory</a:t>
            </a:r>
            <a:endParaRPr sz="31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844450" y="2476275"/>
            <a:ext cx="4489200" cy="200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ingest.py</a:t>
            </a:r>
            <a:endParaRPr b="1"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Read in Knowledge Base</a:t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Turn documents into chunks</a:t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Vectorize the chunks</a:t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Store in Chroma</a:t>
            </a:r>
            <a:endParaRPr i="1"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795525" y="2476275"/>
            <a:ext cx="5505600" cy="200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answer.py</a:t>
            </a:r>
            <a:br>
              <a:rPr b="1"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Two key functions:</a:t>
            </a:r>
            <a:br>
              <a:rPr i="1"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i="1"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fetch_context(question)</a:t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answer_question(question, history)</a:t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6950" y="4970449"/>
            <a:ext cx="121506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22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also a Gradio application </a:t>
            </a:r>
            <a:r>
              <a:rPr b="1" lang="en-US" sz="22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app.py</a:t>
            </a:r>
            <a:endParaRPr b="1" sz="22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0700" y="5691624"/>
            <a:ext cx="121506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22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the implementation directory:</a:t>
            </a:r>
            <a:r>
              <a:rPr b="1" lang="en-US" sz="22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uv run ingest.py</a:t>
            </a:r>
            <a:endParaRPr b="1" sz="22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22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the week5 directory: </a:t>
            </a:r>
            <a:r>
              <a:rPr b="1" lang="en-US" sz="22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uv run app.py</a:t>
            </a:r>
            <a:endParaRPr b="1" sz="22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can build a RAG product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6_w5_3-1.png"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9"/>
          <p:cNvSpPr/>
          <p:nvPr/>
        </p:nvSpPr>
        <p:spPr>
          <a:xfrm>
            <a:off x="5156392" y="2193029"/>
            <a:ext cx="6897791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60"/>
              <a:buFont typeface="Montserrat"/>
              <a:buNone/>
            </a:pPr>
            <a:r>
              <a:rPr b="1" i="0" lang="en-US" sz="126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5156392" y="2571553"/>
            <a:ext cx="6897791" cy="136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including AI Assistants with Tools, and with open-source models with Hugging Face transformers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choose the right LLM for your project, backed by metrics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 a RAG expert question-answering system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9"/>
          <p:cNvCxnSpPr/>
          <p:nvPr/>
        </p:nvCxnSpPr>
        <p:spPr>
          <a:xfrm>
            <a:off x="5156349" y="4088328"/>
            <a:ext cx="6270723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9"/>
          <p:cNvSpPr/>
          <p:nvPr/>
        </p:nvSpPr>
        <p:spPr>
          <a:xfrm>
            <a:off x="5156392" y="4433895"/>
            <a:ext cx="6897791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60"/>
              <a:buFont typeface="Montserrat"/>
              <a:buNone/>
            </a:pPr>
            <a:r>
              <a:rPr b="1" i="0" lang="en-US" sz="126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the next session,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156392" y="4812419"/>
            <a:ext cx="6897791" cy="116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the importance of Evaluations with RAG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Measure the effectiveness of RAG with Retrieval and Question/Answering metrics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Experiment with Encoders and Chunking Strategies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