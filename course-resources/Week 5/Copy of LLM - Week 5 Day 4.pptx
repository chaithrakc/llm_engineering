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12192000"/>
  <p:embeddedFontLst>
    <p:embeddedFont>
      <p:font typeface="Montserrat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Montserrat-bold.fntdata"/><Relationship Id="rId10" Type="http://schemas.openxmlformats.org/officeDocument/2006/relationships/font" Target="fonts/Montserrat-regular.fntdata"/><Relationship Id="rId13" Type="http://schemas.openxmlformats.org/officeDocument/2006/relationships/font" Target="fonts/Montserrat-boldItalic.fntdata"/><Relationship Id="rId12" Type="http://schemas.openxmlformats.org/officeDocument/2006/relationships/font" Target="fonts/Montserrat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95226" y="1664399"/>
            <a:ext cx="11998500" cy="5096660"/>
          </a:xfrm>
          <a:prstGeom prst="rect">
            <a:avLst/>
          </a:prstGeom>
          <a:solidFill>
            <a:srgbClr val="62A8B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untitled-0.png" id="17" name="Google Shape;17;p3"/>
          <p:cNvPicPr preferRelativeResize="0"/>
          <p:nvPr/>
        </p:nvPicPr>
        <p:blipFill rotWithShape="1">
          <a:blip r:embed="rId3">
            <a:alphaModFix/>
          </a:blip>
          <a:srcRect b="673" l="0" r="0" t="673"/>
          <a:stretch/>
        </p:blipFill>
        <p:spPr>
          <a:xfrm>
            <a:off x="95226" y="1664399"/>
            <a:ext cx="11998500" cy="509666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3517655" y="598660"/>
            <a:ext cx="5153641" cy="3505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501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30"/>
              <a:buFont typeface="Montserrat"/>
              <a:buNone/>
            </a:pPr>
            <a:r>
              <a:rPr b="0" i="0" lang="en-US" sz="263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LLM Engineering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3517655" y="985517"/>
            <a:ext cx="5153641" cy="2803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1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3"/>
              <a:buFont typeface="Montserrat"/>
              <a:buNone/>
            </a:pPr>
            <a:r>
              <a:rPr b="0" i="0" lang="en-US" sz="1753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MASTER AI &amp; LARGE LANGUAGE MODELS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4528610" y="419516"/>
            <a:ext cx="7526284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WEEK 5 DAY 4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4528610" y="790154"/>
            <a:ext cx="7526284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lang="en-US" sz="318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Perhaps the most important topic</a:t>
            </a:r>
            <a:endParaRPr sz="3188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lang="en-US" sz="318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of the entire course - EVALS</a:t>
            </a:r>
            <a:endParaRPr sz="3188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0" y="0"/>
            <a:ext cx="4394583" cy="685628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OpenAI Playground 2025-10-05 at 15.52.59.png" id="28" name="Google Shape;28;p4"/>
          <p:cNvPicPr preferRelativeResize="0"/>
          <p:nvPr/>
        </p:nvPicPr>
        <p:blipFill rotWithShape="1">
          <a:blip r:embed="rId3">
            <a:alphaModFix/>
          </a:blip>
          <a:srcRect b="1875" l="3731" r="3731" t="1875"/>
          <a:stretch/>
        </p:blipFill>
        <p:spPr>
          <a:xfrm>
            <a:off x="0" y="0"/>
            <a:ext cx="4394583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/>
          <p:nvPr/>
        </p:nvSpPr>
        <p:spPr>
          <a:xfrm>
            <a:off x="5156392" y="2193029"/>
            <a:ext cx="6897791" cy="201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31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260"/>
              <a:buFont typeface="Montserrat"/>
              <a:buNone/>
            </a:pPr>
            <a:r>
              <a:rPr b="1" i="0" lang="en-US" sz="1260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What you can now do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156392" y="2571553"/>
            <a:ext cx="6897791" cy="1361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603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60"/>
              <a:buFont typeface="Montserrat"/>
              <a:buChar char="•"/>
            </a:pPr>
            <a:r>
              <a:rPr b="0" i="0" lang="en-US" sz="126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Generate text and code with Frontier Models including AI Assistants with Tools, and with open-source models with Hugging Face transformers</a:t>
            </a:r>
            <a:endParaRPr/>
          </a:p>
          <a:p>
            <a:pPr indent="-242900" lvl="0" marL="242900" marR="0" rtl="0" algn="l">
              <a:lnSpc>
                <a:spcPct val="126031"/>
              </a:lnSpc>
              <a:spcBef>
                <a:spcPts val="1367"/>
              </a:spcBef>
              <a:spcAft>
                <a:spcPts val="0"/>
              </a:spcAft>
              <a:buClr>
                <a:srgbClr val="FFFFFF"/>
              </a:buClr>
              <a:buSzPts val="1260"/>
              <a:buFont typeface="Montserrat"/>
              <a:buChar char="•"/>
            </a:pPr>
            <a:r>
              <a:rPr b="0" i="0" lang="en-US" sz="126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Confidently choose the right LLM for your project, backed by metrics</a:t>
            </a:r>
            <a:endParaRPr/>
          </a:p>
          <a:p>
            <a:pPr indent="-242900" lvl="0" marL="242900" marR="0" rtl="0" algn="l">
              <a:lnSpc>
                <a:spcPct val="126031"/>
              </a:lnSpc>
              <a:spcBef>
                <a:spcPts val="1367"/>
              </a:spcBef>
              <a:spcAft>
                <a:spcPts val="0"/>
              </a:spcAft>
              <a:buClr>
                <a:srgbClr val="FFFFFF"/>
              </a:buClr>
              <a:buSzPts val="1260"/>
              <a:buFont typeface="Montserrat"/>
              <a:buChar char="•"/>
            </a:pPr>
            <a:r>
              <a:rPr lang="en-US" sz="126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Implement a RAG expert question-answering system</a:t>
            </a:r>
            <a:endParaRPr sz="126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1" name="Google Shape;31;p4"/>
          <p:cNvCxnSpPr/>
          <p:nvPr/>
        </p:nvCxnSpPr>
        <p:spPr>
          <a:xfrm>
            <a:off x="5156349" y="4088328"/>
            <a:ext cx="6270719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2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" name="Google Shape;32;p4"/>
          <p:cNvSpPr/>
          <p:nvPr/>
        </p:nvSpPr>
        <p:spPr>
          <a:xfrm>
            <a:off x="5156392" y="4433895"/>
            <a:ext cx="6897791" cy="2015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31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260"/>
              <a:buFont typeface="Montserrat"/>
              <a:buNone/>
            </a:pPr>
            <a:r>
              <a:rPr b="1" lang="en-US" sz="1260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By end of today you will be able to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156392" y="4812419"/>
            <a:ext cx="6897791" cy="1160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8610" lvl="0" marL="457200" rtl="0" algn="l">
              <a:lnSpc>
                <a:spcPct val="126031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60"/>
              <a:buFont typeface="Montserrat"/>
              <a:buChar char="•"/>
            </a:pPr>
            <a:r>
              <a:rPr lang="en-US" sz="126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Explain the importance of Evaluations with RAG</a:t>
            </a:r>
            <a:endParaRPr>
              <a:solidFill>
                <a:schemeClr val="dk1"/>
              </a:solidFill>
            </a:endParaRPr>
          </a:p>
          <a:p>
            <a:pPr indent="-308610" lvl="0" marL="457200" rtl="0" algn="l">
              <a:lnSpc>
                <a:spcPct val="126031"/>
              </a:lnSpc>
              <a:spcBef>
                <a:spcPts val="1367"/>
              </a:spcBef>
              <a:spcAft>
                <a:spcPts val="0"/>
              </a:spcAft>
              <a:buClr>
                <a:schemeClr val="lt1"/>
              </a:buClr>
              <a:buSzPts val="1260"/>
              <a:buFont typeface="Montserrat"/>
              <a:buChar char="•"/>
            </a:pPr>
            <a:r>
              <a:rPr lang="en-US" sz="126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Measure the effectiveness of RAG with Retrieval and Question/Answering metrics</a:t>
            </a:r>
            <a:endParaRPr>
              <a:solidFill>
                <a:schemeClr val="dk1"/>
              </a:solidFill>
            </a:endParaRPr>
          </a:p>
          <a:p>
            <a:pPr indent="-308610" lvl="0" marL="457200" rtl="0" algn="l">
              <a:lnSpc>
                <a:spcPct val="126031"/>
              </a:lnSpc>
              <a:spcBef>
                <a:spcPts val="1367"/>
              </a:spcBef>
              <a:spcAft>
                <a:spcPts val="0"/>
              </a:spcAft>
              <a:buClr>
                <a:schemeClr val="lt1"/>
              </a:buClr>
              <a:buSzPts val="1260"/>
              <a:buFont typeface="Montserrat"/>
              <a:buChar char="•"/>
            </a:pPr>
            <a:r>
              <a:rPr lang="en-US" sz="126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Experiment with Encoders and Chunking Strategies</a:t>
            </a:r>
            <a:endParaRPr sz="126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B356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0" y="200441"/>
            <a:ext cx="59271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3188"/>
              <a:buFont typeface="Montserrat"/>
              <a:buNone/>
            </a:pPr>
            <a:r>
              <a:rPr lang="en-US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There’s a lot to </a:t>
            </a:r>
            <a:r>
              <a:rPr b="1" lang="en-US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love</a:t>
            </a:r>
            <a:br>
              <a:rPr lang="en-US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about RAG</a:t>
            </a:r>
            <a:endParaRPr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265250" y="2460029"/>
            <a:ext cx="5526300" cy="2828400"/>
          </a:xfrm>
          <a:prstGeom prst="rect">
            <a:avLst/>
          </a:prstGeom>
          <a:solidFill>
            <a:schemeClr val="accent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182875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lang="en-US" sz="184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Rapid time to market</a:t>
            </a:r>
            <a:endParaRPr sz="184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t/>
            </a:r>
            <a:endParaRPr sz="184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lang="en-US" sz="184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Give an LLM vast expertise</a:t>
            </a:r>
            <a:endParaRPr sz="184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t/>
            </a:r>
            <a:endParaRPr sz="184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lang="en-US" sz="184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Save on context length</a:t>
            </a:r>
            <a:endParaRPr sz="184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t/>
            </a:r>
            <a:endParaRPr sz="184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lang="en-US" sz="184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Avoid distracting with irrelevant context</a:t>
            </a:r>
            <a:endParaRPr i="1" sz="184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6067800" y="2460029"/>
            <a:ext cx="5526300" cy="28284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182875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lang="en-US" sz="184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It’s a hack</a:t>
            </a:r>
            <a:endParaRPr sz="184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t/>
            </a:r>
            <a:endParaRPr sz="184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lang="en-US" sz="184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“It’s empirical” aka trial &amp; error</a:t>
            </a:r>
            <a:endParaRPr sz="184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t/>
            </a:r>
            <a:endParaRPr sz="184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lang="en-US" sz="184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Unexpected ‘I don’t know’</a:t>
            </a:r>
            <a:endParaRPr sz="184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t/>
            </a:r>
            <a:endParaRPr sz="184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lang="en-US" sz="184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Great idea can have poor results</a:t>
            </a:r>
            <a:endParaRPr i="1" sz="184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5889211" y="200429"/>
            <a:ext cx="6165000" cy="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2A2921"/>
              </a:buClr>
              <a:buSzPts val="3188"/>
              <a:buFont typeface="Montserrat"/>
              <a:buNone/>
            </a:pPr>
            <a:r>
              <a:rPr lang="en-US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Some things</a:t>
            </a:r>
            <a:r>
              <a:rPr lang="en-US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-US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not to love</a:t>
            </a:r>
            <a:br>
              <a:rPr lang="en-US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about RAG</a:t>
            </a:r>
            <a:endParaRPr i="0" sz="3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3" name="Google Shape;43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6200" y="1360112"/>
            <a:ext cx="1244225" cy="124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08838" y="1360112"/>
            <a:ext cx="1244225" cy="124422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/>
        </p:nvSpPr>
        <p:spPr>
          <a:xfrm>
            <a:off x="358100" y="5489425"/>
            <a:ext cx="11301000" cy="12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4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Case-in-point: chunking strategy can have a significant impact on performance</a:t>
            </a:r>
            <a:endParaRPr sz="204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4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How to turn this art into a science?</a:t>
            </a:r>
            <a:endParaRPr sz="204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4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EVALS.</a:t>
            </a:r>
            <a:endParaRPr b="1" sz="204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6692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"/>
          <p:cNvSpPr/>
          <p:nvPr/>
        </p:nvSpPr>
        <p:spPr>
          <a:xfrm>
            <a:off x="9523" y="419516"/>
            <a:ext cx="12188952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94"/>
              <a:buFont typeface="Montserrat"/>
              <a:buNone/>
            </a:pPr>
            <a:r>
              <a:rPr lang="en-US" sz="159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SIMPLE TECHNIQUE TO GET PERFORMANCE FROM YOUR RAG PIPELINE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9523" y="790154"/>
            <a:ext cx="12188952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1" lang="en-US" sz="318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Evaluations are Everything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162400" y="2070317"/>
            <a:ext cx="3723900" cy="2362800"/>
          </a:xfrm>
          <a:prstGeom prst="rect">
            <a:avLst/>
          </a:prstGeom>
          <a:solidFill>
            <a:srgbClr val="F79646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1" lang="en-US" sz="1840">
                <a:latin typeface="Montserrat"/>
                <a:ea typeface="Montserrat"/>
                <a:cs typeface="Montserrat"/>
                <a:sym typeface="Montserrat"/>
              </a:rPr>
              <a:t>Curate a Test Set</a:t>
            </a:r>
            <a:endParaRPr b="1" sz="184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t/>
            </a:r>
            <a:endParaRPr sz="184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lang="en-US" sz="1840">
                <a:latin typeface="Montserrat"/>
                <a:ea typeface="Montserrat"/>
                <a:cs typeface="Montserrat"/>
                <a:sym typeface="Montserrat"/>
              </a:rPr>
              <a:t>Example questions set with the right context identified and reference answers provided</a:t>
            </a:r>
            <a:endParaRPr sz="184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4147063" y="2070317"/>
            <a:ext cx="3723900" cy="2362800"/>
          </a:xfrm>
          <a:prstGeom prst="rect">
            <a:avLst/>
          </a:prstGeom>
          <a:solidFill>
            <a:srgbClr val="F79646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1" lang="en-US" sz="1840">
                <a:latin typeface="Montserrat"/>
                <a:ea typeface="Montserrat"/>
                <a:cs typeface="Montserrat"/>
                <a:sym typeface="Montserrat"/>
              </a:rPr>
              <a:t>Measure Retrieval</a:t>
            </a:r>
            <a:endParaRPr b="1" sz="184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t/>
            </a:r>
            <a:endParaRPr sz="184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1" lang="en-US" sz="1840">
                <a:latin typeface="Montserrat"/>
                <a:ea typeface="Montserrat"/>
                <a:cs typeface="Montserrat"/>
                <a:sym typeface="Montserrat"/>
              </a:rPr>
              <a:t>MRR</a:t>
            </a:r>
            <a:r>
              <a:rPr lang="en-US" sz="1840">
                <a:latin typeface="Montserrat"/>
                <a:ea typeface="Montserrat"/>
                <a:cs typeface="Montserrat"/>
                <a:sym typeface="Montserrat"/>
              </a:rPr>
              <a:t> (Mean Reciprocal Rank)</a:t>
            </a:r>
            <a:endParaRPr sz="184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1" lang="en-US" sz="1840">
                <a:latin typeface="Montserrat"/>
                <a:ea typeface="Montserrat"/>
                <a:cs typeface="Montserrat"/>
                <a:sym typeface="Montserrat"/>
              </a:rPr>
              <a:t>nDCG</a:t>
            </a:r>
            <a:r>
              <a:rPr lang="en-US" sz="1840">
                <a:latin typeface="Montserrat"/>
                <a:ea typeface="Montserrat"/>
                <a:cs typeface="Montserrat"/>
                <a:sym typeface="Montserrat"/>
              </a:rPr>
              <a:t> (Normalized Discounted Cumulative Gain)</a:t>
            </a:r>
            <a:endParaRPr sz="184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1" lang="en-US" sz="1840">
                <a:latin typeface="Montserrat"/>
                <a:ea typeface="Montserrat"/>
                <a:cs typeface="Montserrat"/>
                <a:sym typeface="Montserrat"/>
              </a:rPr>
              <a:t>Recall@K </a:t>
            </a:r>
            <a:r>
              <a:rPr lang="en-US" sz="1840">
                <a:latin typeface="Montserrat"/>
                <a:ea typeface="Montserrat"/>
                <a:cs typeface="Montserrat"/>
                <a:sym typeface="Montserrat"/>
              </a:rPr>
              <a:t>and </a:t>
            </a:r>
            <a:r>
              <a:rPr b="1" lang="en-US" sz="1840">
                <a:latin typeface="Montserrat"/>
                <a:ea typeface="Montserrat"/>
                <a:cs typeface="Montserrat"/>
                <a:sym typeface="Montserrat"/>
              </a:rPr>
              <a:t>Precision@K</a:t>
            </a:r>
            <a:endParaRPr b="1" sz="184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8131725" y="2070317"/>
            <a:ext cx="3723900" cy="2362800"/>
          </a:xfrm>
          <a:prstGeom prst="rect">
            <a:avLst/>
          </a:prstGeom>
          <a:solidFill>
            <a:srgbClr val="F79646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b="1" lang="en-US" sz="1840">
                <a:latin typeface="Montserrat"/>
                <a:ea typeface="Montserrat"/>
                <a:cs typeface="Montserrat"/>
                <a:sym typeface="Montserrat"/>
              </a:rPr>
              <a:t>Measure Answers</a:t>
            </a:r>
            <a:endParaRPr b="1" sz="184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t/>
            </a:r>
            <a:endParaRPr sz="184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Montserrat"/>
              <a:buNone/>
            </a:pPr>
            <a:r>
              <a:rPr lang="en-US" sz="1840">
                <a:latin typeface="Montserrat"/>
                <a:ea typeface="Montserrat"/>
                <a:cs typeface="Montserrat"/>
                <a:sym typeface="Montserrat"/>
              </a:rPr>
              <a:t>eg Use LLM-as-a-judge to score provided answers against </a:t>
            </a:r>
            <a:r>
              <a:rPr lang="en-US" sz="1840">
                <a:latin typeface="Montserrat"/>
                <a:ea typeface="Montserrat"/>
                <a:cs typeface="Montserrat"/>
                <a:sym typeface="Montserrat"/>
              </a:rPr>
              <a:t>criteria like accuracy, completeness and relevance</a:t>
            </a:r>
            <a:endParaRPr sz="184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6"/>
          <p:cNvSpPr txBox="1"/>
          <p:nvPr/>
        </p:nvSpPr>
        <p:spPr>
          <a:xfrm>
            <a:off x="256200" y="4782375"/>
            <a:ext cx="11318400" cy="18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4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MRR</a:t>
            </a:r>
            <a:r>
              <a:rPr lang="en-US" sz="184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= Average inverse rank of first hit; 1 if the first chunk always has relevant context</a:t>
            </a:r>
            <a:endParaRPr sz="184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4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nDCG</a:t>
            </a:r>
            <a:r>
              <a:rPr lang="en-US" sz="184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= Did relevant chunks get ranked higher up</a:t>
            </a:r>
            <a:endParaRPr sz="184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4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Recall@K </a:t>
            </a:r>
            <a:r>
              <a:rPr lang="en-US" sz="184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= Proportion of tests where relevant context was in the top K chunks</a:t>
            </a:r>
            <a:endParaRPr sz="184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4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Or if you have multiple keywords to look for, </a:t>
            </a:r>
            <a:r>
              <a:rPr b="1" lang="en-US" sz="184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keyword coverage</a:t>
            </a:r>
            <a:r>
              <a:rPr lang="en-US" sz="184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is similar recall metric</a:t>
            </a:r>
            <a:r>
              <a:rPr b="1" lang="en-US" sz="184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184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4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Precision@K</a:t>
            </a:r>
            <a:r>
              <a:rPr lang="en-US" sz="184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= Proportion of the top K chunks that are relevant</a:t>
            </a:r>
            <a:endParaRPr sz="184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"/>
          <p:cNvSpPr/>
          <p:nvPr/>
        </p:nvSpPr>
        <p:spPr>
          <a:xfrm>
            <a:off x="4528610" y="419516"/>
            <a:ext cx="7526284" cy="254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594"/>
              <a:buFont typeface="Montserrat"/>
              <a:buNone/>
            </a:pPr>
            <a:r>
              <a:rPr b="0" i="0" lang="en-US" sz="1594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PROGRESS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7"/>
          <p:cNvSpPr/>
          <p:nvPr/>
        </p:nvSpPr>
        <p:spPr>
          <a:xfrm>
            <a:off x="4528610" y="790154"/>
            <a:ext cx="7526284" cy="509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7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88"/>
              <a:buFont typeface="Montserrat"/>
              <a:buNone/>
            </a:pPr>
            <a:r>
              <a:rPr b="0" i="0" lang="en-US" sz="3188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You have leveled up again!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0" y="0"/>
            <a:ext cx="4394583" cy="685628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08_w5_4-2.png" id="65" name="Google Shape;65;p7"/>
          <p:cNvPicPr preferRelativeResize="0"/>
          <p:nvPr/>
        </p:nvPicPr>
        <p:blipFill rotWithShape="1">
          <a:blip r:embed="rId3">
            <a:alphaModFix/>
          </a:blip>
          <a:srcRect b="0" l="1928" r="1928" t="0"/>
          <a:stretch/>
        </p:blipFill>
        <p:spPr>
          <a:xfrm>
            <a:off x="0" y="0"/>
            <a:ext cx="4394583" cy="6856286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7"/>
          <p:cNvSpPr/>
          <p:nvPr/>
        </p:nvSpPr>
        <p:spPr>
          <a:xfrm>
            <a:off x="5156392" y="2189830"/>
            <a:ext cx="6897791" cy="215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350"/>
              <a:buFont typeface="Montserrat"/>
              <a:buNone/>
            </a:pPr>
            <a:r>
              <a:rPr b="1" i="0" lang="en-US" sz="1350" u="none" cap="none" strike="noStrike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What you can now do 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7"/>
          <p:cNvSpPr/>
          <p:nvPr/>
        </p:nvSpPr>
        <p:spPr>
          <a:xfrm>
            <a:off x="5156392" y="2595434"/>
            <a:ext cx="6897791" cy="14591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Generate text and code with Frontier Models including AI Assistants with Tools, and with open-source models with HuggingFace transformers</a:t>
            </a:r>
            <a:endParaRPr/>
          </a:p>
          <a:p>
            <a:pPr indent="-242900" lvl="0" marL="242900" marR="0" rtl="0" algn="l">
              <a:lnSpc>
                <a:spcPct val="126000"/>
              </a:lnSpc>
              <a:spcBef>
                <a:spcPts val="1464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Confidently choose the right LLM for your project, backed by metrics</a:t>
            </a:r>
            <a:endParaRPr/>
          </a:p>
          <a:p>
            <a:pPr indent="-242900" lvl="0" marL="242900" marR="0" rtl="0" algn="l">
              <a:lnSpc>
                <a:spcPct val="126000"/>
              </a:lnSpc>
              <a:spcBef>
                <a:spcPts val="1464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Char char="•"/>
            </a:pPr>
            <a:r>
              <a:rPr b="0" i="0" lang="en-US" sz="13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Create a RAG Knowledge Worker using LangChain and Chroma, </a:t>
            </a:r>
            <a:r>
              <a:rPr lang="en-US" sz="13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evaluate its effectiveness at Retrieval and Question Answering, and experiment with chunkers and encoders in a quantitative way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" name="Google Shape;68;p7"/>
          <p:cNvCxnSpPr/>
          <p:nvPr/>
        </p:nvCxnSpPr>
        <p:spPr>
          <a:xfrm>
            <a:off x="5156349" y="4634521"/>
            <a:ext cx="6270600" cy="0"/>
          </a:xfrm>
          <a:prstGeom prst="straightConnector1">
            <a:avLst/>
          </a:prstGeom>
          <a:noFill/>
          <a:ln cap="flat" cmpd="sng" w="12700">
            <a:solidFill>
              <a:srgbClr val="FFFFFF">
                <a:alpha val="2000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9" name="Google Shape;69;p7"/>
          <p:cNvSpPr/>
          <p:nvPr/>
        </p:nvSpPr>
        <p:spPr>
          <a:xfrm>
            <a:off x="5156392" y="4903137"/>
            <a:ext cx="68979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62A8BB"/>
              </a:buClr>
              <a:buSzPts val="1350"/>
              <a:buFont typeface="Montserrat"/>
              <a:buNone/>
            </a:pPr>
            <a:r>
              <a:rPr b="1" lang="en-US" sz="1350">
                <a:solidFill>
                  <a:srgbClr val="62A8BB"/>
                </a:solidFill>
                <a:latin typeface="Montserrat"/>
                <a:ea typeface="Montserrat"/>
                <a:cs typeface="Montserrat"/>
                <a:sym typeface="Montserrat"/>
              </a:rPr>
              <a:t>Next time we go ADVANCED with Pro RAG techniques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7"/>
          <p:cNvSpPr/>
          <p:nvPr/>
        </p:nvSpPr>
        <p:spPr>
          <a:xfrm>
            <a:off x="5156392" y="5308741"/>
            <a:ext cx="6897900" cy="10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42900" lvl="0" marL="2429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Char char="•"/>
            </a:pPr>
            <a:r>
              <a:rPr lang="en-US" sz="13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Build expertise in many techniques for getting better RAG performance</a:t>
            </a:r>
            <a:endParaRPr/>
          </a:p>
          <a:p>
            <a:pPr indent="-242900" lvl="0" marL="242900" marR="0" rtl="0" algn="l">
              <a:lnSpc>
                <a:spcPct val="126000"/>
              </a:lnSpc>
              <a:spcBef>
                <a:spcPts val="1464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Char char="•"/>
            </a:pPr>
            <a:r>
              <a:rPr lang="en-US" sz="13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Hands-on experience with RAG pre-processing, re-ranking and more</a:t>
            </a:r>
            <a:endParaRPr/>
          </a:p>
          <a:p>
            <a:pPr indent="-242900" lvl="0" marL="242900" marR="0" rtl="0" algn="l">
              <a:lnSpc>
                <a:spcPct val="126000"/>
              </a:lnSpc>
              <a:spcBef>
                <a:spcPts val="1464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Montserrat"/>
              <a:buChar char="•"/>
            </a:pPr>
            <a:r>
              <a:rPr lang="en-US" sz="13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Deliver an advanced RAG pipeline with provably strong results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