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6fa209fb9a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g36fa209fb9a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6fa209fb9a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fa209fb9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6fa209fb9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6fa209fb9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592417"/>
            <a:ext cx="11998500" cy="5168642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ntitled-0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24" r="24" t="0"/>
          <a:stretch/>
        </p:blipFill>
        <p:spPr>
          <a:xfrm>
            <a:off x="95226" y="1592417"/>
            <a:ext cx="11998500" cy="516864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753340" y="603942"/>
            <a:ext cx="4682272" cy="318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91"/>
              <a:buFont typeface="Montserrat"/>
              <a:buNone/>
            </a:pPr>
            <a:r>
              <a:rPr b="0" i="0" lang="en-US" sz="239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753340" y="955684"/>
            <a:ext cx="4682272" cy="2549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 REPORT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LangChain, Vectors, Chroma!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3_w5_2-2.png" id="28" name="Google Shape;28;p4"/>
          <p:cNvPicPr preferRelativeResize="0"/>
          <p:nvPr/>
        </p:nvPicPr>
        <p:blipFill rotWithShape="1">
          <a:blip r:embed="rId3">
            <a:alphaModFix/>
          </a:blip>
          <a:srcRect b="2516" l="4347" r="4347" t="2516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93029"/>
            <a:ext cx="6897791" cy="201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60"/>
              <a:buFont typeface="Montserrat"/>
              <a:buNone/>
            </a:pPr>
            <a:r>
              <a:rPr b="1" i="0" lang="en-US" sz="126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571553"/>
            <a:ext cx="6897791" cy="136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including AI Assistants with Tools, and with open-source models with Hugging Face transformers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choose the right LLM for your project, backed by metrics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how RAG uses vector</a:t>
            </a: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 </a:t>
            </a: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vector</a:t>
            </a: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lookup </a:t>
            </a: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  add context to prompts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9" y="4197185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433895"/>
            <a:ext cx="6897791" cy="201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60"/>
              <a:buFont typeface="Montserrat"/>
              <a:buNone/>
            </a:pPr>
            <a:r>
              <a:rPr b="1" i="0" lang="en-US" sz="126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end of today you'll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812419"/>
            <a:ext cx="6897791" cy="958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Describe the LangChain framework, with benefits and limitations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 with popular encoders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Divide documents into chunks, make vectors, and store in the vectorstore Chroma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B356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9523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RECAP: </a:t>
            </a:r>
            <a:r>
              <a:rPr b="0" i="0" lang="en-US" sz="3188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The big idea behind RAG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513596" y="2961534"/>
            <a:ext cx="1428300" cy="14283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de (1).png" id="41" name="Google Shape;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596" y="2961534"/>
            <a:ext cx="1428300" cy="1428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5960683" y="4481582"/>
            <a:ext cx="5343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Code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8789377" y="2885354"/>
            <a:ext cx="1428300" cy="14283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LM.png" id="44" name="Google Shape;4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9377" y="2885354"/>
            <a:ext cx="1428300" cy="1428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9283601" y="4405401"/>
            <a:ext cx="439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2409223" y="2961534"/>
            <a:ext cx="1428300" cy="14283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at.png" id="47" name="Google Shape;4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09223" y="2961534"/>
            <a:ext cx="1428300" cy="1428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8" name="Google Shape;48;p5"/>
          <p:cNvSpPr/>
          <p:nvPr/>
        </p:nvSpPr>
        <p:spPr>
          <a:xfrm>
            <a:off x="2652049" y="4481582"/>
            <a:ext cx="9426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Chat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723094" y="5361235"/>
            <a:ext cx="1066500" cy="10665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Vectore Database.png" id="50" name="Google Shape;5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23094" y="5361235"/>
            <a:ext cx="1066500" cy="1066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1" name="Google Shape;51;p5"/>
          <p:cNvSpPr/>
          <p:nvPr/>
        </p:nvSpPr>
        <p:spPr>
          <a:xfrm>
            <a:off x="5416465" y="6547991"/>
            <a:ext cx="1717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Vector Datastore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" name="Google Shape;52;p5"/>
          <p:cNvGrpSpPr/>
          <p:nvPr/>
        </p:nvGrpSpPr>
        <p:grpSpPr>
          <a:xfrm>
            <a:off x="7146725" y="3243493"/>
            <a:ext cx="1239513" cy="313847"/>
            <a:chOff x="7146725" y="3243493"/>
            <a:chExt cx="1239513" cy="313847"/>
          </a:xfrm>
        </p:grpSpPr>
        <p:cxnSp>
          <p:nvCxnSpPr>
            <p:cNvPr id="53" name="Google Shape;53;p5"/>
            <p:cNvCxnSpPr/>
            <p:nvPr/>
          </p:nvCxnSpPr>
          <p:spPr>
            <a:xfrm>
              <a:off x="7270308" y="3488820"/>
              <a:ext cx="10473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" name="Google Shape;54;p5"/>
            <p:cNvSpPr/>
            <p:nvPr/>
          </p:nvSpPr>
          <p:spPr>
            <a:xfrm rot="5400000">
              <a:off x="8249138" y="3420240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7146725" y="3243493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1125"/>
                <a:buFont typeface="Montserrat"/>
                <a:buNone/>
              </a:pPr>
              <a:r>
                <a:rPr b="1" i="0" lang="en-US" sz="1125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Prompt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p5"/>
          <p:cNvGrpSpPr/>
          <p:nvPr/>
        </p:nvGrpSpPr>
        <p:grpSpPr>
          <a:xfrm>
            <a:off x="4011650" y="3801205"/>
            <a:ext cx="1182799" cy="309777"/>
            <a:chOff x="4011650" y="3801205"/>
            <a:chExt cx="1182799" cy="309777"/>
          </a:xfrm>
        </p:grpSpPr>
        <p:cxnSp>
          <p:nvCxnSpPr>
            <p:cNvPr id="57" name="Google Shape;57;p5"/>
            <p:cNvCxnSpPr/>
            <p:nvPr/>
          </p:nvCxnSpPr>
          <p:spPr>
            <a:xfrm>
              <a:off x="4080230" y="3869725"/>
              <a:ext cx="10473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8" name="Google Shape;58;p5"/>
            <p:cNvSpPr/>
            <p:nvPr/>
          </p:nvSpPr>
          <p:spPr>
            <a:xfrm rot="-5400000">
              <a:off x="4011650" y="3801205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4251849" y="3930982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1125"/>
                <a:buFont typeface="Montserrat"/>
                <a:buNone/>
              </a:pPr>
              <a:r>
                <a:rPr b="1" i="0" lang="en-US" sz="1125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Answer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0;p5"/>
          <p:cNvGrpSpPr/>
          <p:nvPr/>
        </p:nvGrpSpPr>
        <p:grpSpPr>
          <a:xfrm>
            <a:off x="6175255" y="4814663"/>
            <a:ext cx="1009422" cy="472312"/>
            <a:chOff x="6175255" y="4814663"/>
            <a:chExt cx="1009422" cy="472312"/>
          </a:xfrm>
        </p:grpSpPr>
        <p:cxnSp>
          <p:nvCxnSpPr>
            <p:cNvPr id="61" name="Google Shape;61;p5"/>
            <p:cNvCxnSpPr/>
            <p:nvPr/>
          </p:nvCxnSpPr>
          <p:spPr>
            <a:xfrm rot="5400000">
              <a:off x="6076285" y="5050793"/>
              <a:ext cx="3351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2" name="Google Shape;62;p5"/>
            <p:cNvSpPr/>
            <p:nvPr/>
          </p:nvSpPr>
          <p:spPr>
            <a:xfrm>
              <a:off x="6175255" y="4814663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 rot="10800000">
              <a:off x="6175315" y="5149875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6242077" y="4978470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1125"/>
                <a:buFont typeface="Montserrat"/>
                <a:buNone/>
              </a:pPr>
              <a:r>
                <a:rPr b="1" i="0" lang="en-US" sz="1125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Retrieve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" name="Google Shape;65;p5"/>
          <p:cNvGrpSpPr/>
          <p:nvPr/>
        </p:nvGrpSpPr>
        <p:grpSpPr>
          <a:xfrm>
            <a:off x="4004261" y="3243493"/>
            <a:ext cx="1191900" cy="313847"/>
            <a:chOff x="4004261" y="3243493"/>
            <a:chExt cx="1191900" cy="313847"/>
          </a:xfrm>
        </p:grpSpPr>
        <p:cxnSp>
          <p:nvCxnSpPr>
            <p:cNvPr id="66" name="Google Shape;66;p5"/>
            <p:cNvCxnSpPr/>
            <p:nvPr/>
          </p:nvCxnSpPr>
          <p:spPr>
            <a:xfrm>
              <a:off x="4080230" y="3488820"/>
              <a:ext cx="10473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7" name="Google Shape;67;p5"/>
            <p:cNvSpPr/>
            <p:nvPr/>
          </p:nvSpPr>
          <p:spPr>
            <a:xfrm rot="5400000">
              <a:off x="5059061" y="3420240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4004261" y="3243493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1125"/>
                <a:buFont typeface="Montserrat"/>
                <a:buNone/>
              </a:pPr>
              <a:r>
                <a:rPr b="1" i="0" lang="en-US" sz="1125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Question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5"/>
          <p:cNvGrpSpPr/>
          <p:nvPr/>
        </p:nvGrpSpPr>
        <p:grpSpPr>
          <a:xfrm>
            <a:off x="7201728" y="3801205"/>
            <a:ext cx="1211366" cy="317439"/>
            <a:chOff x="7201728" y="3801205"/>
            <a:chExt cx="1211366" cy="317439"/>
          </a:xfrm>
        </p:grpSpPr>
        <p:cxnSp>
          <p:nvCxnSpPr>
            <p:cNvPr id="70" name="Google Shape;70;p5"/>
            <p:cNvCxnSpPr/>
            <p:nvPr/>
          </p:nvCxnSpPr>
          <p:spPr>
            <a:xfrm>
              <a:off x="7270308" y="3869725"/>
              <a:ext cx="10473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1" name="Google Shape;71;p5"/>
            <p:cNvSpPr/>
            <p:nvPr/>
          </p:nvSpPr>
          <p:spPr>
            <a:xfrm rot="-5400000">
              <a:off x="7201728" y="3801205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470494" y="3938644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1125"/>
                <a:buFont typeface="Montserrat"/>
                <a:buNone/>
              </a:pPr>
              <a:r>
                <a:rPr b="1" i="0" lang="en-US" sz="1125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Response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5"/>
          <p:cNvGrpSpPr/>
          <p:nvPr/>
        </p:nvGrpSpPr>
        <p:grpSpPr>
          <a:xfrm>
            <a:off x="5384895" y="1024872"/>
            <a:ext cx="1717800" cy="1327182"/>
            <a:chOff x="5384895" y="1024872"/>
            <a:chExt cx="1717800" cy="1327182"/>
          </a:xfrm>
        </p:grpSpPr>
        <p:sp>
          <p:nvSpPr>
            <p:cNvPr id="74" name="Google Shape;74;p5"/>
            <p:cNvSpPr/>
            <p:nvPr/>
          </p:nvSpPr>
          <p:spPr>
            <a:xfrm>
              <a:off x="5682001" y="1285554"/>
              <a:ext cx="1066500" cy="10665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Encoding LLM.png" id="75" name="Google Shape;75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82001" y="1285554"/>
              <a:ext cx="1066500" cy="10665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76" name="Google Shape;76;p5"/>
            <p:cNvSpPr/>
            <p:nvPr/>
          </p:nvSpPr>
          <p:spPr>
            <a:xfrm>
              <a:off x="5384895" y="1024872"/>
              <a:ext cx="17178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Encoding LLM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p5"/>
          <p:cNvGrpSpPr/>
          <p:nvPr/>
        </p:nvGrpSpPr>
        <p:grpSpPr>
          <a:xfrm>
            <a:off x="6175255" y="2434008"/>
            <a:ext cx="1009422" cy="472312"/>
            <a:chOff x="6175255" y="2434008"/>
            <a:chExt cx="1009422" cy="472312"/>
          </a:xfrm>
        </p:grpSpPr>
        <p:sp>
          <p:nvSpPr>
            <p:cNvPr id="78" name="Google Shape;78;p5"/>
            <p:cNvSpPr/>
            <p:nvPr/>
          </p:nvSpPr>
          <p:spPr>
            <a:xfrm>
              <a:off x="6242077" y="2597815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1125"/>
                <a:buFont typeface="Montserrat"/>
                <a:buNone/>
              </a:pPr>
              <a:r>
                <a:rPr b="1" i="0" lang="en-US" sz="1125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Vectorize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" name="Google Shape;79;p5"/>
            <p:cNvCxnSpPr/>
            <p:nvPr/>
          </p:nvCxnSpPr>
          <p:spPr>
            <a:xfrm rot="5400000">
              <a:off x="6076285" y="2670138"/>
              <a:ext cx="335100" cy="0"/>
            </a:xfrm>
            <a:prstGeom prst="straightConnector1">
              <a:avLst/>
            </a:prstGeom>
            <a:noFill/>
            <a:ln cap="flat" cmpd="sng" w="63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0" name="Google Shape;80;p5"/>
            <p:cNvSpPr/>
            <p:nvPr/>
          </p:nvSpPr>
          <p:spPr>
            <a:xfrm>
              <a:off x="6175255" y="2434008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 rot="10800000">
              <a:off x="6175315" y="2769220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0" y="419516"/>
            <a:ext cx="12188952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INTRODUCING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0" y="790154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LangChain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8174682" y="3886173"/>
            <a:ext cx="3538139" cy="55994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4682" y="3886173"/>
            <a:ext cx="3538139" cy="55994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/>
          <p:nvPr/>
        </p:nvSpPr>
        <p:spPr>
          <a:xfrm>
            <a:off x="761810" y="2193029"/>
            <a:ext cx="7420880" cy="201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0B356"/>
              </a:buClr>
              <a:buSzPts val="1260"/>
              <a:buFont typeface="Montserrat"/>
              <a:buNone/>
            </a:pPr>
            <a:r>
              <a:rPr b="0" i="0" lang="en-US" sz="1260" u="none" cap="none" strike="noStrike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LangChain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761810" y="2571553"/>
            <a:ext cx="7420880" cy="958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Open Source framework launched in October 2022 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Provides a common framework for interfacing with many LLMs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LangChain v1 released October 2025 with significant changes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6"/>
          <p:cNvCxnSpPr/>
          <p:nvPr/>
        </p:nvCxnSpPr>
        <p:spPr>
          <a:xfrm>
            <a:off x="761810" y="3820029"/>
            <a:ext cx="67464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" name="Google Shape;94;p6"/>
          <p:cNvSpPr/>
          <p:nvPr/>
        </p:nvSpPr>
        <p:spPr>
          <a:xfrm>
            <a:off x="761810" y="4030820"/>
            <a:ext cx="7420880" cy="201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0B356"/>
              </a:buClr>
              <a:buSzPts val="1260"/>
              <a:buFont typeface="Montserrat"/>
              <a:buNone/>
            </a:pPr>
            <a:r>
              <a:rPr b="0" i="0" lang="en-US" sz="1260" u="none" cap="none" strike="noStrike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Pros &amp; Cons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761810" y="4409344"/>
            <a:ext cx="7420880" cy="136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implifies the creation of applications using LLMs (eg AI assistants, RAG, summarization) - fast time to market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Significant adoption in enterprise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 APIs for LLMs have matured, converged and simplified, the need for a unifying framework like LangChain has decreased - particu</a:t>
            </a: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larly with OpenAI endpoints</a:t>
            </a:r>
            <a:endParaRPr sz="126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LangChain is a more heavyweight abstraction layer than LiteLLM and others, and some of its code can be ‘legacy’</a:t>
            </a:r>
            <a:endParaRPr sz="126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B356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Encoder / Embedding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7"/>
          <p:cNvGrpSpPr/>
          <p:nvPr/>
        </p:nvGrpSpPr>
        <p:grpSpPr>
          <a:xfrm>
            <a:off x="1056999" y="2107535"/>
            <a:ext cx="1623600" cy="1750448"/>
            <a:chOff x="1056999" y="1729127"/>
            <a:chExt cx="1623600" cy="1750448"/>
          </a:xfrm>
        </p:grpSpPr>
        <p:sp>
          <p:nvSpPr>
            <p:cNvPr id="103" name="Google Shape;103;p7"/>
            <p:cNvSpPr/>
            <p:nvPr/>
          </p:nvSpPr>
          <p:spPr>
            <a:xfrm>
              <a:off x="1154606" y="1729127"/>
              <a:ext cx="1428300" cy="14283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Word2vec.png" id="104" name="Google Shape;10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54606" y="1729127"/>
              <a:ext cx="1428300" cy="1428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05" name="Google Shape;105;p7"/>
            <p:cNvSpPr/>
            <p:nvPr/>
          </p:nvSpPr>
          <p:spPr>
            <a:xfrm>
              <a:off x="1056999" y="3249175"/>
              <a:ext cx="16236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word2vec (2013)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5058880" y="2107535"/>
            <a:ext cx="1428300" cy="1750448"/>
            <a:chOff x="5058880" y="1729127"/>
            <a:chExt cx="1428300" cy="1750448"/>
          </a:xfrm>
        </p:grpSpPr>
        <p:sp>
          <p:nvSpPr>
            <p:cNvPr id="107" name="Google Shape;107;p7"/>
            <p:cNvSpPr/>
            <p:nvPr/>
          </p:nvSpPr>
          <p:spPr>
            <a:xfrm>
              <a:off x="5058880" y="1729127"/>
              <a:ext cx="1428300" cy="14283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BERT.png" id="108" name="Google Shape;10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58880" y="1729127"/>
              <a:ext cx="1428300" cy="1428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09" name="Google Shape;109;p7"/>
            <p:cNvSpPr/>
            <p:nvPr/>
          </p:nvSpPr>
          <p:spPr>
            <a:xfrm>
              <a:off x="5176008" y="3249175"/>
              <a:ext cx="11940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BERT (2018)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7"/>
          <p:cNvGrpSpPr/>
          <p:nvPr/>
        </p:nvGrpSpPr>
        <p:grpSpPr>
          <a:xfrm>
            <a:off x="7818058" y="2107535"/>
            <a:ext cx="3718500" cy="1750448"/>
            <a:chOff x="7818058" y="1729127"/>
            <a:chExt cx="3718500" cy="1750448"/>
          </a:xfrm>
        </p:grpSpPr>
        <p:sp>
          <p:nvSpPr>
            <p:cNvPr id="111" name="Google Shape;111;p7"/>
            <p:cNvSpPr/>
            <p:nvPr/>
          </p:nvSpPr>
          <p:spPr>
            <a:xfrm>
              <a:off x="8963153" y="1729127"/>
              <a:ext cx="1428300" cy="14283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output-onlinetools (2).png" id="112" name="Google Shape;112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963153" y="1729127"/>
              <a:ext cx="1428300" cy="1428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13" name="Google Shape;113;p7"/>
            <p:cNvSpPr/>
            <p:nvPr/>
          </p:nvSpPr>
          <p:spPr>
            <a:xfrm>
              <a:off x="7818058" y="3249175"/>
              <a:ext cx="37185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1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OpenAI</a:t>
              </a:r>
              <a:endParaRPr b="1" sz="144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text embedding 3 small</a:t>
              </a:r>
              <a:endParaRPr sz="144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text embedding 3 large</a:t>
              </a:r>
              <a:br>
                <a:rPr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endParaRPr sz="144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1"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Google</a:t>
              </a:r>
              <a:endParaRPr b="1" sz="144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gemini-embedding-001</a:t>
              </a:r>
              <a:br>
                <a:rPr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endParaRPr sz="144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1"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Hugging Face Sentence Transformers</a:t>
              </a:r>
              <a:endParaRPr b="1" sz="144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all-MiniLM-L6-v2</a:t>
              </a:r>
              <a:endParaRPr sz="144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t/>
              </a:r>
              <a:endParaRPr sz="144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4" name="Google Shape;114;p7"/>
          <p:cNvSpPr txBox="1"/>
          <p:nvPr/>
        </p:nvSpPr>
        <p:spPr>
          <a:xfrm>
            <a:off x="316200" y="1090650"/>
            <a:ext cx="11284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The Encoder Model turns text into a Vector Embedding. This is then stored in a Vector Database like Chroma.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/>
          <p:nvPr/>
        </p:nvSpPr>
        <p:spPr>
          <a:xfrm>
            <a:off x="191800" y="362825"/>
            <a:ext cx="11880900" cy="1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 will now use LangChain to load our Knowledge Base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p8"/>
          <p:cNvGrpSpPr/>
          <p:nvPr/>
        </p:nvGrpSpPr>
        <p:grpSpPr>
          <a:xfrm>
            <a:off x="387811" y="1440944"/>
            <a:ext cx="3739500" cy="1750448"/>
            <a:chOff x="387811" y="1440944"/>
            <a:chExt cx="3739500" cy="1750448"/>
          </a:xfrm>
        </p:grpSpPr>
        <p:sp>
          <p:nvSpPr>
            <p:cNvPr id="122" name="Google Shape;122;p8"/>
            <p:cNvSpPr/>
            <p:nvPr/>
          </p:nvSpPr>
          <p:spPr>
            <a:xfrm>
              <a:off x="1543381" y="1440944"/>
              <a:ext cx="1428300" cy="1428300"/>
            </a:xfrm>
            <a:prstGeom prst="ellipse">
              <a:avLst/>
            </a:prstGeom>
            <a:solidFill>
              <a:srgbClr val="FFFFFF">
                <a:alpha val="2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Docsfolder.png" id="123" name="Google Shape;123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43381" y="1440944"/>
              <a:ext cx="1428300" cy="1428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24" name="Google Shape;124;p8"/>
            <p:cNvSpPr/>
            <p:nvPr/>
          </p:nvSpPr>
          <p:spPr>
            <a:xfrm>
              <a:off x="387811" y="2960992"/>
              <a:ext cx="37395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Read in the documents in all folders 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8"/>
          <p:cNvGrpSpPr/>
          <p:nvPr/>
        </p:nvGrpSpPr>
        <p:grpSpPr>
          <a:xfrm>
            <a:off x="4438733" y="1440944"/>
            <a:ext cx="3446100" cy="1750448"/>
            <a:chOff x="4438733" y="1440944"/>
            <a:chExt cx="3446100" cy="1750448"/>
          </a:xfrm>
        </p:grpSpPr>
        <p:sp>
          <p:nvSpPr>
            <p:cNvPr id="126" name="Google Shape;126;p8"/>
            <p:cNvSpPr/>
            <p:nvPr/>
          </p:nvSpPr>
          <p:spPr>
            <a:xfrm>
              <a:off x="4438733" y="2960992"/>
              <a:ext cx="34461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Divide into chunks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>
              <a:off x="5473578" y="1440944"/>
              <a:ext cx="1428393" cy="1428393"/>
              <a:chOff x="9284553" y="3110087"/>
              <a:chExt cx="1428393" cy="1428393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9284553" y="3110087"/>
                <a:ext cx="1428393" cy="1428393"/>
              </a:xfrm>
              <a:prstGeom prst="ellipse">
                <a:avLst/>
              </a:prstGeom>
              <a:solidFill>
                <a:srgbClr val="FFFFFF">
                  <a:alpha val="29804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Text chunks.png" id="129" name="Google Shape;129;p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84553" y="3110087"/>
                <a:ext cx="1428300" cy="1428300"/>
              </a:xfrm>
              <a:prstGeom prst="ellipse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0" name="Google Shape;130;p8"/>
          <p:cNvGrpSpPr/>
          <p:nvPr/>
        </p:nvGrpSpPr>
        <p:grpSpPr>
          <a:xfrm>
            <a:off x="8542030" y="1440944"/>
            <a:ext cx="3048300" cy="1980848"/>
            <a:chOff x="8542030" y="1440944"/>
            <a:chExt cx="3048300" cy="1980848"/>
          </a:xfrm>
        </p:grpSpPr>
        <p:grpSp>
          <p:nvGrpSpPr>
            <p:cNvPr id="131" name="Google Shape;131;p8"/>
            <p:cNvGrpSpPr/>
            <p:nvPr/>
          </p:nvGrpSpPr>
          <p:grpSpPr>
            <a:xfrm>
              <a:off x="9351980" y="1440944"/>
              <a:ext cx="1428300" cy="1428300"/>
              <a:chOff x="7857480" y="2384387"/>
              <a:chExt cx="1428300" cy="1428300"/>
            </a:xfrm>
          </p:grpSpPr>
          <p:sp>
            <p:nvSpPr>
              <p:cNvPr id="132" name="Google Shape;132;p8"/>
              <p:cNvSpPr/>
              <p:nvPr/>
            </p:nvSpPr>
            <p:spPr>
              <a:xfrm>
                <a:off x="7857480" y="2384387"/>
                <a:ext cx="1428300" cy="1428300"/>
              </a:xfrm>
              <a:prstGeom prst="ellipse">
                <a:avLst/>
              </a:prstGeom>
              <a:solidFill>
                <a:srgbClr val="FFFFFF">
                  <a:alpha val="29804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Metadata.png" id="133" name="Google Shape;133;p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857480" y="2384387"/>
                <a:ext cx="1428300" cy="1428300"/>
              </a:xfrm>
              <a:prstGeom prst="ellipse">
                <a:avLst/>
              </a:prstGeom>
              <a:noFill/>
              <a:ln>
                <a:noFill/>
              </a:ln>
            </p:spPr>
          </p:pic>
        </p:grpSp>
        <p:sp>
          <p:nvSpPr>
            <p:cNvPr id="134" name="Google Shape;134;p8"/>
            <p:cNvSpPr/>
            <p:nvPr/>
          </p:nvSpPr>
          <p:spPr>
            <a:xfrm>
              <a:off x="8542030" y="2960992"/>
              <a:ext cx="3048300" cy="4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Vectorize and store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8"/>
          <p:cNvSpPr/>
          <p:nvPr/>
        </p:nvSpPr>
        <p:spPr>
          <a:xfrm>
            <a:off x="20691" y="3746583"/>
            <a:ext cx="121506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lang="en-US" sz="15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Keep in mind: the Encoder turns the text into a Vector. The Vector store is a Database that does quick lookup.</a:t>
            </a:r>
            <a:endParaRPr b="1" sz="15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t/>
            </a:r>
            <a:endParaRPr sz="14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t/>
            </a:r>
            <a:endParaRPr i="1" sz="14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798275" y="4354350"/>
            <a:ext cx="4489200" cy="13737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Popular Encoders:</a:t>
            </a:r>
            <a:endParaRPr b="1" sz="14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OpenAI text embedding</a:t>
            </a:r>
            <a:endParaRPr sz="14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Gemini embedding</a:t>
            </a:r>
            <a:endParaRPr sz="14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Hugging Face all-MiniLM-L6-v2</a:t>
            </a:r>
            <a:endParaRPr i="1" sz="14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810900" y="4354350"/>
            <a:ext cx="5505600" cy="13737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Popular Vectorstores:</a:t>
            </a:r>
            <a:br>
              <a:rPr b="1"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Open-Source: </a:t>
            </a:r>
            <a: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Chroma, Qdrant, FAISS (in-memory)</a:t>
            </a:r>
            <a:b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Paid &amp; scalable: Pinecone, Weaviate, …</a:t>
            </a:r>
            <a:b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4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Mainstream databases (Postgres, Mongo, Elastic, …)</a:t>
            </a:r>
            <a:endParaRPr i="1" sz="14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20700" y="6163474"/>
            <a:ext cx="121506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i="1"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choice of Vector Database is largely unrelated to the vector calculation and is a cost / performance tradeoff</a:t>
            </a:r>
            <a:endParaRPr b="1" i="1" sz="14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 REPORT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55% Towards Mastering LLMs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4_w5_2-2.png"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9"/>
          <p:cNvSpPr/>
          <p:nvPr/>
        </p:nvSpPr>
        <p:spPr>
          <a:xfrm>
            <a:off x="5156392" y="2193029"/>
            <a:ext cx="6897791" cy="201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60"/>
              <a:buFont typeface="Montserrat"/>
              <a:buNone/>
            </a:pPr>
            <a:r>
              <a:rPr b="1" i="0" lang="en-US" sz="126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156392" y="2571553"/>
            <a:ext cx="6897791" cy="136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including AI Assistants with Tools, and with open-source models with HuggingFace transformers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choose the right LLM for your project, backed by metrics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how RAG uses vector embeddings and vector datastores to add context to prompts, </a:t>
            </a: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turn documents into chunks, vectorize and store in Chroma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9"/>
          <p:cNvCxnSpPr/>
          <p:nvPr/>
        </p:nvCxnSpPr>
        <p:spPr>
          <a:xfrm>
            <a:off x="5156349" y="4217920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p9"/>
          <p:cNvSpPr/>
          <p:nvPr/>
        </p:nvSpPr>
        <p:spPr>
          <a:xfrm>
            <a:off x="5156392" y="4433895"/>
            <a:ext cx="6897791" cy="201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60"/>
              <a:buFont typeface="Montserrat"/>
              <a:buNone/>
            </a:pPr>
            <a:r>
              <a:rPr b="1" i="0" lang="en-US" sz="126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end of the next session you'll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5156392" y="4812419"/>
            <a:ext cx="6897791" cy="116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LangChain to build a RAG pipeline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Deliver a RAG-based expert question answerer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 Gradio based Chatbot for RAG application showing source documents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