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12192000"/>
  <p:embeddedFontLst>
    <p:embeddedFont>
      <p:font typeface="Montserrat"/>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368946d1c42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g368946d1c42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g368946d1c42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 name="Shape 15"/>
        <p:cNvGrpSpPr/>
        <p:nvPr/>
      </p:nvGrpSpPr>
      <p:grpSpPr>
        <a:xfrm>
          <a:off x="0" y="0"/>
          <a:ext cx="0" cy="0"/>
          <a:chOff x="0" y="0"/>
          <a:chExt cx="0" cy="0"/>
        </a:xfrm>
      </p:grpSpPr>
      <p:sp>
        <p:nvSpPr>
          <p:cNvPr id="16" name="Google Shape;16;p3"/>
          <p:cNvSpPr/>
          <p:nvPr/>
        </p:nvSpPr>
        <p:spPr>
          <a:xfrm>
            <a:off x="2815838" y="582740"/>
            <a:ext cx="6557275" cy="446150"/>
          </a:xfrm>
          <a:prstGeom prst="rect">
            <a:avLst/>
          </a:prstGeom>
          <a:noFill/>
          <a:ln>
            <a:noFill/>
          </a:ln>
        </p:spPr>
        <p:txBody>
          <a:bodyPr anchorCtr="0" anchor="ctr" bIns="0" lIns="0" spcFirstLastPara="1" rIns="0" wrap="square" tIns="0">
            <a:noAutofit/>
          </a:bodyPr>
          <a:lstStyle/>
          <a:p>
            <a:pPr indent="0" lvl="0" marL="0" marR="0" rtl="0" algn="ctr">
              <a:lnSpc>
                <a:spcPct val="104989"/>
              </a:lnSpc>
              <a:spcBef>
                <a:spcPts val="0"/>
              </a:spcBef>
              <a:spcAft>
                <a:spcPts val="0"/>
              </a:spcAft>
              <a:buClr>
                <a:srgbClr val="FFFFFF"/>
              </a:buClr>
              <a:buSzPts val="3347"/>
              <a:buFont typeface="Montserrat"/>
              <a:buNone/>
            </a:pPr>
            <a:r>
              <a:rPr b="0" i="0" lang="en-US" sz="3347" u="none" cap="none" strike="noStrike">
                <a:solidFill>
                  <a:srgbClr val="FFFFFF"/>
                </a:solidFill>
                <a:latin typeface="Montserrat"/>
                <a:ea typeface="Montserrat"/>
                <a:cs typeface="Montserrat"/>
                <a:sym typeface="Montserrat"/>
              </a:rPr>
              <a:t>LLM Engineering</a:t>
            </a:r>
            <a:endParaRPr b="0" i="0" sz="1800" u="none" cap="none" strike="noStrike">
              <a:solidFill>
                <a:schemeClr val="dk1"/>
              </a:solidFill>
              <a:latin typeface="Arial"/>
              <a:ea typeface="Arial"/>
              <a:cs typeface="Arial"/>
              <a:sym typeface="Arial"/>
            </a:endParaRPr>
          </a:p>
        </p:txBody>
      </p:sp>
      <p:sp>
        <p:nvSpPr>
          <p:cNvPr id="17" name="Google Shape;17;p3"/>
          <p:cNvSpPr/>
          <p:nvPr/>
        </p:nvSpPr>
        <p:spPr>
          <a:xfrm>
            <a:off x="2815838" y="1075163"/>
            <a:ext cx="6557275" cy="356949"/>
          </a:xfrm>
          <a:prstGeom prst="rect">
            <a:avLst/>
          </a:prstGeom>
          <a:noFill/>
          <a:ln>
            <a:noFill/>
          </a:ln>
        </p:spPr>
        <p:txBody>
          <a:bodyPr anchorCtr="0" anchor="ctr" bIns="0" lIns="0" spcFirstLastPara="1" rIns="0" wrap="square" tIns="0">
            <a:noAutofit/>
          </a:bodyPr>
          <a:lstStyle/>
          <a:p>
            <a:pPr indent="0" lvl="0" marL="0" marR="0" rtl="0" algn="ctr">
              <a:lnSpc>
                <a:spcPct val="125997"/>
              </a:lnSpc>
              <a:spcBef>
                <a:spcPts val="0"/>
              </a:spcBef>
              <a:spcAft>
                <a:spcPts val="0"/>
              </a:spcAft>
              <a:buClr>
                <a:srgbClr val="FFFFFF"/>
              </a:buClr>
              <a:buSzPts val="2231"/>
              <a:buFont typeface="Montserrat"/>
              <a:buNone/>
            </a:pPr>
            <a:r>
              <a:rPr b="0" i="0" lang="en-US" sz="2231" u="none" cap="none" strike="noStrike">
                <a:solidFill>
                  <a:srgbClr val="FFFFFF"/>
                </a:solidFill>
                <a:latin typeface="Montserrat"/>
                <a:ea typeface="Montserrat"/>
                <a:cs typeface="Montserrat"/>
                <a:sym typeface="Montserrat"/>
              </a:rPr>
              <a:t>MASTER AI &amp; LARGE LANGUAGE MODELS</a:t>
            </a:r>
            <a:endParaRPr b="0" i="0" sz="1800" u="none" cap="none" strike="noStrike">
              <a:solidFill>
                <a:schemeClr val="dk1"/>
              </a:solidFill>
              <a:latin typeface="Arial"/>
              <a:ea typeface="Arial"/>
              <a:cs typeface="Arial"/>
              <a:sym typeface="Arial"/>
            </a:endParaRPr>
          </a:p>
        </p:txBody>
      </p:sp>
      <p:pic>
        <p:nvPicPr>
          <p:cNvPr id="18" name="Google Shape;18;p3" title="Brain_V4.png"/>
          <p:cNvPicPr preferRelativeResize="0"/>
          <p:nvPr/>
        </p:nvPicPr>
        <p:blipFill rotWithShape="1">
          <a:blip r:embed="rId3">
            <a:alphaModFix/>
          </a:blip>
          <a:srcRect b="0" l="1700" r="1700" t="0"/>
          <a:stretch/>
        </p:blipFill>
        <p:spPr>
          <a:xfrm>
            <a:off x="0" y="1779900"/>
            <a:ext cx="12192000" cy="507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 name="Shape 23"/>
        <p:cNvGrpSpPr/>
        <p:nvPr/>
      </p:nvGrpSpPr>
      <p:grpSpPr>
        <a:xfrm>
          <a:off x="0" y="0"/>
          <a:ext cx="0" cy="0"/>
          <a:chOff x="0" y="0"/>
          <a:chExt cx="0" cy="0"/>
        </a:xfrm>
      </p:grpSpPr>
      <p:sp>
        <p:nvSpPr>
          <p:cNvPr id="24" name="Google Shape;24;p4"/>
          <p:cNvSpPr/>
          <p:nvPr/>
        </p:nvSpPr>
        <p:spPr>
          <a:xfrm>
            <a:off x="4528610" y="419516"/>
            <a:ext cx="7526284" cy="25495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62A8BB"/>
              </a:buClr>
              <a:buSzPts val="1594"/>
              <a:buFont typeface="Montserrat"/>
              <a:buNone/>
            </a:pPr>
            <a:r>
              <a:rPr b="0" i="0" lang="en-US" sz="1594" u="none" cap="none" strike="noStrike">
                <a:solidFill>
                  <a:srgbClr val="62A8BB"/>
                </a:solidFill>
                <a:latin typeface="Montserrat"/>
                <a:ea typeface="Montserrat"/>
                <a:cs typeface="Montserrat"/>
                <a:sym typeface="Montserrat"/>
              </a:rPr>
              <a:t>DAY 3</a:t>
            </a:r>
            <a:endParaRPr b="0" i="0" sz="1800" u="none" cap="none" strike="noStrike">
              <a:solidFill>
                <a:schemeClr val="dk1"/>
              </a:solidFill>
              <a:latin typeface="Arial"/>
              <a:ea typeface="Arial"/>
              <a:cs typeface="Arial"/>
              <a:sym typeface="Arial"/>
            </a:endParaRPr>
          </a:p>
        </p:txBody>
      </p:sp>
      <p:sp>
        <p:nvSpPr>
          <p:cNvPr id="25" name="Google Shape;25;p4"/>
          <p:cNvSpPr/>
          <p:nvPr/>
        </p:nvSpPr>
        <p:spPr>
          <a:xfrm>
            <a:off x="4528610" y="790154"/>
            <a:ext cx="7526284"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Onwards</a:t>
            </a:r>
            <a:endParaRPr b="0" i="0" sz="1800" u="none" cap="none" strike="noStrike">
              <a:solidFill>
                <a:schemeClr val="dk1"/>
              </a:solidFill>
              <a:latin typeface="Arial"/>
              <a:ea typeface="Arial"/>
              <a:cs typeface="Arial"/>
              <a:sym typeface="Arial"/>
            </a:endParaRPr>
          </a:p>
        </p:txBody>
      </p:sp>
      <p:sp>
        <p:nvSpPr>
          <p:cNvPr id="26" name="Google Shape;26;p4"/>
          <p:cNvSpPr/>
          <p:nvPr/>
        </p:nvSpPr>
        <p:spPr>
          <a:xfrm>
            <a:off x="0" y="0"/>
            <a:ext cx="4394583" cy="6856286"/>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05_w1_3-1.png" id="27" name="Google Shape;27;p4"/>
          <p:cNvPicPr preferRelativeResize="0"/>
          <p:nvPr/>
        </p:nvPicPr>
        <p:blipFill rotWithShape="1">
          <a:blip r:embed="rId3">
            <a:alphaModFix/>
          </a:blip>
          <a:srcRect b="4017" l="5790" r="5790" t="4017"/>
          <a:stretch/>
        </p:blipFill>
        <p:spPr>
          <a:xfrm>
            <a:off x="0" y="0"/>
            <a:ext cx="4394583" cy="6856286"/>
          </a:xfrm>
          <a:prstGeom prst="rect">
            <a:avLst/>
          </a:prstGeom>
          <a:noFill/>
          <a:ln>
            <a:noFill/>
          </a:ln>
        </p:spPr>
      </p:pic>
      <p:sp>
        <p:nvSpPr>
          <p:cNvPr id="28" name="Google Shape;28;p4"/>
          <p:cNvSpPr/>
          <p:nvPr/>
        </p:nvSpPr>
        <p:spPr>
          <a:xfrm>
            <a:off x="5156392" y="2186631"/>
            <a:ext cx="6897791" cy="230403"/>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62A8BB"/>
              </a:buClr>
              <a:buSzPts val="1440"/>
              <a:buFont typeface="Montserrat"/>
              <a:buNone/>
            </a:pPr>
            <a:r>
              <a:rPr b="1" i="0" lang="en-US" sz="1440" u="none" cap="none" strike="noStrike">
                <a:solidFill>
                  <a:srgbClr val="62A8BB"/>
                </a:solidFill>
                <a:latin typeface="Montserrat"/>
                <a:ea typeface="Montserrat"/>
                <a:cs typeface="Montserrat"/>
                <a:sym typeface="Montserrat"/>
              </a:rPr>
              <a:t>What you can do ALREADY </a:t>
            </a:r>
            <a:endParaRPr b="0" i="0" sz="1800" u="none" cap="none" strike="noStrike">
              <a:solidFill>
                <a:schemeClr val="dk1"/>
              </a:solidFill>
              <a:latin typeface="Arial"/>
              <a:ea typeface="Arial"/>
              <a:cs typeface="Arial"/>
              <a:sym typeface="Arial"/>
            </a:endParaRPr>
          </a:p>
        </p:txBody>
      </p:sp>
      <p:sp>
        <p:nvSpPr>
          <p:cNvPr id="29" name="Google Shape;29;p4"/>
          <p:cNvSpPr/>
          <p:nvPr/>
        </p:nvSpPr>
        <p:spPr>
          <a:xfrm>
            <a:off x="5156392" y="2619315"/>
            <a:ext cx="6897791" cy="1095771"/>
          </a:xfrm>
          <a:prstGeom prst="rect">
            <a:avLst/>
          </a:prstGeom>
          <a:noFill/>
          <a:ln>
            <a:noFill/>
          </a:ln>
        </p:spPr>
        <p:txBody>
          <a:bodyPr anchorCtr="0" anchor="t" bIns="0" lIns="0" spcFirstLastPara="1" rIns="0" wrap="square" tIns="0">
            <a:noAutofit/>
          </a:bodyPr>
          <a:lstStyle/>
          <a:p>
            <a:pPr indent="-242900" lvl="0" marL="242900" marR="0" rtl="0" algn="l">
              <a:lnSpc>
                <a:spcPct val="125972"/>
              </a:lnSpc>
              <a:spcBef>
                <a:spcPts val="0"/>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Understand the progression to become proficient</a:t>
            </a:r>
            <a:endParaRPr/>
          </a:p>
          <a:p>
            <a:pPr indent="-242900" lvl="0" marL="242900" marR="0" rtl="0" algn="l">
              <a:lnSpc>
                <a:spcPct val="125972"/>
              </a:lnSpc>
              <a:spcBef>
                <a:spcPts val="1562"/>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Have a first impression of the frontier LLMs</a:t>
            </a:r>
            <a:endParaRPr/>
          </a:p>
          <a:p>
            <a:pPr indent="-242900" lvl="0" marL="242900" marR="0" rtl="0" algn="l">
              <a:lnSpc>
                <a:spcPct val="125972"/>
              </a:lnSpc>
              <a:spcBef>
                <a:spcPts val="1562"/>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From Day 1: use OpenAI API to make summaries</a:t>
            </a:r>
            <a:endParaRPr b="0" i="0" sz="1800" u="none" cap="none" strike="noStrike">
              <a:solidFill>
                <a:schemeClr val="dk1"/>
              </a:solidFill>
              <a:latin typeface="Arial"/>
              <a:ea typeface="Arial"/>
              <a:cs typeface="Arial"/>
              <a:sym typeface="Arial"/>
            </a:endParaRPr>
          </a:p>
        </p:txBody>
      </p:sp>
      <p:cxnSp>
        <p:nvCxnSpPr>
          <p:cNvPr id="30" name="Google Shape;30;p4"/>
          <p:cNvCxnSpPr/>
          <p:nvPr/>
        </p:nvCxnSpPr>
        <p:spPr>
          <a:xfrm>
            <a:off x="5156347" y="3892370"/>
            <a:ext cx="6270722" cy="0"/>
          </a:xfrm>
          <a:prstGeom prst="straightConnector1">
            <a:avLst/>
          </a:prstGeom>
          <a:noFill/>
          <a:ln cap="flat" cmpd="sng" w="12700">
            <a:solidFill>
              <a:srgbClr val="FFFFFF">
                <a:alpha val="20000"/>
              </a:srgbClr>
            </a:solidFill>
            <a:prstDash val="solid"/>
            <a:miter lim="800000"/>
            <a:headEnd len="sm" w="sm" type="none"/>
            <a:tailEnd len="sm" w="sm" type="none"/>
          </a:ln>
        </p:spPr>
      </p:cxnSp>
      <p:sp>
        <p:nvSpPr>
          <p:cNvPr id="31" name="Google Shape;31;p4"/>
          <p:cNvSpPr/>
          <p:nvPr/>
        </p:nvSpPr>
        <p:spPr>
          <a:xfrm>
            <a:off x="5156392" y="4260107"/>
            <a:ext cx="6897791" cy="230403"/>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62A8BB"/>
              </a:buClr>
              <a:buSzPts val="1440"/>
              <a:buFont typeface="Montserrat"/>
              <a:buNone/>
            </a:pPr>
            <a:r>
              <a:rPr b="1" i="0" lang="en-US" sz="1440" u="none" cap="none" strike="noStrike">
                <a:solidFill>
                  <a:srgbClr val="62A8BB"/>
                </a:solidFill>
                <a:latin typeface="Montserrat"/>
                <a:ea typeface="Montserrat"/>
                <a:cs typeface="Montserrat"/>
                <a:sym typeface="Montserrat"/>
              </a:rPr>
              <a:t>What you'll be able to do today - deeper intuition into frontier</a:t>
            </a:r>
            <a:endParaRPr b="0" i="0" sz="1800" u="none" cap="none" strike="noStrike">
              <a:solidFill>
                <a:schemeClr val="dk1"/>
              </a:solidFill>
              <a:latin typeface="Arial"/>
              <a:ea typeface="Arial"/>
              <a:cs typeface="Arial"/>
              <a:sym typeface="Arial"/>
            </a:endParaRPr>
          </a:p>
        </p:txBody>
      </p:sp>
      <p:sp>
        <p:nvSpPr>
          <p:cNvPr id="32" name="Google Shape;32;p4"/>
          <p:cNvSpPr/>
          <p:nvPr/>
        </p:nvSpPr>
        <p:spPr>
          <a:xfrm>
            <a:off x="5156392" y="4692791"/>
            <a:ext cx="6897791" cy="1095771"/>
          </a:xfrm>
          <a:prstGeom prst="rect">
            <a:avLst/>
          </a:prstGeom>
          <a:noFill/>
          <a:ln>
            <a:noFill/>
          </a:ln>
        </p:spPr>
        <p:txBody>
          <a:bodyPr anchorCtr="0" anchor="t" bIns="0" lIns="0" spcFirstLastPara="1" rIns="0" wrap="square" tIns="0">
            <a:noAutofit/>
          </a:bodyPr>
          <a:lstStyle/>
          <a:p>
            <a:pPr indent="-242900" lvl="0" marL="242900" marR="0" rtl="0" algn="l">
              <a:lnSpc>
                <a:spcPct val="125972"/>
              </a:lnSpc>
              <a:spcBef>
                <a:spcPts val="0"/>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Compare the top Frontier models; Chat </a:t>
            </a:r>
            <a:r>
              <a:rPr lang="en-US" sz="1440">
                <a:solidFill>
                  <a:srgbClr val="FFFFFF"/>
                </a:solidFill>
                <a:latin typeface="Montserrat"/>
                <a:ea typeface="Montserrat"/>
                <a:cs typeface="Montserrat"/>
                <a:sym typeface="Montserrat"/>
              </a:rPr>
              <a:t>vs Reasoning</a:t>
            </a:r>
            <a:endParaRPr/>
          </a:p>
          <a:p>
            <a:pPr indent="-242900" lvl="0" marL="242900" marR="0" rtl="0" algn="l">
              <a:lnSpc>
                <a:spcPct val="125972"/>
              </a:lnSpc>
              <a:spcBef>
                <a:spcPts val="1562"/>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Appreciate what they do well</a:t>
            </a:r>
            <a:endParaRPr/>
          </a:p>
          <a:p>
            <a:pPr indent="-242900" lvl="0" marL="242900" marR="0" rtl="0" algn="l">
              <a:lnSpc>
                <a:spcPct val="125972"/>
              </a:lnSpc>
              <a:spcBef>
                <a:spcPts val="1562"/>
              </a:spcBef>
              <a:spcAft>
                <a:spcPts val="0"/>
              </a:spcAft>
              <a:buClr>
                <a:srgbClr val="FFFFFF"/>
              </a:buClr>
              <a:buSzPts val="1440"/>
              <a:buFont typeface="Montserrat"/>
              <a:buChar char="•"/>
            </a:pPr>
            <a:r>
              <a:rPr b="0" i="0" lang="en-US" sz="1440" u="none" cap="none" strike="noStrike">
                <a:solidFill>
                  <a:srgbClr val="FFFFFF"/>
                </a:solidFill>
                <a:latin typeface="Montserrat"/>
                <a:ea typeface="Montserrat"/>
                <a:cs typeface="Montserrat"/>
                <a:sym typeface="Montserrat"/>
              </a:rPr>
              <a:t>Recognize where they struggle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 name="Shape 37"/>
        <p:cNvGrpSpPr/>
        <p:nvPr/>
      </p:nvGrpSpPr>
      <p:grpSpPr>
        <a:xfrm>
          <a:off x="0" y="0"/>
          <a:ext cx="0" cy="0"/>
          <a:chOff x="0" y="0"/>
          <a:chExt cx="0" cy="0"/>
        </a:xfrm>
      </p:grpSpPr>
      <p:sp>
        <p:nvSpPr>
          <p:cNvPr id="38" name="Google Shape;38;p5"/>
          <p:cNvSpPr/>
          <p:nvPr/>
        </p:nvSpPr>
        <p:spPr>
          <a:xfrm>
            <a:off x="0" y="362827"/>
            <a:ext cx="12189000" cy="5100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lang="en-US" sz="3188">
                <a:solidFill>
                  <a:srgbClr val="FFFFFF"/>
                </a:solidFill>
                <a:latin typeface="Montserrat"/>
                <a:ea typeface="Montserrat"/>
                <a:cs typeface="Montserrat"/>
                <a:sym typeface="Montserrat"/>
              </a:rPr>
              <a:t>LLMS COME IN 3 FLAVORS</a:t>
            </a:r>
            <a:endParaRPr b="0" i="0" sz="1800" u="none" cap="none" strike="noStrike">
              <a:solidFill>
                <a:schemeClr val="dk1"/>
              </a:solidFill>
              <a:latin typeface="Arial"/>
              <a:ea typeface="Arial"/>
              <a:cs typeface="Arial"/>
              <a:sym typeface="Arial"/>
            </a:endParaRPr>
          </a:p>
        </p:txBody>
      </p:sp>
      <p:grpSp>
        <p:nvGrpSpPr>
          <p:cNvPr id="39" name="Google Shape;39;p5"/>
          <p:cNvGrpSpPr/>
          <p:nvPr/>
        </p:nvGrpSpPr>
        <p:grpSpPr>
          <a:xfrm>
            <a:off x="2990625" y="1714887"/>
            <a:ext cx="4455603" cy="1083675"/>
            <a:chOff x="2990625" y="1714887"/>
            <a:chExt cx="4455603" cy="1083675"/>
          </a:xfrm>
        </p:grpSpPr>
        <p:sp>
          <p:nvSpPr>
            <p:cNvPr id="40" name="Google Shape;40;p5"/>
            <p:cNvSpPr/>
            <p:nvPr/>
          </p:nvSpPr>
          <p:spPr>
            <a:xfrm>
              <a:off x="4324728" y="2141537"/>
              <a:ext cx="31215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Base</a:t>
              </a:r>
              <a:endParaRPr b="0" i="0" sz="1800" u="none" cap="none" strike="noStrike">
                <a:solidFill>
                  <a:schemeClr val="dk1"/>
                </a:solidFill>
                <a:latin typeface="Arial"/>
                <a:ea typeface="Arial"/>
                <a:cs typeface="Arial"/>
                <a:sym typeface="Arial"/>
              </a:endParaRPr>
            </a:p>
          </p:txBody>
        </p:sp>
        <p:pic>
          <p:nvPicPr>
            <p:cNvPr id="41" name="Google Shape;41;p5"/>
            <p:cNvPicPr preferRelativeResize="0"/>
            <p:nvPr/>
          </p:nvPicPr>
          <p:blipFill>
            <a:blip r:embed="rId3">
              <a:alphaModFix/>
            </a:blip>
            <a:stretch>
              <a:fillRect/>
            </a:stretch>
          </p:blipFill>
          <p:spPr>
            <a:xfrm>
              <a:off x="2990625" y="1714887"/>
              <a:ext cx="1083675" cy="1083675"/>
            </a:xfrm>
            <a:prstGeom prst="rect">
              <a:avLst/>
            </a:prstGeom>
            <a:noFill/>
            <a:ln>
              <a:noFill/>
            </a:ln>
          </p:spPr>
        </p:pic>
      </p:grpSp>
      <p:grpSp>
        <p:nvGrpSpPr>
          <p:cNvPr id="42" name="Google Shape;42;p5"/>
          <p:cNvGrpSpPr/>
          <p:nvPr/>
        </p:nvGrpSpPr>
        <p:grpSpPr>
          <a:xfrm>
            <a:off x="3010200" y="3369399"/>
            <a:ext cx="4938828" cy="1044525"/>
            <a:chOff x="3010200" y="3369399"/>
            <a:chExt cx="4938828" cy="1044525"/>
          </a:xfrm>
        </p:grpSpPr>
        <p:sp>
          <p:nvSpPr>
            <p:cNvPr id="43" name="Google Shape;43;p5"/>
            <p:cNvSpPr/>
            <p:nvPr/>
          </p:nvSpPr>
          <p:spPr>
            <a:xfrm>
              <a:off x="4324728" y="3821037"/>
              <a:ext cx="36243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Chat / Instruct</a:t>
              </a:r>
              <a:endParaRPr b="0" i="0" sz="1800" u="none" cap="none" strike="noStrike">
                <a:solidFill>
                  <a:schemeClr val="dk1"/>
                </a:solidFill>
                <a:latin typeface="Arial"/>
                <a:ea typeface="Arial"/>
                <a:cs typeface="Arial"/>
                <a:sym typeface="Arial"/>
              </a:endParaRPr>
            </a:p>
          </p:txBody>
        </p:sp>
        <p:pic>
          <p:nvPicPr>
            <p:cNvPr id="44" name="Google Shape;44;p5"/>
            <p:cNvPicPr preferRelativeResize="0"/>
            <p:nvPr/>
          </p:nvPicPr>
          <p:blipFill>
            <a:blip r:embed="rId4">
              <a:alphaModFix/>
            </a:blip>
            <a:stretch>
              <a:fillRect/>
            </a:stretch>
          </p:blipFill>
          <p:spPr>
            <a:xfrm>
              <a:off x="3010200" y="3369399"/>
              <a:ext cx="1044525" cy="1044525"/>
            </a:xfrm>
            <a:prstGeom prst="rect">
              <a:avLst/>
            </a:prstGeom>
            <a:noFill/>
            <a:ln>
              <a:noFill/>
            </a:ln>
          </p:spPr>
        </p:pic>
      </p:grpSp>
      <p:grpSp>
        <p:nvGrpSpPr>
          <p:cNvPr id="45" name="Google Shape;45;p5"/>
          <p:cNvGrpSpPr/>
          <p:nvPr/>
        </p:nvGrpSpPr>
        <p:grpSpPr>
          <a:xfrm>
            <a:off x="3059450" y="5007400"/>
            <a:ext cx="4491478" cy="946025"/>
            <a:chOff x="3059450" y="5007400"/>
            <a:chExt cx="4491478" cy="946025"/>
          </a:xfrm>
        </p:grpSpPr>
        <p:sp>
          <p:nvSpPr>
            <p:cNvPr id="46" name="Google Shape;46;p5"/>
            <p:cNvSpPr/>
            <p:nvPr/>
          </p:nvSpPr>
          <p:spPr>
            <a:xfrm>
              <a:off x="4324728" y="5500537"/>
              <a:ext cx="32262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Reasoning / Thinking</a:t>
              </a:r>
              <a:endParaRPr b="0" i="0" sz="1800" u="none" cap="none" strike="noStrike">
                <a:solidFill>
                  <a:schemeClr val="dk1"/>
                </a:solidFill>
                <a:latin typeface="Arial"/>
                <a:ea typeface="Arial"/>
                <a:cs typeface="Arial"/>
                <a:sym typeface="Arial"/>
              </a:endParaRPr>
            </a:p>
          </p:txBody>
        </p:sp>
        <p:pic>
          <p:nvPicPr>
            <p:cNvPr id="47" name="Google Shape;47;p5"/>
            <p:cNvPicPr preferRelativeResize="0"/>
            <p:nvPr/>
          </p:nvPicPr>
          <p:blipFill>
            <a:blip r:embed="rId5">
              <a:alphaModFix/>
            </a:blip>
            <a:stretch>
              <a:fillRect/>
            </a:stretch>
          </p:blipFill>
          <p:spPr>
            <a:xfrm>
              <a:off x="3059450" y="5007400"/>
              <a:ext cx="946025" cy="946025"/>
            </a:xfrm>
            <a:prstGeom prst="rect">
              <a:avLst/>
            </a:prstGeom>
            <a:noFill/>
            <a:ln>
              <a:noFill/>
            </a:ln>
          </p:spPr>
        </p:pic>
      </p:grpSp>
      <p:grpSp>
        <p:nvGrpSpPr>
          <p:cNvPr id="48" name="Google Shape;48;p5"/>
          <p:cNvGrpSpPr/>
          <p:nvPr/>
        </p:nvGrpSpPr>
        <p:grpSpPr>
          <a:xfrm>
            <a:off x="7086075" y="3524900"/>
            <a:ext cx="3777203" cy="2462400"/>
            <a:chOff x="7086075" y="3524900"/>
            <a:chExt cx="3777203" cy="2462400"/>
          </a:xfrm>
        </p:grpSpPr>
        <p:sp>
          <p:nvSpPr>
            <p:cNvPr id="49" name="Google Shape;49;p5"/>
            <p:cNvSpPr/>
            <p:nvPr/>
          </p:nvSpPr>
          <p:spPr>
            <a:xfrm>
              <a:off x="7086075" y="3524900"/>
              <a:ext cx="360300" cy="2462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50" name="Google Shape;50;p5"/>
            <p:cNvSpPr/>
            <p:nvPr/>
          </p:nvSpPr>
          <p:spPr>
            <a:xfrm>
              <a:off x="7637078" y="4640912"/>
              <a:ext cx="32262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Hybrid</a:t>
              </a:r>
              <a:endParaRPr b="0" i="0" sz="1800" u="none" cap="none" strike="noStrike">
                <a:solidFill>
                  <a:schemeClr val="dk1"/>
                </a:solidFill>
                <a:latin typeface="Arial"/>
                <a:ea typeface="Arial"/>
                <a:cs typeface="Arial"/>
                <a:sym typeface="Arial"/>
              </a:endParaRPr>
            </a:p>
          </p:txBody>
        </p:sp>
      </p:grpSp>
      <p:sp>
        <p:nvSpPr>
          <p:cNvPr id="51" name="Google Shape;51;p5"/>
          <p:cNvSpPr/>
          <p:nvPr/>
        </p:nvSpPr>
        <p:spPr>
          <a:xfrm>
            <a:off x="4409755" y="5798381"/>
            <a:ext cx="31215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lang="en-US" sz="1140">
                <a:solidFill>
                  <a:srgbClr val="FFFFFF"/>
                </a:solidFill>
                <a:latin typeface="Montserrat"/>
                <a:ea typeface="Montserrat"/>
                <a:cs typeface="Montserrat"/>
                <a:sym typeface="Montserrat"/>
              </a:rPr>
              <a:t>“budget forcing”</a:t>
            </a:r>
            <a:endParaRPr b="0" i="0" sz="1500" u="none" cap="none" strike="noStrike">
              <a:solidFill>
                <a:schemeClr val="dk1"/>
              </a:solidFill>
              <a:latin typeface="Arial"/>
              <a:ea typeface="Arial"/>
              <a:cs typeface="Arial"/>
              <a:sym typeface="Arial"/>
            </a:endParaRPr>
          </a:p>
        </p:txBody>
      </p:sp>
      <p:sp>
        <p:nvSpPr>
          <p:cNvPr id="52" name="Google Shape;52;p5"/>
          <p:cNvSpPr/>
          <p:nvPr/>
        </p:nvSpPr>
        <p:spPr>
          <a:xfrm>
            <a:off x="432859" y="5365206"/>
            <a:ext cx="31215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i="1" lang="en-US" sz="1140">
                <a:solidFill>
                  <a:schemeClr val="accent3"/>
                </a:solidFill>
                <a:latin typeface="Montserrat"/>
                <a:ea typeface="Montserrat"/>
                <a:cs typeface="Montserrat"/>
                <a:sym typeface="Montserrat"/>
              </a:rPr>
              <a:t>Better for problem solving</a:t>
            </a:r>
            <a:endParaRPr b="0" i="1" sz="1500" u="none" cap="none" strike="noStrike">
              <a:solidFill>
                <a:schemeClr val="accent3"/>
              </a:solidFill>
              <a:latin typeface="Arial"/>
              <a:ea typeface="Arial"/>
              <a:cs typeface="Arial"/>
              <a:sym typeface="Arial"/>
            </a:endParaRPr>
          </a:p>
        </p:txBody>
      </p:sp>
      <p:sp>
        <p:nvSpPr>
          <p:cNvPr id="53" name="Google Shape;53;p5"/>
          <p:cNvSpPr/>
          <p:nvPr/>
        </p:nvSpPr>
        <p:spPr>
          <a:xfrm>
            <a:off x="432859" y="3787781"/>
            <a:ext cx="31215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i="1" lang="en-US" sz="1140">
                <a:solidFill>
                  <a:schemeClr val="accent3"/>
                </a:solidFill>
                <a:latin typeface="Montserrat"/>
                <a:ea typeface="Montserrat"/>
                <a:cs typeface="Montserrat"/>
                <a:sym typeface="Montserrat"/>
              </a:rPr>
              <a:t>Better for interactive use cases</a:t>
            </a:r>
            <a:endParaRPr i="1" sz="1140">
              <a:solidFill>
                <a:schemeClr val="accent3"/>
              </a:solidFill>
              <a:latin typeface="Montserrat"/>
              <a:ea typeface="Montserrat"/>
              <a:cs typeface="Montserrat"/>
              <a:sym typeface="Montserrat"/>
            </a:endParaRPr>
          </a:p>
          <a:p>
            <a:pPr indent="0" lvl="0" marL="0" marR="0" rtl="0" algn="l">
              <a:lnSpc>
                <a:spcPct val="125972"/>
              </a:lnSpc>
              <a:spcBef>
                <a:spcPts val="0"/>
              </a:spcBef>
              <a:spcAft>
                <a:spcPts val="0"/>
              </a:spcAft>
              <a:buClr>
                <a:srgbClr val="FFFFFF"/>
              </a:buClr>
              <a:buSzPts val="1440"/>
              <a:buFont typeface="Montserrat"/>
              <a:buNone/>
            </a:pPr>
            <a:r>
              <a:rPr i="1" lang="en-US" sz="1140">
                <a:solidFill>
                  <a:schemeClr val="accent3"/>
                </a:solidFill>
                <a:latin typeface="Montserrat"/>
                <a:ea typeface="Montserrat"/>
                <a:cs typeface="Montserrat"/>
                <a:sym typeface="Montserrat"/>
              </a:rPr>
              <a:t>and creative content generation?</a:t>
            </a:r>
            <a:endParaRPr i="1" sz="1140">
              <a:solidFill>
                <a:schemeClr val="accent3"/>
              </a:solidFill>
              <a:latin typeface="Montserrat"/>
              <a:ea typeface="Montserrat"/>
              <a:cs typeface="Montserrat"/>
              <a:sym typeface="Montserrat"/>
            </a:endParaRPr>
          </a:p>
        </p:txBody>
      </p:sp>
      <p:sp>
        <p:nvSpPr>
          <p:cNvPr id="54" name="Google Shape;54;p5"/>
          <p:cNvSpPr/>
          <p:nvPr/>
        </p:nvSpPr>
        <p:spPr>
          <a:xfrm>
            <a:off x="432859" y="2177364"/>
            <a:ext cx="3121500" cy="2304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FFFFFF"/>
              </a:buClr>
              <a:buSzPts val="1440"/>
              <a:buFont typeface="Montserrat"/>
              <a:buNone/>
            </a:pPr>
            <a:r>
              <a:rPr i="1" lang="en-US" sz="1140">
                <a:solidFill>
                  <a:schemeClr val="accent3"/>
                </a:solidFill>
                <a:latin typeface="Montserrat"/>
                <a:ea typeface="Montserrat"/>
                <a:cs typeface="Montserrat"/>
                <a:sym typeface="Montserrat"/>
              </a:rPr>
              <a:t>Better for fine-tuning to</a:t>
            </a:r>
            <a:endParaRPr i="1" sz="1140">
              <a:solidFill>
                <a:schemeClr val="accent3"/>
              </a:solidFill>
              <a:latin typeface="Montserrat"/>
              <a:ea typeface="Montserrat"/>
              <a:cs typeface="Montserrat"/>
              <a:sym typeface="Montserrat"/>
            </a:endParaRPr>
          </a:p>
          <a:p>
            <a:pPr indent="0" lvl="0" marL="0" marR="0" rtl="0" algn="l">
              <a:lnSpc>
                <a:spcPct val="125972"/>
              </a:lnSpc>
              <a:spcBef>
                <a:spcPts val="0"/>
              </a:spcBef>
              <a:spcAft>
                <a:spcPts val="0"/>
              </a:spcAft>
              <a:buClr>
                <a:srgbClr val="FFFFFF"/>
              </a:buClr>
              <a:buSzPts val="1440"/>
              <a:buFont typeface="Montserrat"/>
              <a:buNone/>
            </a:pPr>
            <a:r>
              <a:rPr i="1" lang="en-US" sz="1140">
                <a:solidFill>
                  <a:schemeClr val="accent3"/>
                </a:solidFill>
                <a:latin typeface="Montserrat"/>
                <a:ea typeface="Montserrat"/>
                <a:cs typeface="Montserrat"/>
                <a:sym typeface="Montserrat"/>
              </a:rPr>
              <a:t>learn a new skill</a:t>
            </a:r>
            <a:endParaRPr i="1" sz="1140">
              <a:solidFill>
                <a:schemeClr val="accent3"/>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 name="Shape 59"/>
        <p:cNvGrpSpPr/>
        <p:nvPr/>
      </p:nvGrpSpPr>
      <p:grpSpPr>
        <a:xfrm>
          <a:off x="0" y="0"/>
          <a:ext cx="0" cy="0"/>
          <a:chOff x="0" y="0"/>
          <a:chExt cx="0" cy="0"/>
        </a:xfrm>
      </p:grpSpPr>
      <p:sp>
        <p:nvSpPr>
          <p:cNvPr id="60" name="Google Shape;60;p6"/>
          <p:cNvSpPr/>
          <p:nvPr/>
        </p:nvSpPr>
        <p:spPr>
          <a:xfrm>
            <a:off x="0" y="362827"/>
            <a:ext cx="12188952"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Frontier models and their </a:t>
            </a:r>
            <a:r>
              <a:rPr lang="en-US" sz="3188">
                <a:solidFill>
                  <a:srgbClr val="FFFFFF"/>
                </a:solidFill>
                <a:latin typeface="Montserrat"/>
                <a:ea typeface="Montserrat"/>
                <a:cs typeface="Montserrat"/>
                <a:sym typeface="Montserrat"/>
              </a:rPr>
              <a:t>Chat Products</a:t>
            </a:r>
            <a:endParaRPr b="0" i="0" sz="1800" u="none" cap="none" strike="noStrike">
              <a:solidFill>
                <a:schemeClr val="dk1"/>
              </a:solidFill>
              <a:latin typeface="Arial"/>
              <a:ea typeface="Arial"/>
              <a:cs typeface="Arial"/>
              <a:sym typeface="Arial"/>
            </a:endParaRPr>
          </a:p>
        </p:txBody>
      </p:sp>
      <p:grpSp>
        <p:nvGrpSpPr>
          <p:cNvPr id="61" name="Google Shape;61;p6"/>
          <p:cNvGrpSpPr/>
          <p:nvPr/>
        </p:nvGrpSpPr>
        <p:grpSpPr>
          <a:xfrm>
            <a:off x="1453065" y="2518540"/>
            <a:ext cx="1885500" cy="2680031"/>
            <a:chOff x="1453065" y="2518540"/>
            <a:chExt cx="1885500" cy="2680031"/>
          </a:xfrm>
        </p:grpSpPr>
        <p:sp>
          <p:nvSpPr>
            <p:cNvPr id="62" name="Google Shape;62;p6"/>
            <p:cNvSpPr/>
            <p:nvPr/>
          </p:nvSpPr>
          <p:spPr>
            <a:xfrm>
              <a:off x="1538768" y="2518540"/>
              <a:ext cx="1714200" cy="1714200"/>
            </a:xfrm>
            <a:prstGeom prst="ellipse">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ownload.png" id="63" name="Google Shape;63;p6"/>
            <p:cNvPicPr preferRelativeResize="0"/>
            <p:nvPr/>
          </p:nvPicPr>
          <p:blipFill rotWithShape="1">
            <a:blip r:embed="rId3">
              <a:alphaModFix/>
            </a:blip>
            <a:srcRect b="14981" l="14981" r="14981" t="14981"/>
            <a:stretch/>
          </p:blipFill>
          <p:spPr>
            <a:xfrm>
              <a:off x="1538768" y="2518540"/>
              <a:ext cx="1714200" cy="1714200"/>
            </a:xfrm>
            <a:prstGeom prst="ellipse">
              <a:avLst/>
            </a:prstGeom>
            <a:noFill/>
            <a:ln>
              <a:noFill/>
            </a:ln>
          </p:spPr>
        </p:pic>
        <p:sp>
          <p:nvSpPr>
            <p:cNvPr id="64" name="Google Shape;64;p6"/>
            <p:cNvSpPr/>
            <p:nvPr/>
          </p:nvSpPr>
          <p:spPr>
            <a:xfrm>
              <a:off x="1453064" y="4371880"/>
              <a:ext cx="1885500" cy="2304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Open AI</a:t>
              </a:r>
              <a:endParaRPr b="0" i="0" sz="1800" u="none" cap="none" strike="noStrike">
                <a:solidFill>
                  <a:schemeClr val="dk1"/>
                </a:solidFill>
                <a:latin typeface="Arial"/>
                <a:ea typeface="Arial"/>
                <a:cs typeface="Arial"/>
                <a:sym typeface="Arial"/>
              </a:endParaRPr>
            </a:p>
          </p:txBody>
        </p:sp>
        <p:sp>
          <p:nvSpPr>
            <p:cNvPr id="65" name="Google Shape;65;p6"/>
            <p:cNvSpPr/>
            <p:nvPr/>
          </p:nvSpPr>
          <p:spPr>
            <a:xfrm>
              <a:off x="1453064" y="4688210"/>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Models: GPT</a:t>
              </a:r>
              <a:endParaRPr b="0" i="0" sz="1800" u="none" cap="none" strike="noStrike">
                <a:solidFill>
                  <a:schemeClr val="dk1"/>
                </a:solidFill>
                <a:latin typeface="Arial"/>
                <a:ea typeface="Arial"/>
                <a:cs typeface="Arial"/>
                <a:sym typeface="Arial"/>
              </a:endParaRPr>
            </a:p>
          </p:txBody>
        </p:sp>
        <p:sp>
          <p:nvSpPr>
            <p:cNvPr id="66" name="Google Shape;66;p6"/>
            <p:cNvSpPr/>
            <p:nvPr/>
          </p:nvSpPr>
          <p:spPr>
            <a:xfrm>
              <a:off x="1453064" y="4985271"/>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Chat: ChatGPT</a:t>
              </a:r>
              <a:endParaRPr b="0" i="0" sz="1800" u="none" cap="none" strike="noStrike">
                <a:solidFill>
                  <a:schemeClr val="dk1"/>
                </a:solidFill>
                <a:latin typeface="Arial"/>
                <a:ea typeface="Arial"/>
                <a:cs typeface="Arial"/>
                <a:sym typeface="Arial"/>
              </a:endParaRPr>
            </a:p>
          </p:txBody>
        </p:sp>
      </p:grpSp>
      <p:grpSp>
        <p:nvGrpSpPr>
          <p:cNvPr id="67" name="Google Shape;67;p6"/>
          <p:cNvGrpSpPr/>
          <p:nvPr/>
        </p:nvGrpSpPr>
        <p:grpSpPr>
          <a:xfrm>
            <a:off x="3357589" y="2518540"/>
            <a:ext cx="1885500" cy="2680031"/>
            <a:chOff x="3357589" y="2518540"/>
            <a:chExt cx="1885500" cy="2680031"/>
          </a:xfrm>
        </p:grpSpPr>
        <p:sp>
          <p:nvSpPr>
            <p:cNvPr id="68" name="Google Shape;68;p6"/>
            <p:cNvSpPr/>
            <p:nvPr/>
          </p:nvSpPr>
          <p:spPr>
            <a:xfrm>
              <a:off x="3443293" y="2518540"/>
              <a:ext cx="1714200" cy="1714200"/>
            </a:xfrm>
            <a:prstGeom prst="ellipse">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ntropic.png" id="69" name="Google Shape;69;p6"/>
            <p:cNvPicPr preferRelativeResize="0"/>
            <p:nvPr/>
          </p:nvPicPr>
          <p:blipFill rotWithShape="1">
            <a:blip r:embed="rId4">
              <a:alphaModFix/>
            </a:blip>
            <a:srcRect b="0" l="0" r="0" t="0"/>
            <a:stretch/>
          </p:blipFill>
          <p:spPr>
            <a:xfrm>
              <a:off x="3443293" y="2518540"/>
              <a:ext cx="1714200" cy="1714200"/>
            </a:xfrm>
            <a:prstGeom prst="ellipse">
              <a:avLst/>
            </a:prstGeom>
            <a:noFill/>
            <a:ln>
              <a:noFill/>
            </a:ln>
          </p:spPr>
        </p:pic>
        <p:sp>
          <p:nvSpPr>
            <p:cNvPr id="70" name="Google Shape;70;p6"/>
            <p:cNvSpPr/>
            <p:nvPr/>
          </p:nvSpPr>
          <p:spPr>
            <a:xfrm>
              <a:off x="3357589" y="4371880"/>
              <a:ext cx="1885500" cy="2304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Anthropic</a:t>
              </a:r>
              <a:endParaRPr b="0" i="0" sz="1800" u="none" cap="none" strike="noStrike">
                <a:solidFill>
                  <a:schemeClr val="dk1"/>
                </a:solidFill>
                <a:latin typeface="Arial"/>
                <a:ea typeface="Arial"/>
                <a:cs typeface="Arial"/>
                <a:sym typeface="Arial"/>
              </a:endParaRPr>
            </a:p>
          </p:txBody>
        </p:sp>
        <p:sp>
          <p:nvSpPr>
            <p:cNvPr id="71" name="Google Shape;71;p6"/>
            <p:cNvSpPr/>
            <p:nvPr/>
          </p:nvSpPr>
          <p:spPr>
            <a:xfrm>
              <a:off x="3357589" y="4688210"/>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Models: Claude</a:t>
              </a:r>
              <a:endParaRPr b="0" i="0" sz="1800" u="none" cap="none" strike="noStrike">
                <a:solidFill>
                  <a:schemeClr val="dk1"/>
                </a:solidFill>
                <a:latin typeface="Arial"/>
                <a:ea typeface="Arial"/>
                <a:cs typeface="Arial"/>
                <a:sym typeface="Arial"/>
              </a:endParaRPr>
            </a:p>
          </p:txBody>
        </p:sp>
        <p:sp>
          <p:nvSpPr>
            <p:cNvPr id="72" name="Google Shape;72;p6"/>
            <p:cNvSpPr/>
            <p:nvPr/>
          </p:nvSpPr>
          <p:spPr>
            <a:xfrm>
              <a:off x="3357589" y="4985271"/>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Chat: Claude</a:t>
              </a:r>
              <a:endParaRPr b="0" i="0" sz="1800" u="none" cap="none" strike="noStrike">
                <a:solidFill>
                  <a:schemeClr val="dk1"/>
                </a:solidFill>
                <a:latin typeface="Arial"/>
                <a:ea typeface="Arial"/>
                <a:cs typeface="Arial"/>
                <a:sym typeface="Arial"/>
              </a:endParaRPr>
            </a:p>
          </p:txBody>
        </p:sp>
      </p:grpSp>
      <p:grpSp>
        <p:nvGrpSpPr>
          <p:cNvPr id="73" name="Google Shape;73;p6"/>
          <p:cNvGrpSpPr/>
          <p:nvPr/>
        </p:nvGrpSpPr>
        <p:grpSpPr>
          <a:xfrm>
            <a:off x="5262113" y="2518540"/>
            <a:ext cx="1885500" cy="2680031"/>
            <a:chOff x="5262113" y="2518540"/>
            <a:chExt cx="1885500" cy="2680031"/>
          </a:xfrm>
        </p:grpSpPr>
        <p:pic>
          <p:nvPicPr>
            <p:cNvPr descr="google-ai-logo-996E85F6FD-seeklogo.com.png" id="74" name="Google Shape;74;p6"/>
            <p:cNvPicPr preferRelativeResize="0"/>
            <p:nvPr/>
          </p:nvPicPr>
          <p:blipFill rotWithShape="1">
            <a:blip r:embed="rId5">
              <a:alphaModFix/>
            </a:blip>
            <a:srcRect b="-5544" l="-13600" r="-13600" t="-5544"/>
            <a:stretch/>
          </p:blipFill>
          <p:spPr>
            <a:xfrm>
              <a:off x="5347816" y="2518540"/>
              <a:ext cx="1714200" cy="1714200"/>
            </a:xfrm>
            <a:prstGeom prst="ellipse">
              <a:avLst/>
            </a:prstGeom>
            <a:noFill/>
            <a:ln>
              <a:noFill/>
            </a:ln>
          </p:spPr>
        </p:pic>
        <p:sp>
          <p:nvSpPr>
            <p:cNvPr id="75" name="Google Shape;75;p6"/>
            <p:cNvSpPr/>
            <p:nvPr/>
          </p:nvSpPr>
          <p:spPr>
            <a:xfrm>
              <a:off x="5347816" y="2518540"/>
              <a:ext cx="1714200" cy="1714200"/>
            </a:xfrm>
            <a:prstGeom prst="ellipse">
              <a:avLst/>
            </a:prstGeom>
            <a:noFill/>
            <a:ln cap="flat" cmpd="sng" w="25400">
              <a:solidFill>
                <a:srgbClr val="F5F5F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5262113" y="4371880"/>
              <a:ext cx="1885500" cy="2304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Google</a:t>
              </a:r>
              <a:endParaRPr b="0" i="0" sz="1800" u="none" cap="none" strike="noStrike">
                <a:solidFill>
                  <a:schemeClr val="dk1"/>
                </a:solidFill>
                <a:latin typeface="Arial"/>
                <a:ea typeface="Arial"/>
                <a:cs typeface="Arial"/>
                <a:sym typeface="Arial"/>
              </a:endParaRPr>
            </a:p>
          </p:txBody>
        </p:sp>
        <p:sp>
          <p:nvSpPr>
            <p:cNvPr id="77" name="Google Shape;77;p6"/>
            <p:cNvSpPr/>
            <p:nvPr/>
          </p:nvSpPr>
          <p:spPr>
            <a:xfrm>
              <a:off x="5262113" y="4688210"/>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Models: Gemini</a:t>
              </a:r>
              <a:endParaRPr b="0" i="0" sz="1800" u="none" cap="none" strike="noStrike">
                <a:solidFill>
                  <a:schemeClr val="dk1"/>
                </a:solidFill>
                <a:latin typeface="Arial"/>
                <a:ea typeface="Arial"/>
                <a:cs typeface="Arial"/>
                <a:sym typeface="Arial"/>
              </a:endParaRPr>
            </a:p>
          </p:txBody>
        </p:sp>
        <p:sp>
          <p:nvSpPr>
            <p:cNvPr id="78" name="Google Shape;78;p6"/>
            <p:cNvSpPr/>
            <p:nvPr/>
          </p:nvSpPr>
          <p:spPr>
            <a:xfrm>
              <a:off x="5262113" y="4985271"/>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Chat: Gemini Advance</a:t>
              </a:r>
              <a:endParaRPr b="0" i="0" sz="1800" u="none" cap="none" strike="noStrike">
                <a:solidFill>
                  <a:schemeClr val="dk1"/>
                </a:solidFill>
                <a:latin typeface="Arial"/>
                <a:ea typeface="Arial"/>
                <a:cs typeface="Arial"/>
                <a:sym typeface="Arial"/>
              </a:endParaRPr>
            </a:p>
          </p:txBody>
        </p:sp>
      </p:grpSp>
      <p:grpSp>
        <p:nvGrpSpPr>
          <p:cNvPr id="79" name="Google Shape;79;p6"/>
          <p:cNvGrpSpPr/>
          <p:nvPr/>
        </p:nvGrpSpPr>
        <p:grpSpPr>
          <a:xfrm>
            <a:off x="7166637" y="2518540"/>
            <a:ext cx="1885500" cy="2680031"/>
            <a:chOff x="7166637" y="2518540"/>
            <a:chExt cx="1885500" cy="2680031"/>
          </a:xfrm>
        </p:grpSpPr>
        <p:sp>
          <p:nvSpPr>
            <p:cNvPr id="80" name="Google Shape;80;p6"/>
            <p:cNvSpPr/>
            <p:nvPr/>
          </p:nvSpPr>
          <p:spPr>
            <a:xfrm>
              <a:off x="7252340" y="2518540"/>
              <a:ext cx="1714200" cy="1714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6" title="Screenshot 2025-10-01 at 5.19.07 PM.png"/>
            <p:cNvPicPr preferRelativeResize="0"/>
            <p:nvPr/>
          </p:nvPicPr>
          <p:blipFill rotWithShape="1">
            <a:blip r:embed="rId6">
              <a:alphaModFix/>
            </a:blip>
            <a:srcRect b="0" l="787" r="787" t="0"/>
            <a:stretch/>
          </p:blipFill>
          <p:spPr>
            <a:xfrm>
              <a:off x="7252340" y="2518540"/>
              <a:ext cx="1714200" cy="1714200"/>
            </a:xfrm>
            <a:prstGeom prst="ellipse">
              <a:avLst/>
            </a:prstGeom>
            <a:noFill/>
            <a:ln>
              <a:noFill/>
            </a:ln>
          </p:spPr>
        </p:pic>
        <p:sp>
          <p:nvSpPr>
            <p:cNvPr id="82" name="Google Shape;82;p6"/>
            <p:cNvSpPr/>
            <p:nvPr/>
          </p:nvSpPr>
          <p:spPr>
            <a:xfrm>
              <a:off x="7166637" y="4371880"/>
              <a:ext cx="1885500" cy="2304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x.ai</a:t>
              </a:r>
              <a:endParaRPr b="0" i="0" sz="1800" u="none" cap="none" strike="noStrike">
                <a:solidFill>
                  <a:schemeClr val="dk1"/>
                </a:solidFill>
                <a:latin typeface="Arial"/>
                <a:ea typeface="Arial"/>
                <a:cs typeface="Arial"/>
                <a:sym typeface="Arial"/>
              </a:endParaRPr>
            </a:p>
          </p:txBody>
        </p:sp>
        <p:sp>
          <p:nvSpPr>
            <p:cNvPr id="83" name="Google Shape;83;p6"/>
            <p:cNvSpPr/>
            <p:nvPr/>
          </p:nvSpPr>
          <p:spPr>
            <a:xfrm>
              <a:off x="7166637" y="4688210"/>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Models: </a:t>
              </a:r>
              <a:r>
                <a:rPr lang="en-US" sz="1200">
                  <a:solidFill>
                    <a:srgbClr val="FFFFFF"/>
                  </a:solidFill>
                  <a:latin typeface="Montserrat"/>
                  <a:ea typeface="Montserrat"/>
                  <a:cs typeface="Montserrat"/>
                  <a:sym typeface="Montserrat"/>
                </a:rPr>
                <a:t>Grok</a:t>
              </a:r>
              <a:endParaRPr b="0" i="0" sz="1800" u="none" cap="none" strike="noStrike">
                <a:solidFill>
                  <a:schemeClr val="dk1"/>
                </a:solidFill>
                <a:latin typeface="Arial"/>
                <a:ea typeface="Arial"/>
                <a:cs typeface="Arial"/>
                <a:sym typeface="Arial"/>
              </a:endParaRPr>
            </a:p>
          </p:txBody>
        </p:sp>
        <p:sp>
          <p:nvSpPr>
            <p:cNvPr id="84" name="Google Shape;84;p6"/>
            <p:cNvSpPr/>
            <p:nvPr/>
          </p:nvSpPr>
          <p:spPr>
            <a:xfrm>
              <a:off x="7166637" y="4985271"/>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Chat: </a:t>
              </a:r>
              <a:r>
                <a:rPr lang="en-US" sz="1200">
                  <a:solidFill>
                    <a:srgbClr val="FFFFFF"/>
                  </a:solidFill>
                  <a:latin typeface="Montserrat"/>
                  <a:ea typeface="Montserrat"/>
                  <a:cs typeface="Montserrat"/>
                  <a:sym typeface="Montserrat"/>
                </a:rPr>
                <a:t>Grok</a:t>
              </a:r>
              <a:endParaRPr b="0" i="0" sz="1800" u="none" cap="none" strike="noStrike">
                <a:solidFill>
                  <a:schemeClr val="dk1"/>
                </a:solidFill>
                <a:latin typeface="Arial"/>
                <a:ea typeface="Arial"/>
                <a:cs typeface="Arial"/>
                <a:sym typeface="Arial"/>
              </a:endParaRPr>
            </a:p>
          </p:txBody>
        </p:sp>
      </p:grpSp>
      <p:grpSp>
        <p:nvGrpSpPr>
          <p:cNvPr id="85" name="Google Shape;85;p6"/>
          <p:cNvGrpSpPr/>
          <p:nvPr/>
        </p:nvGrpSpPr>
        <p:grpSpPr>
          <a:xfrm>
            <a:off x="9071160" y="2518540"/>
            <a:ext cx="1885500" cy="2680031"/>
            <a:chOff x="9071160" y="2518540"/>
            <a:chExt cx="1885500" cy="2680031"/>
          </a:xfrm>
        </p:grpSpPr>
        <p:sp>
          <p:nvSpPr>
            <p:cNvPr id="86" name="Google Shape;86;p6"/>
            <p:cNvSpPr/>
            <p:nvPr/>
          </p:nvSpPr>
          <p:spPr>
            <a:xfrm>
              <a:off x="9156864" y="2518540"/>
              <a:ext cx="1714200" cy="1714200"/>
            </a:xfrm>
            <a:prstGeom prst="ellipse">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 name="Google Shape;87;p6" title="Screenshot 2025-10-01 at 5.24.05 PM.png"/>
            <p:cNvPicPr preferRelativeResize="0"/>
            <p:nvPr/>
          </p:nvPicPr>
          <p:blipFill rotWithShape="1">
            <a:blip r:embed="rId7">
              <a:alphaModFix/>
            </a:blip>
            <a:srcRect b="0" l="7426" r="7417" t="0"/>
            <a:stretch/>
          </p:blipFill>
          <p:spPr>
            <a:xfrm>
              <a:off x="9156864" y="2518540"/>
              <a:ext cx="1714200" cy="1714200"/>
            </a:xfrm>
            <a:prstGeom prst="ellipse">
              <a:avLst/>
            </a:prstGeom>
            <a:noFill/>
            <a:ln>
              <a:noFill/>
            </a:ln>
          </p:spPr>
        </p:pic>
        <p:sp>
          <p:nvSpPr>
            <p:cNvPr id="88" name="Google Shape;88;p6"/>
            <p:cNvSpPr/>
            <p:nvPr/>
          </p:nvSpPr>
          <p:spPr>
            <a:xfrm>
              <a:off x="9071160" y="4371880"/>
              <a:ext cx="1885500" cy="230400"/>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lang="en-US" sz="1440">
                  <a:solidFill>
                    <a:srgbClr val="FFFFFF"/>
                  </a:solidFill>
                  <a:latin typeface="Montserrat"/>
                  <a:ea typeface="Montserrat"/>
                  <a:cs typeface="Montserrat"/>
                  <a:sym typeface="Montserrat"/>
                </a:rPr>
                <a:t>DeepSeek AI</a:t>
              </a:r>
              <a:endParaRPr b="0" i="0" sz="1800" u="none" cap="none" strike="noStrike">
                <a:solidFill>
                  <a:schemeClr val="dk1"/>
                </a:solidFill>
                <a:latin typeface="Arial"/>
                <a:ea typeface="Arial"/>
                <a:cs typeface="Arial"/>
                <a:sym typeface="Arial"/>
              </a:endParaRPr>
            </a:p>
          </p:txBody>
        </p:sp>
        <p:sp>
          <p:nvSpPr>
            <p:cNvPr id="89" name="Google Shape;89;p6"/>
            <p:cNvSpPr/>
            <p:nvPr/>
          </p:nvSpPr>
          <p:spPr>
            <a:xfrm>
              <a:off x="9071160" y="4688210"/>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Models: </a:t>
              </a:r>
              <a:r>
                <a:rPr lang="en-US" sz="1200">
                  <a:solidFill>
                    <a:srgbClr val="FFFFFF"/>
                  </a:solidFill>
                  <a:latin typeface="Montserrat"/>
                  <a:ea typeface="Montserrat"/>
                  <a:cs typeface="Montserrat"/>
                  <a:sym typeface="Montserrat"/>
                </a:rPr>
                <a:t>DeepSeek</a:t>
              </a:r>
              <a:endParaRPr b="0" i="0" sz="1800" u="none" cap="none" strike="noStrike">
                <a:solidFill>
                  <a:schemeClr val="dk1"/>
                </a:solidFill>
                <a:latin typeface="Arial"/>
                <a:ea typeface="Arial"/>
                <a:cs typeface="Arial"/>
                <a:sym typeface="Arial"/>
              </a:endParaRPr>
            </a:p>
          </p:txBody>
        </p:sp>
        <p:sp>
          <p:nvSpPr>
            <p:cNvPr id="90" name="Google Shape;90;p6"/>
            <p:cNvSpPr/>
            <p:nvPr/>
          </p:nvSpPr>
          <p:spPr>
            <a:xfrm>
              <a:off x="9071160" y="4985271"/>
              <a:ext cx="1885500" cy="213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Chat: </a:t>
              </a:r>
              <a:r>
                <a:rPr lang="en-US" sz="1200">
                  <a:solidFill>
                    <a:srgbClr val="FFFFFF"/>
                  </a:solidFill>
                  <a:latin typeface="Montserrat"/>
                  <a:ea typeface="Montserrat"/>
                  <a:cs typeface="Montserrat"/>
                  <a:sym typeface="Montserrat"/>
                </a:rPr>
                <a:t>DeepSeek</a:t>
              </a:r>
              <a:endParaRPr b="0" i="0" sz="18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5" name="Shape 95"/>
        <p:cNvGrpSpPr/>
        <p:nvPr/>
      </p:nvGrpSpPr>
      <p:grpSpPr>
        <a:xfrm>
          <a:off x="0" y="0"/>
          <a:ext cx="0" cy="0"/>
          <a:chOff x="0" y="0"/>
          <a:chExt cx="0" cy="0"/>
        </a:xfrm>
      </p:grpSpPr>
      <p:sp>
        <p:nvSpPr>
          <p:cNvPr id="96" name="Google Shape;96;p7"/>
          <p:cNvSpPr/>
          <p:nvPr/>
        </p:nvSpPr>
        <p:spPr>
          <a:xfrm>
            <a:off x="0" y="362827"/>
            <a:ext cx="12188952"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Mind-blowing performance from Frontier LLMs</a:t>
            </a:r>
            <a:endParaRPr b="0" i="0" sz="1800" u="none" cap="none" strike="noStrike">
              <a:solidFill>
                <a:schemeClr val="dk1"/>
              </a:solidFill>
              <a:latin typeface="Arial"/>
              <a:ea typeface="Arial"/>
              <a:cs typeface="Arial"/>
              <a:sym typeface="Arial"/>
            </a:endParaRPr>
          </a:p>
        </p:txBody>
      </p:sp>
      <p:pic>
        <p:nvPicPr>
          <p:cNvPr descr="Synthesis2.png" id="97" name="Google Shape;97;p7"/>
          <p:cNvPicPr preferRelativeResize="0"/>
          <p:nvPr/>
        </p:nvPicPr>
        <p:blipFill rotWithShape="1">
          <a:blip r:embed="rId3">
            <a:alphaModFix/>
          </a:blip>
          <a:srcRect b="0" l="0" r="0" t="0"/>
          <a:stretch/>
        </p:blipFill>
        <p:spPr>
          <a:xfrm>
            <a:off x="1476006" y="2616340"/>
            <a:ext cx="1428393" cy="1428393"/>
          </a:xfrm>
          <a:prstGeom prst="rect">
            <a:avLst/>
          </a:prstGeom>
          <a:noFill/>
          <a:ln>
            <a:noFill/>
          </a:ln>
        </p:spPr>
      </p:pic>
      <p:sp>
        <p:nvSpPr>
          <p:cNvPr id="98" name="Google Shape;98;p7"/>
          <p:cNvSpPr/>
          <p:nvPr/>
        </p:nvSpPr>
        <p:spPr>
          <a:xfrm>
            <a:off x="540409" y="4136388"/>
            <a:ext cx="3299587"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Synthesizing information</a:t>
            </a:r>
            <a:endParaRPr b="0" i="0" sz="1800" u="none" cap="none" strike="noStrike">
              <a:solidFill>
                <a:schemeClr val="dk1"/>
              </a:solidFill>
              <a:latin typeface="Arial"/>
              <a:ea typeface="Arial"/>
              <a:cs typeface="Arial"/>
              <a:sym typeface="Arial"/>
            </a:endParaRPr>
          </a:p>
        </p:txBody>
      </p:sp>
      <p:sp>
        <p:nvSpPr>
          <p:cNvPr id="99" name="Google Shape;99;p7"/>
          <p:cNvSpPr/>
          <p:nvPr/>
        </p:nvSpPr>
        <p:spPr>
          <a:xfrm>
            <a:off x="540409" y="4452717"/>
            <a:ext cx="3299587" cy="63987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Answering a question in depth with a structured, well researched answer and often including a summary</a:t>
            </a:r>
            <a:endParaRPr b="0" i="0" sz="1800" u="none" cap="none" strike="noStrike">
              <a:solidFill>
                <a:schemeClr val="dk1"/>
              </a:solidFill>
              <a:latin typeface="Arial"/>
              <a:ea typeface="Arial"/>
              <a:cs typeface="Arial"/>
              <a:sym typeface="Arial"/>
            </a:endParaRPr>
          </a:p>
        </p:txBody>
      </p:sp>
      <p:pic>
        <p:nvPicPr>
          <p:cNvPr descr="Skeleton3.png" id="100" name="Google Shape;100;p7"/>
          <p:cNvPicPr preferRelativeResize="0"/>
          <p:nvPr/>
        </p:nvPicPr>
        <p:blipFill rotWithShape="1">
          <a:blip r:embed="rId4">
            <a:alphaModFix/>
          </a:blip>
          <a:srcRect b="5277" l="5277" r="5277" t="5277"/>
          <a:stretch/>
        </p:blipFill>
        <p:spPr>
          <a:xfrm>
            <a:off x="5380280" y="2616340"/>
            <a:ext cx="1428393" cy="1428393"/>
          </a:xfrm>
          <a:prstGeom prst="rect">
            <a:avLst/>
          </a:prstGeom>
          <a:noFill/>
          <a:ln>
            <a:noFill/>
          </a:ln>
        </p:spPr>
      </p:pic>
      <p:sp>
        <p:nvSpPr>
          <p:cNvPr id="101" name="Google Shape;101;p7"/>
          <p:cNvSpPr/>
          <p:nvPr/>
        </p:nvSpPr>
        <p:spPr>
          <a:xfrm>
            <a:off x="4208997" y="4136388"/>
            <a:ext cx="3770957"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Fleshing out a skeleton</a:t>
            </a:r>
            <a:endParaRPr b="0" i="0" sz="1800" u="none" cap="none" strike="noStrike">
              <a:solidFill>
                <a:schemeClr val="dk1"/>
              </a:solidFill>
              <a:latin typeface="Arial"/>
              <a:ea typeface="Arial"/>
              <a:cs typeface="Arial"/>
              <a:sym typeface="Arial"/>
            </a:endParaRPr>
          </a:p>
        </p:txBody>
      </p:sp>
      <p:sp>
        <p:nvSpPr>
          <p:cNvPr id="102" name="Google Shape;102;p7"/>
          <p:cNvSpPr/>
          <p:nvPr/>
        </p:nvSpPr>
        <p:spPr>
          <a:xfrm>
            <a:off x="4208997" y="4452717"/>
            <a:ext cx="3770957" cy="63987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From a couple of notes, building out a well crafted email, or a blog post, and iterating on it with you until perfect </a:t>
            </a:r>
            <a:endParaRPr b="0" i="0" sz="1800" u="none" cap="none" strike="noStrike">
              <a:solidFill>
                <a:schemeClr val="dk1"/>
              </a:solidFill>
              <a:latin typeface="Arial"/>
              <a:ea typeface="Arial"/>
              <a:cs typeface="Arial"/>
              <a:sym typeface="Arial"/>
            </a:endParaRPr>
          </a:p>
        </p:txBody>
      </p:sp>
      <p:pic>
        <p:nvPicPr>
          <p:cNvPr descr="Coding3.png" id="103" name="Google Shape;103;p7"/>
          <p:cNvPicPr preferRelativeResize="0"/>
          <p:nvPr/>
        </p:nvPicPr>
        <p:blipFill rotWithShape="1">
          <a:blip r:embed="rId5">
            <a:alphaModFix/>
          </a:blip>
          <a:srcRect b="0" l="0" r="0" t="0"/>
          <a:stretch/>
        </p:blipFill>
        <p:spPr>
          <a:xfrm>
            <a:off x="9284553" y="2616340"/>
            <a:ext cx="1428393" cy="1428393"/>
          </a:xfrm>
          <a:prstGeom prst="rect">
            <a:avLst/>
          </a:prstGeom>
          <a:noFill/>
          <a:ln>
            <a:noFill/>
          </a:ln>
        </p:spPr>
      </p:pic>
      <p:sp>
        <p:nvSpPr>
          <p:cNvPr id="104" name="Google Shape;104;p7"/>
          <p:cNvSpPr/>
          <p:nvPr/>
        </p:nvSpPr>
        <p:spPr>
          <a:xfrm>
            <a:off x="8155171" y="4136388"/>
            <a:ext cx="3687158"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Coding</a:t>
            </a:r>
            <a:endParaRPr b="0" i="0" sz="1800" u="none" cap="none" strike="noStrike">
              <a:solidFill>
                <a:schemeClr val="dk1"/>
              </a:solidFill>
              <a:latin typeface="Arial"/>
              <a:ea typeface="Arial"/>
              <a:cs typeface="Arial"/>
              <a:sym typeface="Arial"/>
            </a:endParaRPr>
          </a:p>
        </p:txBody>
      </p:sp>
      <p:sp>
        <p:nvSpPr>
          <p:cNvPr id="105" name="Google Shape;105;p7"/>
          <p:cNvSpPr/>
          <p:nvPr/>
        </p:nvSpPr>
        <p:spPr>
          <a:xfrm>
            <a:off x="8155171" y="4452717"/>
            <a:ext cx="3687158" cy="639875"/>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The ability to write and debug code is remarkable; far overtaken Stack Overflow as the resource for engineers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0" name="Shape 110"/>
        <p:cNvGrpSpPr/>
        <p:nvPr/>
      </p:nvGrpSpPr>
      <p:grpSpPr>
        <a:xfrm>
          <a:off x="0" y="0"/>
          <a:ext cx="0" cy="0"/>
          <a:chOff x="0" y="0"/>
          <a:chExt cx="0" cy="0"/>
        </a:xfrm>
      </p:grpSpPr>
      <p:sp>
        <p:nvSpPr>
          <p:cNvPr id="111" name="Google Shape;111;p8"/>
          <p:cNvSpPr/>
          <p:nvPr/>
        </p:nvSpPr>
        <p:spPr>
          <a:xfrm>
            <a:off x="0" y="362827"/>
            <a:ext cx="12188952"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LIMITATIONS OF FRONTIER MODELS</a:t>
            </a:r>
            <a:endParaRPr b="0" i="0" sz="1800" u="none" cap="none" strike="noStrike">
              <a:solidFill>
                <a:schemeClr val="dk1"/>
              </a:solidFill>
              <a:latin typeface="Arial"/>
              <a:ea typeface="Arial"/>
              <a:cs typeface="Arial"/>
              <a:sym typeface="Arial"/>
            </a:endParaRPr>
          </a:p>
        </p:txBody>
      </p:sp>
      <p:pic>
        <p:nvPicPr>
          <p:cNvPr descr="Coding3 (1).png" id="112" name="Google Shape;112;p8"/>
          <p:cNvPicPr preferRelativeResize="0"/>
          <p:nvPr/>
        </p:nvPicPr>
        <p:blipFill rotWithShape="1">
          <a:blip r:embed="rId3">
            <a:alphaModFix/>
          </a:blip>
          <a:srcRect b="0" l="0" r="0" t="0"/>
          <a:stretch/>
        </p:blipFill>
        <p:spPr>
          <a:xfrm>
            <a:off x="1476006" y="2700139"/>
            <a:ext cx="1428393" cy="1428393"/>
          </a:xfrm>
          <a:prstGeom prst="rect">
            <a:avLst/>
          </a:prstGeom>
          <a:noFill/>
          <a:ln>
            <a:noFill/>
          </a:ln>
        </p:spPr>
      </p:pic>
      <p:sp>
        <p:nvSpPr>
          <p:cNvPr id="113" name="Google Shape;113;p8"/>
          <p:cNvSpPr/>
          <p:nvPr/>
        </p:nvSpPr>
        <p:spPr>
          <a:xfrm>
            <a:off x="629445" y="4220187"/>
            <a:ext cx="3121514"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Specialized domains</a:t>
            </a:r>
            <a:endParaRPr b="0" i="0" sz="1800" u="none" cap="none" strike="noStrike">
              <a:solidFill>
                <a:schemeClr val="dk1"/>
              </a:solidFill>
              <a:latin typeface="Arial"/>
              <a:ea typeface="Arial"/>
              <a:cs typeface="Arial"/>
              <a:sym typeface="Arial"/>
            </a:endParaRPr>
          </a:p>
        </p:txBody>
      </p:sp>
      <p:sp>
        <p:nvSpPr>
          <p:cNvPr id="114" name="Google Shape;114;p8"/>
          <p:cNvSpPr/>
          <p:nvPr/>
        </p:nvSpPr>
        <p:spPr>
          <a:xfrm>
            <a:off x="629445" y="4536516"/>
            <a:ext cx="3121514" cy="213292"/>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Most are not PhD level, but closing in</a:t>
            </a:r>
            <a:endParaRPr b="0" i="0" sz="1800" u="none" cap="none" strike="noStrike">
              <a:solidFill>
                <a:schemeClr val="dk1"/>
              </a:solidFill>
              <a:latin typeface="Arial"/>
              <a:ea typeface="Arial"/>
              <a:cs typeface="Arial"/>
              <a:sym typeface="Arial"/>
            </a:endParaRPr>
          </a:p>
        </p:txBody>
      </p:sp>
      <p:pic>
        <p:nvPicPr>
          <p:cNvPr descr="News.png" id="115" name="Google Shape;115;p8"/>
          <p:cNvPicPr preferRelativeResize="0"/>
          <p:nvPr/>
        </p:nvPicPr>
        <p:blipFill rotWithShape="1">
          <a:blip r:embed="rId4">
            <a:alphaModFix/>
          </a:blip>
          <a:srcRect b="0" l="0" r="0" t="0"/>
          <a:stretch/>
        </p:blipFill>
        <p:spPr>
          <a:xfrm>
            <a:off x="5380280" y="2700139"/>
            <a:ext cx="1428393" cy="1428393"/>
          </a:xfrm>
          <a:prstGeom prst="rect">
            <a:avLst/>
          </a:prstGeom>
          <a:noFill/>
          <a:ln>
            <a:noFill/>
          </a:ln>
        </p:spPr>
      </p:pic>
      <p:sp>
        <p:nvSpPr>
          <p:cNvPr id="116" name="Google Shape;116;p8"/>
          <p:cNvSpPr/>
          <p:nvPr/>
        </p:nvSpPr>
        <p:spPr>
          <a:xfrm>
            <a:off x="4282322" y="4220187"/>
            <a:ext cx="3624309"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Recent events</a:t>
            </a:r>
            <a:endParaRPr b="0" i="0" sz="1800" u="none" cap="none" strike="noStrike">
              <a:solidFill>
                <a:schemeClr val="dk1"/>
              </a:solidFill>
              <a:latin typeface="Arial"/>
              <a:ea typeface="Arial"/>
              <a:cs typeface="Arial"/>
              <a:sym typeface="Arial"/>
            </a:endParaRPr>
          </a:p>
        </p:txBody>
      </p:sp>
      <p:sp>
        <p:nvSpPr>
          <p:cNvPr id="117" name="Google Shape;117;p8"/>
          <p:cNvSpPr/>
          <p:nvPr/>
        </p:nvSpPr>
        <p:spPr>
          <a:xfrm>
            <a:off x="4282322" y="4536516"/>
            <a:ext cx="3624309" cy="426584"/>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Limited knowledge beyond training cut-off date; cod</a:t>
            </a:r>
            <a:r>
              <a:rPr lang="en-US" sz="1200">
                <a:solidFill>
                  <a:srgbClr val="FFFFFF"/>
                </a:solidFill>
                <a:latin typeface="Montserrat"/>
                <a:ea typeface="Montserrat"/>
                <a:cs typeface="Montserrat"/>
                <a:sym typeface="Montserrat"/>
              </a:rPr>
              <a:t>e often uses legacy APIs / models</a:t>
            </a:r>
            <a:endParaRPr b="0" i="0" sz="1800" u="none" cap="none" strike="noStrike">
              <a:solidFill>
                <a:schemeClr val="dk1"/>
              </a:solidFill>
              <a:latin typeface="Arial"/>
              <a:ea typeface="Arial"/>
              <a:cs typeface="Arial"/>
              <a:sym typeface="Arial"/>
            </a:endParaRPr>
          </a:p>
        </p:txBody>
      </p:sp>
      <p:pic>
        <p:nvPicPr>
          <p:cNvPr descr="Mistakes.png" id="118" name="Google Shape;118;p8"/>
          <p:cNvPicPr preferRelativeResize="0"/>
          <p:nvPr/>
        </p:nvPicPr>
        <p:blipFill rotWithShape="1">
          <a:blip r:embed="rId5">
            <a:alphaModFix/>
          </a:blip>
          <a:srcRect b="0" l="0" r="0" t="0"/>
          <a:stretch/>
        </p:blipFill>
        <p:spPr>
          <a:xfrm>
            <a:off x="9284553" y="2700139"/>
            <a:ext cx="1428393" cy="1428393"/>
          </a:xfrm>
          <a:prstGeom prst="rect">
            <a:avLst/>
          </a:prstGeom>
          <a:noFill/>
          <a:ln>
            <a:noFill/>
          </a:ln>
        </p:spPr>
      </p:pic>
      <p:sp>
        <p:nvSpPr>
          <p:cNvPr id="119" name="Google Shape;119;p8"/>
          <p:cNvSpPr/>
          <p:nvPr/>
        </p:nvSpPr>
        <p:spPr>
          <a:xfrm>
            <a:off x="8385618" y="4220187"/>
            <a:ext cx="3226263" cy="23040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Can confidently make mistakes</a:t>
            </a:r>
            <a:endParaRPr b="0" i="0" sz="1800" u="none" cap="none" strike="noStrike">
              <a:solidFill>
                <a:schemeClr val="dk1"/>
              </a:solidFill>
              <a:latin typeface="Arial"/>
              <a:ea typeface="Arial"/>
              <a:cs typeface="Arial"/>
              <a:sym typeface="Arial"/>
            </a:endParaRPr>
          </a:p>
        </p:txBody>
      </p:sp>
      <p:sp>
        <p:nvSpPr>
          <p:cNvPr id="120" name="Google Shape;120;p8"/>
          <p:cNvSpPr/>
          <p:nvPr/>
        </p:nvSpPr>
        <p:spPr>
          <a:xfrm>
            <a:off x="8385618" y="4536516"/>
            <a:ext cx="3226263" cy="213292"/>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Some curious blindspots</a:t>
            </a:r>
            <a:br>
              <a:rPr b="0" i="0" lang="en-US" sz="1200" u="none" cap="none" strike="noStrike">
                <a:solidFill>
                  <a:srgbClr val="FFFFFF"/>
                </a:solidFill>
                <a:latin typeface="Montserrat"/>
                <a:ea typeface="Montserrat"/>
                <a:cs typeface="Montserrat"/>
                <a:sym typeface="Montserrat"/>
              </a:rPr>
            </a:br>
            <a:r>
              <a:rPr b="0" i="0" lang="en-US" sz="1200" u="none" cap="none" strike="noStrike">
                <a:solidFill>
                  <a:srgbClr val="FFFFFF"/>
                </a:solidFill>
                <a:latin typeface="Montserrat"/>
                <a:ea typeface="Montserrat"/>
                <a:cs typeface="Montserrat"/>
                <a:sym typeface="Montserrat"/>
              </a:rPr>
              <a:t>C</a:t>
            </a:r>
            <a:r>
              <a:rPr lang="en-US" sz="1200">
                <a:solidFill>
                  <a:srgbClr val="FFFFFF"/>
                </a:solidFill>
                <a:latin typeface="Montserrat"/>
                <a:ea typeface="Montserrat"/>
                <a:cs typeface="Montserrat"/>
                <a:sym typeface="Montserrat"/>
              </a:rPr>
              <a:t>an jump to conclusions when coding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5" name="Shape 125"/>
        <p:cNvGrpSpPr/>
        <p:nvPr/>
      </p:nvGrpSpPr>
      <p:grpSpPr>
        <a:xfrm>
          <a:off x="0" y="0"/>
          <a:ext cx="0" cy="0"/>
          <a:chOff x="0" y="0"/>
          <a:chExt cx="0" cy="0"/>
        </a:xfrm>
      </p:grpSpPr>
      <p:sp>
        <p:nvSpPr>
          <p:cNvPr id="126" name="Google Shape;126;p9"/>
          <p:cNvSpPr/>
          <p:nvPr/>
        </p:nvSpPr>
        <p:spPr>
          <a:xfrm>
            <a:off x="95226" y="467575"/>
            <a:ext cx="12188952"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Let's try them out and compare</a:t>
            </a:r>
            <a:endParaRPr b="0" i="0" sz="1800" u="none" cap="none" strike="noStrike">
              <a:solidFill>
                <a:schemeClr val="dk1"/>
              </a:solidFill>
              <a:latin typeface="Arial"/>
              <a:ea typeface="Arial"/>
              <a:cs typeface="Arial"/>
              <a:sym typeface="Arial"/>
            </a:endParaRPr>
          </a:p>
        </p:txBody>
      </p:sp>
      <p:sp>
        <p:nvSpPr>
          <p:cNvPr id="127" name="Google Shape;127;p9"/>
          <p:cNvSpPr/>
          <p:nvPr/>
        </p:nvSpPr>
        <p:spPr>
          <a:xfrm>
            <a:off x="418995" y="1618845"/>
            <a:ext cx="3741007" cy="2113070"/>
          </a:xfrm>
          <a:prstGeom prst="rect">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mage.png" id="128" name="Google Shape;128;p9"/>
          <p:cNvPicPr preferRelativeResize="0"/>
          <p:nvPr/>
        </p:nvPicPr>
        <p:blipFill rotWithShape="1">
          <a:blip r:embed="rId3">
            <a:alphaModFix/>
          </a:blip>
          <a:srcRect b="0" l="353" r="353" t="0"/>
          <a:stretch/>
        </p:blipFill>
        <p:spPr>
          <a:xfrm>
            <a:off x="418995" y="1618845"/>
            <a:ext cx="3741007" cy="2113070"/>
          </a:xfrm>
          <a:prstGeom prst="rect">
            <a:avLst/>
          </a:prstGeom>
          <a:noFill/>
          <a:ln>
            <a:noFill/>
          </a:ln>
        </p:spPr>
      </p:pic>
      <p:sp>
        <p:nvSpPr>
          <p:cNvPr id="129" name="Google Shape;129;p9"/>
          <p:cNvSpPr/>
          <p:nvPr/>
        </p:nvSpPr>
        <p:spPr>
          <a:xfrm>
            <a:off x="418995" y="4044531"/>
            <a:ext cx="3741007" cy="2062049"/>
          </a:xfrm>
          <a:prstGeom prst="rect">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2024-08-21 at 12.03.47 PM.png" id="130" name="Google Shape;130;p9"/>
          <p:cNvPicPr preferRelativeResize="0"/>
          <p:nvPr/>
        </p:nvPicPr>
        <p:blipFill rotWithShape="1">
          <a:blip r:embed="rId4">
            <a:alphaModFix/>
          </a:blip>
          <a:srcRect b="947" l="0" r="0" t="947"/>
          <a:stretch/>
        </p:blipFill>
        <p:spPr>
          <a:xfrm>
            <a:off x="418995" y="4044531"/>
            <a:ext cx="3741007" cy="2062049"/>
          </a:xfrm>
          <a:prstGeom prst="rect">
            <a:avLst/>
          </a:prstGeom>
          <a:noFill/>
          <a:ln>
            <a:noFill/>
          </a:ln>
        </p:spPr>
      </p:pic>
      <p:sp>
        <p:nvSpPr>
          <p:cNvPr id="131" name="Google Shape;131;p9"/>
          <p:cNvSpPr/>
          <p:nvPr/>
        </p:nvSpPr>
        <p:spPr>
          <a:xfrm>
            <a:off x="4342314" y="1618845"/>
            <a:ext cx="3923319" cy="2123083"/>
          </a:xfrm>
          <a:prstGeom prst="rect">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2024-08-21 at 12.04.09 PM.png" id="132" name="Google Shape;132;p9"/>
          <p:cNvPicPr preferRelativeResize="0"/>
          <p:nvPr/>
        </p:nvPicPr>
        <p:blipFill rotWithShape="1">
          <a:blip r:embed="rId5">
            <a:alphaModFix/>
          </a:blip>
          <a:srcRect b="1643" l="0" r="0" t="1643"/>
          <a:stretch/>
        </p:blipFill>
        <p:spPr>
          <a:xfrm>
            <a:off x="4342314" y="1618845"/>
            <a:ext cx="3923319" cy="2123083"/>
          </a:xfrm>
          <a:prstGeom prst="rect">
            <a:avLst/>
          </a:prstGeom>
          <a:noFill/>
          <a:ln>
            <a:noFill/>
          </a:ln>
        </p:spPr>
      </p:pic>
      <p:sp>
        <p:nvSpPr>
          <p:cNvPr id="133" name="Google Shape;133;p9"/>
          <p:cNvSpPr/>
          <p:nvPr/>
        </p:nvSpPr>
        <p:spPr>
          <a:xfrm>
            <a:off x="4342314" y="3875706"/>
            <a:ext cx="3923319" cy="2062049"/>
          </a:xfrm>
          <a:prstGeom prst="rect">
            <a:avLst/>
          </a:prstGeom>
          <a:solidFill>
            <a:srgbClr val="62A8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creenshot 2024-08-21 at 12.09.48 PM.png" id="134" name="Google Shape;134;p9"/>
          <p:cNvPicPr preferRelativeResize="0"/>
          <p:nvPr/>
        </p:nvPicPr>
        <p:blipFill rotWithShape="1">
          <a:blip r:embed="rId6">
            <a:alphaModFix/>
          </a:blip>
          <a:srcRect b="754" l="0" r="0" t="754"/>
          <a:stretch/>
        </p:blipFill>
        <p:spPr>
          <a:xfrm>
            <a:off x="4342314" y="3875706"/>
            <a:ext cx="3923319" cy="2062049"/>
          </a:xfrm>
          <a:prstGeom prst="rect">
            <a:avLst/>
          </a:prstGeom>
          <a:noFill/>
          <a:ln>
            <a:noFill/>
          </a:ln>
        </p:spPr>
      </p:pic>
      <p:sp>
        <p:nvSpPr>
          <p:cNvPr id="135" name="Google Shape;135;p9"/>
          <p:cNvSpPr/>
          <p:nvPr/>
        </p:nvSpPr>
        <p:spPr>
          <a:xfrm>
            <a:off x="8798900" y="1621523"/>
            <a:ext cx="3226181" cy="76798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440"/>
              <a:buFont typeface="Montserrat"/>
              <a:buNone/>
            </a:pPr>
            <a:r>
              <a:rPr b="0" i="1" lang="en-US" sz="1440" u="none" cap="none" strike="noStrike">
                <a:solidFill>
                  <a:srgbClr val="FFFFFF"/>
                </a:solidFill>
                <a:latin typeface="Montserrat"/>
                <a:ea typeface="Montserrat"/>
                <a:cs typeface="Montserrat"/>
                <a:sym typeface="Montserrat"/>
              </a:rPr>
              <a:t>"How do I decide if a business problem is suitable for an LLM solution?"</a:t>
            </a:r>
            <a:endParaRPr b="0" i="0" sz="1800" u="none" cap="none" strike="noStrike">
              <a:solidFill>
                <a:schemeClr val="dk1"/>
              </a:solidFill>
              <a:latin typeface="Arial"/>
              <a:ea typeface="Arial"/>
              <a:cs typeface="Arial"/>
              <a:sym typeface="Arial"/>
            </a:endParaRPr>
          </a:p>
        </p:txBody>
      </p:sp>
      <p:sp>
        <p:nvSpPr>
          <p:cNvPr id="136" name="Google Shape;136;p9"/>
          <p:cNvSpPr/>
          <p:nvPr/>
        </p:nvSpPr>
        <p:spPr>
          <a:xfrm>
            <a:off x="8798900" y="2547152"/>
            <a:ext cx="3226181" cy="179196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440"/>
              <a:buFont typeface="Montserrat"/>
              <a:buNone/>
            </a:pPr>
            <a:r>
              <a:rPr b="0" i="1" lang="en-US" sz="1440" u="none" cap="none" strike="noStrike">
                <a:solidFill>
                  <a:srgbClr val="FFFFFF"/>
                </a:solidFill>
                <a:latin typeface="Montserrat"/>
                <a:ea typeface="Montserrat"/>
                <a:cs typeface="Montserrat"/>
                <a:sym typeface="Montserrat"/>
              </a:rPr>
              <a:t>"Compared with other Frontier LLMs, what kinds of questions are you best at answering, and what kinds of questions do you find most challenging? Which other LLM has capabilities that complement yours?"</a:t>
            </a:r>
            <a:endParaRPr b="0" i="0" sz="1800" u="none" cap="none" strike="noStrike">
              <a:solidFill>
                <a:schemeClr val="dk1"/>
              </a:solidFill>
              <a:latin typeface="Arial"/>
              <a:ea typeface="Arial"/>
              <a:cs typeface="Arial"/>
              <a:sym typeface="Arial"/>
            </a:endParaRPr>
          </a:p>
        </p:txBody>
      </p:sp>
      <p:sp>
        <p:nvSpPr>
          <p:cNvPr id="137" name="Google Shape;137;p9"/>
          <p:cNvSpPr/>
          <p:nvPr/>
        </p:nvSpPr>
        <p:spPr>
          <a:xfrm>
            <a:off x="8798900" y="4496759"/>
            <a:ext cx="3226181" cy="5119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440"/>
              <a:buFont typeface="Montserrat"/>
              <a:buNone/>
            </a:pPr>
            <a:r>
              <a:rPr b="0" i="1" lang="en-US" sz="1440" u="none" cap="none" strike="noStrike">
                <a:solidFill>
                  <a:srgbClr val="FFFFFF"/>
                </a:solidFill>
                <a:latin typeface="Montserrat"/>
                <a:ea typeface="Montserrat"/>
                <a:cs typeface="Montserrat"/>
                <a:sym typeface="Montserrat"/>
              </a:rPr>
              <a:t>"What does it feel like to be jealous?"</a:t>
            </a:r>
            <a:endParaRPr b="0" i="0" sz="1800" u="none" cap="none" strike="noStrike">
              <a:solidFill>
                <a:schemeClr val="dk1"/>
              </a:solidFill>
              <a:latin typeface="Arial"/>
              <a:ea typeface="Arial"/>
              <a:cs typeface="Arial"/>
              <a:sym typeface="Arial"/>
            </a:endParaRPr>
          </a:p>
        </p:txBody>
      </p:sp>
      <p:sp>
        <p:nvSpPr>
          <p:cNvPr id="138" name="Google Shape;138;p9"/>
          <p:cNvSpPr/>
          <p:nvPr/>
        </p:nvSpPr>
        <p:spPr>
          <a:xfrm>
            <a:off x="8798900" y="5166393"/>
            <a:ext cx="3226181" cy="76798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FFF"/>
              </a:buClr>
              <a:buSzPts val="1440"/>
              <a:buFont typeface="Montserrat"/>
              <a:buNone/>
            </a:pPr>
            <a:r>
              <a:rPr b="0" i="1" lang="en-US" sz="1440" u="none" cap="none" strike="noStrike">
                <a:solidFill>
                  <a:srgbClr val="FFFFFF"/>
                </a:solidFill>
                <a:latin typeface="Montserrat"/>
                <a:ea typeface="Montserrat"/>
                <a:cs typeface="Montserrat"/>
                <a:sym typeface="Montserrat"/>
              </a:rPr>
              <a:t>"How many times does the letter 'a' appear in this sentence?"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3" name="Shape 143"/>
        <p:cNvGrpSpPr/>
        <p:nvPr/>
      </p:nvGrpSpPr>
      <p:grpSpPr>
        <a:xfrm>
          <a:off x="0" y="0"/>
          <a:ext cx="0" cy="0"/>
          <a:chOff x="0" y="0"/>
          <a:chExt cx="0" cy="0"/>
        </a:xfrm>
      </p:grpSpPr>
      <p:sp>
        <p:nvSpPr>
          <p:cNvPr id="144" name="Google Shape;144;p10"/>
          <p:cNvSpPr/>
          <p:nvPr/>
        </p:nvSpPr>
        <p:spPr>
          <a:xfrm>
            <a:off x="0" y="362827"/>
            <a:ext cx="12188952"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In conclusion</a:t>
            </a:r>
            <a:endParaRPr b="0" i="0" sz="1800" u="none" cap="none" strike="noStrike">
              <a:solidFill>
                <a:schemeClr val="dk1"/>
              </a:solidFill>
              <a:latin typeface="Arial"/>
              <a:ea typeface="Arial"/>
              <a:cs typeface="Arial"/>
              <a:sym typeface="Arial"/>
            </a:endParaRPr>
          </a:p>
        </p:txBody>
      </p:sp>
      <p:grpSp>
        <p:nvGrpSpPr>
          <p:cNvPr id="145" name="Google Shape;145;p10"/>
          <p:cNvGrpSpPr/>
          <p:nvPr/>
        </p:nvGrpSpPr>
        <p:grpSpPr>
          <a:xfrm>
            <a:off x="351861" y="2608721"/>
            <a:ext cx="3676683" cy="2493365"/>
            <a:chOff x="351861" y="2608721"/>
            <a:chExt cx="3676683" cy="2493365"/>
          </a:xfrm>
        </p:grpSpPr>
        <p:pic>
          <p:nvPicPr>
            <p:cNvPr descr="Results.png" id="146" name="Google Shape;146;p10"/>
            <p:cNvPicPr preferRelativeResize="0"/>
            <p:nvPr/>
          </p:nvPicPr>
          <p:blipFill rotWithShape="1">
            <a:blip r:embed="rId3">
              <a:alphaModFix/>
            </a:blip>
            <a:srcRect b="0" l="0" r="0" t="0"/>
            <a:stretch/>
          </p:blipFill>
          <p:spPr>
            <a:xfrm>
              <a:off x="1476006" y="2608721"/>
              <a:ext cx="1428393" cy="1428393"/>
            </a:xfrm>
            <a:prstGeom prst="rect">
              <a:avLst/>
            </a:prstGeom>
            <a:noFill/>
            <a:ln>
              <a:noFill/>
            </a:ln>
          </p:spPr>
        </p:pic>
        <p:sp>
          <p:nvSpPr>
            <p:cNvPr id="147" name="Google Shape;147;p10"/>
            <p:cNvSpPr/>
            <p:nvPr/>
          </p:nvSpPr>
          <p:spPr>
            <a:xfrm>
              <a:off x="351861" y="4128769"/>
              <a:ext cx="3676683" cy="460805"/>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All Frontier LLMs are shockingly good</a:t>
              </a:r>
              <a:endParaRPr b="0" i="0" sz="1800" u="none" cap="none" strike="noStrike">
                <a:solidFill>
                  <a:schemeClr val="dk1"/>
                </a:solidFill>
                <a:latin typeface="Arial"/>
                <a:ea typeface="Arial"/>
                <a:cs typeface="Arial"/>
                <a:sym typeface="Arial"/>
              </a:endParaRPr>
            </a:p>
          </p:txBody>
        </p:sp>
        <p:sp>
          <p:nvSpPr>
            <p:cNvPr id="148" name="Google Shape;148;p10"/>
            <p:cNvSpPr/>
            <p:nvPr/>
          </p:nvSpPr>
          <p:spPr>
            <a:xfrm>
              <a:off x="351861" y="4675502"/>
              <a:ext cx="3676683" cy="426584"/>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Particularly at synthesizing information and generating nuanced answers</a:t>
              </a:r>
              <a:endParaRPr b="0" i="0" sz="1800" u="none" cap="none" strike="noStrike">
                <a:solidFill>
                  <a:schemeClr val="dk1"/>
                </a:solidFill>
                <a:latin typeface="Arial"/>
                <a:ea typeface="Arial"/>
                <a:cs typeface="Arial"/>
                <a:sym typeface="Arial"/>
              </a:endParaRPr>
            </a:p>
          </p:txBody>
        </p:sp>
      </p:grpSp>
      <p:grpSp>
        <p:nvGrpSpPr>
          <p:cNvPr id="149" name="Google Shape;149;p10"/>
          <p:cNvGrpSpPr/>
          <p:nvPr/>
        </p:nvGrpSpPr>
        <p:grpSpPr>
          <a:xfrm>
            <a:off x="4350408" y="2608721"/>
            <a:ext cx="3488135" cy="2493365"/>
            <a:chOff x="4350408" y="2608721"/>
            <a:chExt cx="3488135" cy="2493365"/>
          </a:xfrm>
        </p:grpSpPr>
        <p:pic>
          <p:nvPicPr>
            <p:cNvPr descr="Winner-Claude.png" id="150" name="Google Shape;150;p10"/>
            <p:cNvPicPr preferRelativeResize="0"/>
            <p:nvPr/>
          </p:nvPicPr>
          <p:blipFill rotWithShape="1">
            <a:blip r:embed="rId4">
              <a:alphaModFix/>
            </a:blip>
            <a:srcRect b="0" l="0" r="0" t="0"/>
            <a:stretch/>
          </p:blipFill>
          <p:spPr>
            <a:xfrm>
              <a:off x="5380280" y="2608721"/>
              <a:ext cx="1428393" cy="1428393"/>
            </a:xfrm>
            <a:prstGeom prst="rect">
              <a:avLst/>
            </a:prstGeom>
            <a:noFill/>
            <a:ln>
              <a:noFill/>
            </a:ln>
          </p:spPr>
        </p:pic>
        <p:sp>
          <p:nvSpPr>
            <p:cNvPr id="151" name="Google Shape;151;p10"/>
            <p:cNvSpPr/>
            <p:nvPr/>
          </p:nvSpPr>
          <p:spPr>
            <a:xfrm>
              <a:off x="4350408" y="4128769"/>
              <a:ext cx="3488135" cy="460805"/>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Claude tends to be favored by practitioners</a:t>
              </a:r>
              <a:endParaRPr b="0" i="0" sz="1800" u="none" cap="none" strike="noStrike">
                <a:solidFill>
                  <a:schemeClr val="dk1"/>
                </a:solidFill>
                <a:latin typeface="Arial"/>
                <a:ea typeface="Arial"/>
                <a:cs typeface="Arial"/>
                <a:sym typeface="Arial"/>
              </a:endParaRPr>
            </a:p>
          </p:txBody>
        </p:sp>
        <p:sp>
          <p:nvSpPr>
            <p:cNvPr id="152" name="Google Shape;152;p10"/>
            <p:cNvSpPr/>
            <p:nvPr/>
          </p:nvSpPr>
          <p:spPr>
            <a:xfrm>
              <a:off x="4350408" y="4675502"/>
              <a:ext cx="3488135" cy="426584"/>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More humorous, more attention to safety, more concise</a:t>
              </a:r>
              <a:endParaRPr b="0" i="0" sz="1800" u="none" cap="none" strike="noStrike">
                <a:solidFill>
                  <a:schemeClr val="dk1"/>
                </a:solidFill>
                <a:latin typeface="Arial"/>
                <a:ea typeface="Arial"/>
                <a:cs typeface="Arial"/>
                <a:sym typeface="Arial"/>
              </a:endParaRPr>
            </a:p>
          </p:txBody>
        </p:sp>
      </p:grpSp>
      <p:grpSp>
        <p:nvGrpSpPr>
          <p:cNvPr id="153" name="Google Shape;153;p10"/>
          <p:cNvGrpSpPr/>
          <p:nvPr/>
        </p:nvGrpSpPr>
        <p:grpSpPr>
          <a:xfrm>
            <a:off x="8170883" y="2608721"/>
            <a:ext cx="3655733" cy="2493365"/>
            <a:chOff x="8170883" y="2608721"/>
            <a:chExt cx="3655733" cy="2493365"/>
          </a:xfrm>
        </p:grpSpPr>
        <p:pic>
          <p:nvPicPr>
            <p:cNvPr descr="Save money.png" id="154" name="Google Shape;154;p10"/>
            <p:cNvPicPr preferRelativeResize="0"/>
            <p:nvPr/>
          </p:nvPicPr>
          <p:blipFill rotWithShape="1">
            <a:blip r:embed="rId5">
              <a:alphaModFix/>
            </a:blip>
            <a:srcRect b="0" l="0" r="0" t="0"/>
            <a:stretch/>
          </p:blipFill>
          <p:spPr>
            <a:xfrm>
              <a:off x="9284553" y="2608721"/>
              <a:ext cx="1428393" cy="1428393"/>
            </a:xfrm>
            <a:prstGeom prst="rect">
              <a:avLst/>
            </a:prstGeom>
            <a:noFill/>
            <a:ln>
              <a:noFill/>
            </a:ln>
          </p:spPr>
        </p:pic>
        <p:sp>
          <p:nvSpPr>
            <p:cNvPr id="155" name="Google Shape;155;p10"/>
            <p:cNvSpPr/>
            <p:nvPr/>
          </p:nvSpPr>
          <p:spPr>
            <a:xfrm>
              <a:off x="8170883" y="4128769"/>
              <a:ext cx="3655733" cy="460805"/>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1440"/>
                <a:buFont typeface="Montserrat"/>
                <a:buNone/>
              </a:pPr>
              <a:r>
                <a:rPr b="0" i="0" lang="en-US" sz="1440" u="none" cap="none" strike="noStrike">
                  <a:solidFill>
                    <a:srgbClr val="FFFFFF"/>
                  </a:solidFill>
                  <a:latin typeface="Montserrat"/>
                  <a:ea typeface="Montserrat"/>
                  <a:cs typeface="Montserrat"/>
                  <a:sym typeface="Montserrat"/>
                </a:rPr>
                <a:t>As they converge in capability, price may become the differentiator</a:t>
              </a:r>
              <a:endParaRPr b="0" i="0" sz="1800" u="none" cap="none" strike="noStrike">
                <a:solidFill>
                  <a:schemeClr val="dk1"/>
                </a:solidFill>
                <a:latin typeface="Arial"/>
                <a:ea typeface="Arial"/>
                <a:cs typeface="Arial"/>
                <a:sym typeface="Arial"/>
              </a:endParaRPr>
            </a:p>
          </p:txBody>
        </p:sp>
        <p:sp>
          <p:nvSpPr>
            <p:cNvPr id="156" name="Google Shape;156;p10"/>
            <p:cNvSpPr/>
            <p:nvPr/>
          </p:nvSpPr>
          <p:spPr>
            <a:xfrm>
              <a:off x="8170883" y="4675502"/>
              <a:ext cx="3655733" cy="426584"/>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FFFFF"/>
                </a:buClr>
                <a:buSzPts val="1200"/>
                <a:buFont typeface="Montserrat"/>
                <a:buNone/>
              </a:pPr>
              <a:r>
                <a:rPr b="0" i="0" lang="en-US" sz="1200" u="none" cap="none" strike="noStrike">
                  <a:solidFill>
                    <a:srgbClr val="FFFFFF"/>
                  </a:solidFill>
                  <a:latin typeface="Montserrat"/>
                  <a:ea typeface="Montserrat"/>
                  <a:cs typeface="Montserrat"/>
                  <a:sym typeface="Montserrat"/>
                </a:rPr>
                <a:t>Recent innovations have focused on lower cost variants</a:t>
              </a:r>
              <a:endParaRPr b="0" i="0" sz="18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1" name="Shape 161"/>
        <p:cNvGrpSpPr/>
        <p:nvPr/>
      </p:nvGrpSpPr>
      <p:grpSpPr>
        <a:xfrm>
          <a:off x="0" y="0"/>
          <a:ext cx="0" cy="0"/>
          <a:chOff x="0" y="0"/>
          <a:chExt cx="0" cy="0"/>
        </a:xfrm>
      </p:grpSpPr>
      <p:sp>
        <p:nvSpPr>
          <p:cNvPr id="162" name="Google Shape;162;p11"/>
          <p:cNvSpPr/>
          <p:nvPr/>
        </p:nvSpPr>
        <p:spPr>
          <a:xfrm>
            <a:off x="4528610" y="419516"/>
            <a:ext cx="7526284" cy="254953"/>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62A8BB"/>
              </a:buClr>
              <a:buSzPts val="1594"/>
              <a:buFont typeface="Montserrat"/>
              <a:buNone/>
            </a:pPr>
            <a:r>
              <a:rPr b="0" i="0" lang="en-US" sz="1594" u="none" cap="none" strike="noStrike">
                <a:solidFill>
                  <a:srgbClr val="62A8BB"/>
                </a:solidFill>
                <a:latin typeface="Montserrat"/>
                <a:ea typeface="Montserrat"/>
                <a:cs typeface="Montserrat"/>
                <a:sym typeface="Montserrat"/>
              </a:rPr>
              <a:t>PROGRESS REPORT</a:t>
            </a:r>
            <a:endParaRPr b="0" i="0" sz="1800" u="none" cap="none" strike="noStrike">
              <a:solidFill>
                <a:schemeClr val="dk1"/>
              </a:solidFill>
              <a:latin typeface="Arial"/>
              <a:ea typeface="Arial"/>
              <a:cs typeface="Arial"/>
              <a:sym typeface="Arial"/>
            </a:endParaRPr>
          </a:p>
        </p:txBody>
      </p:sp>
      <p:sp>
        <p:nvSpPr>
          <p:cNvPr id="163" name="Google Shape;163;p11"/>
          <p:cNvSpPr/>
          <p:nvPr/>
        </p:nvSpPr>
        <p:spPr>
          <a:xfrm>
            <a:off x="4528610" y="790154"/>
            <a:ext cx="7526284" cy="509906"/>
          </a:xfrm>
          <a:prstGeom prst="rect">
            <a:avLst/>
          </a:prstGeom>
          <a:noFill/>
          <a:ln>
            <a:noFill/>
          </a:ln>
        </p:spPr>
        <p:txBody>
          <a:bodyPr anchorCtr="0" anchor="t" bIns="0" lIns="0" spcFirstLastPara="1" rIns="0" wrap="square" tIns="0">
            <a:noAutofit/>
          </a:bodyPr>
          <a:lstStyle/>
          <a:p>
            <a:pPr indent="0" lvl="0" marL="0" marR="0" rtl="0" algn="ctr">
              <a:lnSpc>
                <a:spcPct val="125972"/>
              </a:lnSpc>
              <a:spcBef>
                <a:spcPts val="0"/>
              </a:spcBef>
              <a:spcAft>
                <a:spcPts val="0"/>
              </a:spcAft>
              <a:buClr>
                <a:srgbClr val="FFFFFF"/>
              </a:buClr>
              <a:buSzPts val="3188"/>
              <a:buFont typeface="Montserrat"/>
              <a:buNone/>
            </a:pPr>
            <a:r>
              <a:rPr b="0" i="0" lang="en-US" sz="3188" u="none" cap="none" strike="noStrike">
                <a:solidFill>
                  <a:srgbClr val="FFFFFF"/>
                </a:solidFill>
                <a:latin typeface="Montserrat"/>
                <a:ea typeface="Montserrat"/>
                <a:cs typeface="Montserrat"/>
                <a:sym typeface="Montserrat"/>
              </a:rPr>
              <a:t>Now 7.5% to mastery</a:t>
            </a:r>
            <a:endParaRPr b="0" i="0" sz="1800" u="none" cap="none" strike="noStrike">
              <a:solidFill>
                <a:schemeClr val="dk1"/>
              </a:solidFill>
              <a:latin typeface="Arial"/>
              <a:ea typeface="Arial"/>
              <a:cs typeface="Arial"/>
              <a:sym typeface="Arial"/>
            </a:endParaRPr>
          </a:p>
        </p:txBody>
      </p:sp>
      <p:sp>
        <p:nvSpPr>
          <p:cNvPr id="164" name="Google Shape;164;p11"/>
          <p:cNvSpPr/>
          <p:nvPr/>
        </p:nvSpPr>
        <p:spPr>
          <a:xfrm>
            <a:off x="0" y="0"/>
            <a:ext cx="4394583" cy="6856286"/>
          </a:xfrm>
          <a:prstGeom prst="rect">
            <a:avLst/>
          </a:prstGeom>
          <a:solidFill>
            <a:srgbClr val="F5F5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06_w1_3-2.png" id="165" name="Google Shape;165;p11"/>
          <p:cNvPicPr preferRelativeResize="0"/>
          <p:nvPr/>
        </p:nvPicPr>
        <p:blipFill rotWithShape="1">
          <a:blip r:embed="rId3">
            <a:alphaModFix/>
          </a:blip>
          <a:srcRect b="1875" l="3731" r="3731" t="1875"/>
          <a:stretch/>
        </p:blipFill>
        <p:spPr>
          <a:xfrm>
            <a:off x="0" y="0"/>
            <a:ext cx="4394583" cy="6856286"/>
          </a:xfrm>
          <a:prstGeom prst="rect">
            <a:avLst/>
          </a:prstGeom>
          <a:noFill/>
          <a:ln>
            <a:noFill/>
          </a:ln>
        </p:spPr>
      </p:pic>
      <p:sp>
        <p:nvSpPr>
          <p:cNvPr id="166" name="Google Shape;166;p11"/>
          <p:cNvSpPr/>
          <p:nvPr/>
        </p:nvSpPr>
        <p:spPr>
          <a:xfrm>
            <a:off x="5156392" y="2183432"/>
            <a:ext cx="6897791" cy="244687"/>
          </a:xfrm>
          <a:prstGeom prst="rect">
            <a:avLst/>
          </a:prstGeom>
          <a:noFill/>
          <a:ln>
            <a:noFill/>
          </a:ln>
        </p:spPr>
        <p:txBody>
          <a:bodyPr anchorCtr="0" anchor="t" bIns="0" lIns="0" spcFirstLastPara="1" rIns="0" wrap="square" tIns="0">
            <a:noAutofit/>
          </a:bodyPr>
          <a:lstStyle/>
          <a:p>
            <a:pPr indent="0" lvl="0" marL="0" marR="0" rtl="0" algn="l">
              <a:lnSpc>
                <a:spcPct val="125947"/>
              </a:lnSpc>
              <a:spcBef>
                <a:spcPts val="0"/>
              </a:spcBef>
              <a:spcAft>
                <a:spcPts val="0"/>
              </a:spcAft>
              <a:buClr>
                <a:srgbClr val="62A8BB"/>
              </a:buClr>
              <a:buSzPts val="1530"/>
              <a:buFont typeface="Montserrat"/>
              <a:buNone/>
            </a:pPr>
            <a:r>
              <a:rPr b="1" i="0" lang="en-US" sz="1530" u="none" cap="none" strike="noStrike">
                <a:solidFill>
                  <a:srgbClr val="62A8BB"/>
                </a:solidFill>
                <a:latin typeface="Montserrat"/>
                <a:ea typeface="Montserrat"/>
                <a:cs typeface="Montserrat"/>
                <a:sym typeface="Montserrat"/>
              </a:rPr>
              <a:t>What you can do ALREADY </a:t>
            </a:r>
            <a:endParaRPr b="0" i="0" sz="1800" u="none" cap="none" strike="noStrike">
              <a:solidFill>
                <a:schemeClr val="dk1"/>
              </a:solidFill>
              <a:latin typeface="Arial"/>
              <a:ea typeface="Arial"/>
              <a:cs typeface="Arial"/>
              <a:sym typeface="Arial"/>
            </a:endParaRPr>
          </a:p>
        </p:txBody>
      </p:sp>
      <p:sp>
        <p:nvSpPr>
          <p:cNvPr id="167" name="Google Shape;167;p11"/>
          <p:cNvSpPr/>
          <p:nvPr/>
        </p:nvSpPr>
        <p:spPr>
          <a:xfrm>
            <a:off x="5156392" y="2643047"/>
            <a:ext cx="6897791" cy="1163917"/>
          </a:xfrm>
          <a:prstGeom prst="rect">
            <a:avLst/>
          </a:prstGeom>
          <a:noFill/>
          <a:ln>
            <a:noFill/>
          </a:ln>
        </p:spPr>
        <p:txBody>
          <a:bodyPr anchorCtr="0" anchor="t" bIns="0" lIns="0" spcFirstLastPara="1" rIns="0" wrap="square" tIns="0">
            <a:noAutofit/>
          </a:bodyPr>
          <a:lstStyle/>
          <a:p>
            <a:pPr indent="-242900" lvl="0" marL="242900" marR="0" rtl="0" algn="l">
              <a:lnSpc>
                <a:spcPct val="125947"/>
              </a:lnSpc>
              <a:spcBef>
                <a:spcPts val="0"/>
              </a:spcBef>
              <a:spcAft>
                <a:spcPts val="0"/>
              </a:spcAft>
              <a:buClr>
                <a:srgbClr val="FFFFFF"/>
              </a:buClr>
              <a:buSzPts val="1530"/>
              <a:buFont typeface="Montserrat"/>
              <a:buChar char="•"/>
            </a:pPr>
            <a:r>
              <a:rPr b="0" i="0" lang="en-US" sz="1530" u="none" cap="none" strike="noStrike">
                <a:solidFill>
                  <a:srgbClr val="FFFFFF"/>
                </a:solidFill>
                <a:latin typeface="Montserrat"/>
                <a:ea typeface="Montserrat"/>
                <a:cs typeface="Montserrat"/>
                <a:sym typeface="Montserrat"/>
              </a:rPr>
              <a:t>Write code to call OpenAI's frontier models &amp; summarize</a:t>
            </a:r>
            <a:endParaRPr/>
          </a:p>
          <a:p>
            <a:pPr indent="-242900" lvl="0" marL="242900" marR="0" rtl="0" algn="l">
              <a:lnSpc>
                <a:spcPct val="125947"/>
              </a:lnSpc>
              <a:spcBef>
                <a:spcPts val="1659"/>
              </a:spcBef>
              <a:spcAft>
                <a:spcPts val="0"/>
              </a:spcAft>
              <a:buClr>
                <a:srgbClr val="FFFFFF"/>
              </a:buClr>
              <a:buSzPts val="1530"/>
              <a:buFont typeface="Montserrat"/>
              <a:buChar char="•"/>
            </a:pPr>
            <a:r>
              <a:rPr b="0" i="0" lang="en-US" sz="1530" u="none" cap="none" strike="noStrike">
                <a:solidFill>
                  <a:srgbClr val="FFFFFF"/>
                </a:solidFill>
                <a:latin typeface="Montserrat"/>
                <a:ea typeface="Montserrat"/>
                <a:cs typeface="Montserrat"/>
                <a:sym typeface="Montserrat"/>
              </a:rPr>
              <a:t>Explain the strengths and limitations of Frontier LLMs</a:t>
            </a:r>
            <a:endParaRPr/>
          </a:p>
          <a:p>
            <a:pPr indent="-242900" lvl="0" marL="242900" marR="0" rtl="0" algn="l">
              <a:lnSpc>
                <a:spcPct val="125947"/>
              </a:lnSpc>
              <a:spcBef>
                <a:spcPts val="1659"/>
              </a:spcBef>
              <a:spcAft>
                <a:spcPts val="0"/>
              </a:spcAft>
              <a:buClr>
                <a:srgbClr val="FFFFFF"/>
              </a:buClr>
              <a:buSzPts val="1530"/>
              <a:buFont typeface="Montserrat"/>
              <a:buChar char="•"/>
            </a:pPr>
            <a:r>
              <a:rPr b="0" i="0" lang="en-US" sz="1530" u="none" cap="none" strike="noStrike">
                <a:solidFill>
                  <a:srgbClr val="FFFFFF"/>
                </a:solidFill>
                <a:latin typeface="Montserrat"/>
                <a:ea typeface="Montserrat"/>
                <a:cs typeface="Montserrat"/>
                <a:sym typeface="Montserrat"/>
              </a:rPr>
              <a:t>Compare </a:t>
            </a:r>
            <a:r>
              <a:rPr lang="en-US" sz="1530">
                <a:solidFill>
                  <a:srgbClr val="FFFFFF"/>
                </a:solidFill>
                <a:latin typeface="Montserrat"/>
                <a:ea typeface="Montserrat"/>
                <a:cs typeface="Montserrat"/>
                <a:sym typeface="Montserrat"/>
              </a:rPr>
              <a:t>&amp;</a:t>
            </a:r>
            <a:r>
              <a:rPr b="0" i="0" lang="en-US" sz="1530" u="none" cap="none" strike="noStrike">
                <a:solidFill>
                  <a:srgbClr val="FFFFFF"/>
                </a:solidFill>
                <a:latin typeface="Montserrat"/>
                <a:ea typeface="Montserrat"/>
                <a:cs typeface="Montserrat"/>
                <a:sym typeface="Montserrat"/>
              </a:rPr>
              <a:t> contrast the leading models; explain Chat v</a:t>
            </a:r>
            <a:r>
              <a:rPr lang="en-US" sz="1530">
                <a:solidFill>
                  <a:srgbClr val="FFFFFF"/>
                </a:solidFill>
                <a:latin typeface="Montserrat"/>
                <a:ea typeface="Montserrat"/>
                <a:cs typeface="Montserrat"/>
                <a:sym typeface="Montserrat"/>
              </a:rPr>
              <a:t>s Reasoning</a:t>
            </a:r>
            <a:endParaRPr b="0" i="0" sz="1800" u="none" cap="none" strike="noStrike">
              <a:solidFill>
                <a:schemeClr val="dk1"/>
              </a:solidFill>
              <a:latin typeface="Arial"/>
              <a:ea typeface="Arial"/>
              <a:cs typeface="Arial"/>
              <a:sym typeface="Arial"/>
            </a:endParaRPr>
          </a:p>
        </p:txBody>
      </p:sp>
      <p:cxnSp>
        <p:nvCxnSpPr>
          <p:cNvPr id="168" name="Google Shape;168;p11"/>
          <p:cNvCxnSpPr/>
          <p:nvPr/>
        </p:nvCxnSpPr>
        <p:spPr>
          <a:xfrm>
            <a:off x="5156351" y="3995333"/>
            <a:ext cx="6270722" cy="0"/>
          </a:xfrm>
          <a:prstGeom prst="straightConnector1">
            <a:avLst/>
          </a:prstGeom>
          <a:noFill/>
          <a:ln cap="flat" cmpd="sng" w="12700">
            <a:solidFill>
              <a:srgbClr val="FFFFFF">
                <a:alpha val="20000"/>
              </a:srgbClr>
            </a:solidFill>
            <a:prstDash val="solid"/>
            <a:miter lim="800000"/>
            <a:headEnd len="sm" w="sm" type="none"/>
            <a:tailEnd len="sm" w="sm" type="none"/>
          </a:ln>
        </p:spPr>
      </p:cxnSp>
      <p:sp>
        <p:nvSpPr>
          <p:cNvPr id="169" name="Google Shape;169;p11"/>
          <p:cNvSpPr/>
          <p:nvPr/>
        </p:nvSpPr>
        <p:spPr>
          <a:xfrm>
            <a:off x="5156392" y="4374155"/>
            <a:ext cx="6897791" cy="244687"/>
          </a:xfrm>
          <a:prstGeom prst="rect">
            <a:avLst/>
          </a:prstGeom>
          <a:noFill/>
          <a:ln>
            <a:noFill/>
          </a:ln>
        </p:spPr>
        <p:txBody>
          <a:bodyPr anchorCtr="0" anchor="t" bIns="0" lIns="0" spcFirstLastPara="1" rIns="0" wrap="square" tIns="0">
            <a:noAutofit/>
          </a:bodyPr>
          <a:lstStyle/>
          <a:p>
            <a:pPr indent="0" lvl="0" marL="0" marR="0" rtl="0" algn="l">
              <a:lnSpc>
                <a:spcPct val="125947"/>
              </a:lnSpc>
              <a:spcBef>
                <a:spcPts val="0"/>
              </a:spcBef>
              <a:spcAft>
                <a:spcPts val="0"/>
              </a:spcAft>
              <a:buClr>
                <a:srgbClr val="62A8BB"/>
              </a:buClr>
              <a:buSzPts val="1530"/>
              <a:buFont typeface="Montserrat"/>
              <a:buNone/>
            </a:pPr>
            <a:r>
              <a:rPr b="1" i="0" lang="en-US" sz="1530" u="none" cap="none" strike="noStrike">
                <a:solidFill>
                  <a:srgbClr val="62A8BB"/>
                </a:solidFill>
                <a:latin typeface="Montserrat"/>
                <a:ea typeface="Montserrat"/>
                <a:cs typeface="Montserrat"/>
                <a:sym typeface="Montserrat"/>
              </a:rPr>
              <a:t>What you'll be able to do TOMORROW</a:t>
            </a:r>
            <a:endParaRPr b="0" i="0" sz="1800" u="none" cap="none" strike="noStrike">
              <a:solidFill>
                <a:schemeClr val="dk1"/>
              </a:solidFill>
              <a:latin typeface="Arial"/>
              <a:ea typeface="Arial"/>
              <a:cs typeface="Arial"/>
              <a:sym typeface="Arial"/>
            </a:endParaRPr>
          </a:p>
        </p:txBody>
      </p:sp>
      <p:sp>
        <p:nvSpPr>
          <p:cNvPr id="170" name="Google Shape;170;p11"/>
          <p:cNvSpPr/>
          <p:nvPr/>
        </p:nvSpPr>
        <p:spPr>
          <a:xfrm>
            <a:off x="5156392" y="4833771"/>
            <a:ext cx="6897791" cy="1163917"/>
          </a:xfrm>
          <a:prstGeom prst="rect">
            <a:avLst/>
          </a:prstGeom>
          <a:noFill/>
          <a:ln>
            <a:noFill/>
          </a:ln>
        </p:spPr>
        <p:txBody>
          <a:bodyPr anchorCtr="0" anchor="t" bIns="0" lIns="0" spcFirstLastPara="1" rIns="0" wrap="square" tIns="0">
            <a:noAutofit/>
          </a:bodyPr>
          <a:lstStyle/>
          <a:p>
            <a:pPr indent="-242900" lvl="0" marL="242900" marR="0" rtl="0" algn="l">
              <a:lnSpc>
                <a:spcPct val="125947"/>
              </a:lnSpc>
              <a:spcBef>
                <a:spcPts val="0"/>
              </a:spcBef>
              <a:spcAft>
                <a:spcPts val="0"/>
              </a:spcAft>
              <a:buClr>
                <a:srgbClr val="FFFFFF"/>
              </a:buClr>
              <a:buSzPts val="1530"/>
              <a:buFont typeface="Montserrat"/>
              <a:buChar char="•"/>
            </a:pPr>
            <a:r>
              <a:rPr b="0" i="0" lang="en-US" sz="1530" u="none" cap="none" strike="noStrike">
                <a:solidFill>
                  <a:srgbClr val="FFFFFF"/>
                </a:solidFill>
                <a:latin typeface="Montserrat"/>
                <a:ea typeface="Montserrat"/>
                <a:cs typeface="Montserrat"/>
                <a:sym typeface="Montserrat"/>
              </a:rPr>
              <a:t>Describe the dizzying rise of the Transformer</a:t>
            </a:r>
            <a:endParaRPr/>
          </a:p>
          <a:p>
            <a:pPr indent="-242900" lvl="0" marL="242900" marR="0" rtl="0" algn="l">
              <a:lnSpc>
                <a:spcPct val="125947"/>
              </a:lnSpc>
              <a:spcBef>
                <a:spcPts val="1659"/>
              </a:spcBef>
              <a:spcAft>
                <a:spcPts val="0"/>
              </a:spcAft>
              <a:buClr>
                <a:srgbClr val="FFFFFF"/>
              </a:buClr>
              <a:buSzPts val="1530"/>
              <a:buFont typeface="Montserrat"/>
              <a:buChar char="•"/>
            </a:pPr>
            <a:r>
              <a:rPr lang="en-US" sz="1530">
                <a:solidFill>
                  <a:srgbClr val="FFFFFF"/>
                </a:solidFill>
                <a:latin typeface="Montserrat"/>
                <a:ea typeface="Montserrat"/>
                <a:cs typeface="Montserrat"/>
                <a:sym typeface="Montserrat"/>
              </a:rPr>
              <a:t>Explain the latest: Agents, Context Engineering, Agent Loops</a:t>
            </a:r>
            <a:endParaRPr/>
          </a:p>
          <a:p>
            <a:pPr indent="-242900" lvl="0" marL="242900" marR="0" rtl="0" algn="l">
              <a:lnSpc>
                <a:spcPct val="125947"/>
              </a:lnSpc>
              <a:spcBef>
                <a:spcPts val="1659"/>
              </a:spcBef>
              <a:spcAft>
                <a:spcPts val="0"/>
              </a:spcAft>
              <a:buClr>
                <a:srgbClr val="FFFFFF"/>
              </a:buClr>
              <a:buSzPts val="1530"/>
              <a:buFont typeface="Montserrat"/>
              <a:buChar char="•"/>
            </a:pPr>
            <a:r>
              <a:rPr b="0" i="0" lang="en-US" sz="1530" u="none" cap="none" strike="noStrike">
                <a:solidFill>
                  <a:srgbClr val="FFFFFF"/>
                </a:solidFill>
                <a:latin typeface="Montserrat"/>
                <a:ea typeface="Montserrat"/>
                <a:cs typeface="Montserrat"/>
                <a:sym typeface="Montserrat"/>
              </a:rPr>
              <a:t>Understand tokens, context windows, parameters, API cost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