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92683"/>
            <a:ext cx="11998500" cy="4968376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V4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1429" r="1429" t="0"/>
          <a:stretch/>
        </p:blipFill>
        <p:spPr>
          <a:xfrm>
            <a:off x="95226" y="1792683"/>
            <a:ext cx="11998500" cy="496837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2815838" y="582740"/>
            <a:ext cx="6557275" cy="4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47"/>
              <a:buFont typeface="Montserrat"/>
              <a:buNone/>
            </a:pPr>
            <a:r>
              <a:rPr b="0" i="0" lang="en-US" sz="334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815838" y="1075163"/>
            <a:ext cx="6557275" cy="356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Montserrat"/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 REPORT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Showtime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9_w1_5-2.png" id="28" name="Google Shape;28;p4"/>
          <p:cNvPicPr preferRelativeResize="0"/>
          <p:nvPr/>
        </p:nvPicPr>
        <p:blipFill rotWithShape="1">
          <a:blip r:embed="rId3">
            <a:alphaModFix/>
          </a:blip>
          <a:srcRect b="4017" l="5790" r="5790" t="4017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do ALREADY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Write code to call OpenAI's frontier models &amp; summarize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Contrast the leading Frontier LLMs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 to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transformers, tokens, context windows, API costs and more!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7" y="4122773"/>
            <a:ext cx="627072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you'll be able to do BY END OF TODAY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the OpenAI Chat Completions API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one-shot prompting, streaming, markdown &amp; json results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 business solution - in a matter of minutes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11251" y="419516"/>
            <a:ext cx="8027359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PROBLEM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1251" y="790154"/>
            <a:ext cx="8027359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Company Sales Brochure Generator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249882" y="0"/>
            <a:ext cx="3939070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9_w1_5-1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6911" r="6911" t="0"/>
          <a:stretch/>
        </p:blipFill>
        <p:spPr>
          <a:xfrm>
            <a:off x="8249882" y="0"/>
            <a:ext cx="3939070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761810" y="2186631"/>
            <a:ext cx="7398866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product that can generate marketing brochures about a company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61810" y="2849718"/>
            <a:ext cx="7398866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prospective clients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investors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recruitment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761808" y="4122773"/>
            <a:ext cx="6726245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5"/>
          <p:cNvSpPr/>
          <p:nvPr/>
        </p:nvSpPr>
        <p:spPr>
          <a:xfrm>
            <a:off x="761810" y="4490510"/>
            <a:ext cx="7398866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technology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61810" y="4923194"/>
            <a:ext cx="7398866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Open AI API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one-shot prompting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Stream back results and show with formatting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Revisiting the environment setup instructions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146" y="2837889"/>
            <a:ext cx="857036" cy="85703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29445" y="4067825"/>
            <a:ext cx="3121514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Clone the Repo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29445" y="4384154"/>
            <a:ext cx="3121514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See the Green Code button in Github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0853" y="2826735"/>
            <a:ext cx="647538" cy="85703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4696079" y="4067825"/>
            <a:ext cx="2796793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the README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696079" y="4384154"/>
            <a:ext cx="2796793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Anaconda is recommended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696079" y="4681215"/>
            <a:ext cx="2796793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a .env file is recommended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696079" y="4978276"/>
            <a:ext cx="2796793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Then run: jupyter lab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4403" y="2837895"/>
            <a:ext cx="476131" cy="85703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8411805" y="4067825"/>
            <a:ext cx="3173889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an OpenAI key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411805" y="4384154"/>
            <a:ext cx="3173889" cy="21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Link is in the README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411805" y="4681215"/>
            <a:ext cx="3173889" cy="426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Monitor Usage and Billing - should be extremely low for this class!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5408371" y="3549333"/>
            <a:ext cx="1372209" cy="611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5"/>
              <a:buFont typeface="Montserrat"/>
              <a:buNone/>
            </a:pPr>
            <a:r>
              <a:rPr b="0" i="0" lang="en-US" sz="382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00:10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745" y="2167157"/>
            <a:ext cx="3570982" cy="357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0471" y="2167092"/>
            <a:ext cx="3570982" cy="3570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Congratulations! Week 1 Challenge and Exercise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76131" y="1523619"/>
            <a:ext cx="3482711" cy="4856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1D5_Final_Task.png" id="82" name="Google Shape;82;p8"/>
          <p:cNvPicPr preferRelativeResize="0"/>
          <p:nvPr/>
        </p:nvPicPr>
        <p:blipFill rotWithShape="1">
          <a:blip r:embed="rId3">
            <a:alphaModFix/>
          </a:blip>
          <a:srcRect b="7764" l="4567" r="4567" t="7764"/>
          <a:stretch/>
        </p:blipFill>
        <p:spPr>
          <a:xfrm>
            <a:off x="476131" y="1523619"/>
            <a:ext cx="3482711" cy="485653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4625425" y="1745317"/>
            <a:ext cx="7481847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8"/>
          <p:cNvGrpSpPr/>
          <p:nvPr/>
        </p:nvGrpSpPr>
        <p:grpSpPr>
          <a:xfrm>
            <a:off x="4625425" y="2190872"/>
            <a:ext cx="7481847" cy="701549"/>
            <a:chOff x="4625425" y="2190872"/>
            <a:chExt cx="7481847" cy="701549"/>
          </a:xfrm>
        </p:grpSpPr>
        <p:sp>
          <p:nvSpPr>
            <p:cNvPr id="85" name="Google Shape;85;p8"/>
            <p:cNvSpPr/>
            <p:nvPr/>
          </p:nvSpPr>
          <p:spPr>
            <a:xfrm>
              <a:off x="4625425" y="2190872"/>
              <a:ext cx="7481847" cy="28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ontserrat"/>
                <a:buNone/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Tweak the Brochure generator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4625425" y="2636426"/>
              <a:ext cx="7481847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Experiment with the prompting: more examples, different styles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8"/>
          <p:cNvGrpSpPr/>
          <p:nvPr/>
        </p:nvGrpSpPr>
        <p:grpSpPr>
          <a:xfrm>
            <a:off x="4625425" y="3050065"/>
            <a:ext cx="7481847" cy="957544"/>
            <a:chOff x="4625425" y="3050065"/>
            <a:chExt cx="7481847" cy="957544"/>
          </a:xfrm>
        </p:grpSpPr>
        <p:sp>
          <p:nvSpPr>
            <p:cNvPr id="88" name="Google Shape;88;p8"/>
            <p:cNvSpPr/>
            <p:nvPr/>
          </p:nvSpPr>
          <p:spPr>
            <a:xfrm>
              <a:off x="4625425" y="3050065"/>
              <a:ext cx="7481847" cy="28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ontserrat"/>
                <a:buNone/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 another LLM call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4625425" y="3495619"/>
              <a:ext cx="7481847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How about 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translating the entire brochure to Spanish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>
            <a:off x="4625425" y="3875478"/>
            <a:ext cx="7481700" cy="701454"/>
            <a:chOff x="4625425" y="3875478"/>
            <a:chExt cx="7481700" cy="701454"/>
          </a:xfrm>
        </p:grpSpPr>
        <p:sp>
          <p:nvSpPr>
            <p:cNvPr id="91" name="Google Shape;91;p8"/>
            <p:cNvSpPr/>
            <p:nvPr/>
          </p:nvSpPr>
          <p:spPr>
            <a:xfrm>
              <a:off x="4625425" y="3875478"/>
              <a:ext cx="74817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ontserrat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And: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4625425" y="4321032"/>
              <a:ext cx="7481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Make something analogous to apply to your business!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4625425" y="5024446"/>
            <a:ext cx="7481847" cy="957545"/>
            <a:chOff x="4625425" y="5024446"/>
            <a:chExt cx="7481847" cy="957545"/>
          </a:xfrm>
        </p:grpSpPr>
        <p:sp>
          <p:nvSpPr>
            <p:cNvPr id="94" name="Google Shape;94;p8"/>
            <p:cNvSpPr/>
            <p:nvPr/>
          </p:nvSpPr>
          <p:spPr>
            <a:xfrm>
              <a:off x="4625425" y="5024446"/>
              <a:ext cx="7481847" cy="28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B356"/>
                </a:buClr>
                <a:buSzPts val="1800"/>
                <a:buFont typeface="Montserrat"/>
                <a:buNone/>
              </a:pPr>
              <a:r>
                <a:rPr b="1" i="0" lang="en-US" sz="180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EXERCISE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4625425" y="5470001"/>
              <a:ext cx="7481847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technical tutor that uses GPT-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5-nano or Ollama </a:t>
              </a: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answer your questions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MAJOR ACCOMPLISHMENT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week complete!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eek_1_D5_2.png" id="104" name="Google Shape;104;p9"/>
          <p:cNvPicPr preferRelativeResize="0"/>
          <p:nvPr/>
        </p:nvPicPr>
        <p:blipFill rotWithShape="1">
          <a:blip r:embed="rId3">
            <a:alphaModFix/>
          </a:blip>
          <a:srcRect b="1875" l="3731" r="3731" t="1875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lang="en-US" sz="144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 to</a:t>
            </a: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transformers, tokens, context windows, API costs etc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Contrast the leading Frontier LLMs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use the OpenAI API including streaming with markdown and JSON generation, and Ollama API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9"/>
          <p:cNvCxnSpPr/>
          <p:nvPr/>
        </p:nvCxnSpPr>
        <p:spPr>
          <a:xfrm>
            <a:off x="5156344" y="4122773"/>
            <a:ext cx="627072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9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next week you will be proficient with Frontier Model APIs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APIs for OpenAI, Anthropic and Gemini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 with Agents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 customer support agent with a Chat UI!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