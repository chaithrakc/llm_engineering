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embeddedFontLst>
    <p:embeddedFont>
      <p:font typeface="Montserrat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Video URL: https://videos.pexels.com/video-files/6963744/6963744-hd_1920_1080_25fps.mp4</a:t>
            </a:r>
            <a:endParaRPr/>
          </a:p>
        </p:txBody>
      </p:sp>
      <p:sp>
        <p:nvSpPr>
          <p:cNvPr id="103" name="Google Shape;10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5226" y="1772372"/>
            <a:ext cx="11998500" cy="4988687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erated Image October 04, 2025 - 3_12PM (1).png" id="17" name="Google Shape;17;p3"/>
          <p:cNvPicPr preferRelativeResize="0"/>
          <p:nvPr/>
        </p:nvPicPr>
        <p:blipFill rotWithShape="1">
          <a:blip r:embed="rId3">
            <a:alphaModFix/>
          </a:blip>
          <a:srcRect b="2483" l="0" r="0" t="2483"/>
          <a:stretch/>
        </p:blipFill>
        <p:spPr>
          <a:xfrm>
            <a:off x="95226" y="1772372"/>
            <a:ext cx="11998500" cy="4988687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3051523" y="588022"/>
            <a:ext cx="6085906" cy="414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8"/>
              <a:buFont typeface="Montserrat"/>
              <a:buNone/>
            </a:pPr>
            <a:r>
              <a:rPr b="0" i="0" lang="en-US" sz="310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LLM Engineering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051523" y="1045256"/>
            <a:ext cx="6085906" cy="331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72"/>
              <a:buFont typeface="Montserrat"/>
              <a:buNone/>
            </a:pPr>
            <a:r>
              <a:rPr b="0" i="0" lang="en-US" sz="207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MASTER AI &amp; LARGE LANGUAGE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WEEK 4 DAY 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384440" y="790154"/>
            <a:ext cx="5814623" cy="10198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Today equips you to make important decisions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penAI Playground 2025-10-04 at 18.51.09.png" id="28" name="Google Shape;28;p4"/>
          <p:cNvPicPr preferRelativeResize="0"/>
          <p:nvPr/>
        </p:nvPicPr>
        <p:blipFill rotWithShape="1">
          <a:blip r:embed="rId3">
            <a:alphaModFix/>
          </a:blip>
          <a:srcRect b="853" l="2748" r="2748" t="853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5156392" y="2707251"/>
            <a:ext cx="6897791" cy="201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31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60"/>
              <a:buFont typeface="Montserrat"/>
              <a:buNone/>
            </a:pPr>
            <a:r>
              <a:rPr b="1" i="0" lang="en-US" sz="126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156392" y="3085775"/>
            <a:ext cx="6897791" cy="958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Montserrat"/>
              <a:buChar char="•"/>
            </a:pPr>
            <a:r>
              <a:rPr b="0" i="0" lang="en-US" sz="12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Code with Frontier Models including AI Assistants with Tools</a:t>
            </a:r>
            <a:endParaRPr/>
          </a:p>
          <a:p>
            <a:pPr indent="-242900" lvl="0" marL="242900" marR="0" rtl="0" algn="l">
              <a:lnSpc>
                <a:spcPct val="126031"/>
              </a:lnSpc>
              <a:spcBef>
                <a:spcPts val="1367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Montserrat"/>
              <a:buChar char="•"/>
            </a:pPr>
            <a:r>
              <a:rPr b="0" i="0" lang="en-US" sz="12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solutions with open-source LLMs with Hugging Face transformers</a:t>
            </a:r>
            <a:endParaRPr/>
          </a:p>
          <a:p>
            <a:pPr indent="-242900" lvl="0" marL="242900" marR="0" rtl="0" algn="l">
              <a:lnSpc>
                <a:spcPct val="126031"/>
              </a:lnSpc>
              <a:spcBef>
                <a:spcPts val="1367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Montserrat"/>
              <a:buChar char="•"/>
            </a:pPr>
            <a:r>
              <a:rPr lang="en-US" sz="126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Compare LLM benchmarks; familiar with benefits and limitations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4"/>
          <p:cNvCxnSpPr/>
          <p:nvPr/>
        </p:nvCxnSpPr>
        <p:spPr>
          <a:xfrm>
            <a:off x="5156349" y="4199475"/>
            <a:ext cx="6270719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" name="Google Shape;32;p4"/>
          <p:cNvSpPr/>
          <p:nvPr/>
        </p:nvSpPr>
        <p:spPr>
          <a:xfrm>
            <a:off x="5156392" y="4545042"/>
            <a:ext cx="6897791" cy="201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31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60"/>
              <a:buFont typeface="Montserrat"/>
              <a:buNone/>
            </a:pPr>
            <a:r>
              <a:rPr b="1" i="0" lang="en-US" sz="126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After today you will be able 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156392" y="4923566"/>
            <a:ext cx="6897791" cy="958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Montserrat"/>
              <a:buChar char="•"/>
            </a:pPr>
            <a:r>
              <a:rPr b="0" i="0" lang="en-US" sz="12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Navigate the most useful leaderboards and Arenas to evaluate LLMs</a:t>
            </a:r>
            <a:endParaRPr/>
          </a:p>
          <a:p>
            <a:pPr indent="-242900" lvl="0" marL="242900" marR="0" rtl="0" algn="l">
              <a:lnSpc>
                <a:spcPct val="126031"/>
              </a:lnSpc>
              <a:spcBef>
                <a:spcPts val="1367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Montserrat"/>
              <a:buChar char="•"/>
            </a:pPr>
            <a:r>
              <a:rPr b="0" i="0" lang="en-US" sz="12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Give real-world use cases of LLMs solving commercial problems</a:t>
            </a:r>
            <a:endParaRPr/>
          </a:p>
          <a:p>
            <a:pPr indent="-242900" lvl="0" marL="242900" marR="0" rtl="0" algn="l">
              <a:lnSpc>
                <a:spcPct val="126031"/>
              </a:lnSpc>
              <a:spcBef>
                <a:spcPts val="1367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Montserrat"/>
              <a:buChar char="•"/>
            </a:pPr>
            <a:r>
              <a:rPr b="0" i="0" lang="en-US" sz="12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choose LLMs for your projects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B356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0" y="362827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3188"/>
              <a:buFont typeface="Montserrat"/>
              <a:buNone/>
            </a:pPr>
            <a:r>
              <a:rPr lang="en-US" sz="3188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Five</a:t>
            </a:r>
            <a:r>
              <a:rPr b="0" i="0" lang="en-US" sz="3188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 Leaderboards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0" y="978375"/>
            <a:ext cx="12188952" cy="266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4C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5A5A4C"/>
                </a:solidFill>
                <a:latin typeface="Montserrat"/>
                <a:ea typeface="Montserrat"/>
                <a:cs typeface="Montserrat"/>
                <a:sym typeface="Montserrat"/>
              </a:rPr>
              <a:t>A tour of the essential leaderboards for selecting LLMs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" name="Google Shape;41;p5"/>
          <p:cNvGrpSpPr/>
          <p:nvPr/>
        </p:nvGrpSpPr>
        <p:grpSpPr>
          <a:xfrm>
            <a:off x="2503704" y="4327106"/>
            <a:ext cx="2503500" cy="2049677"/>
            <a:chOff x="938454" y="1875956"/>
            <a:chExt cx="2503500" cy="2049677"/>
          </a:xfrm>
        </p:grpSpPr>
        <p:pic>
          <p:nvPicPr>
            <p:cNvPr descr="HG3.png" id="42" name="Google Shape;42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76006" y="1875956"/>
              <a:ext cx="1428393" cy="1428393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43" name="Google Shape;43;p5"/>
            <p:cNvSpPr/>
            <p:nvPr/>
          </p:nvSpPr>
          <p:spPr>
            <a:xfrm>
              <a:off x="1476006" y="1875956"/>
              <a:ext cx="1428393" cy="1428393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5"/>
            <p:cNvSpPr/>
            <p:nvPr/>
          </p:nvSpPr>
          <p:spPr>
            <a:xfrm>
              <a:off x="938454" y="3396004"/>
              <a:ext cx="2503496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Hugging Face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938454" y="3712333"/>
              <a:ext cx="2503500" cy="21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5A4C"/>
                </a:buClr>
                <a:buSzPts val="1200"/>
                <a:buFont typeface="Montserrat"/>
                <a:buNone/>
              </a:pPr>
              <a:r>
                <a:rPr lang="en-US" sz="1200">
                  <a:solidFill>
                    <a:srgbClr val="5A5A4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Open Source leaderboards</a:t>
              </a:r>
              <a:r>
                <a:rPr lang="en-US" sz="1200">
                  <a:solidFill>
                    <a:srgbClr val="5A5A4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" name="Google Shape;46;p5"/>
          <p:cNvGrpSpPr/>
          <p:nvPr/>
        </p:nvGrpSpPr>
        <p:grpSpPr>
          <a:xfrm>
            <a:off x="1202504" y="1901309"/>
            <a:ext cx="2566346" cy="2049670"/>
            <a:chOff x="907029" y="4161384"/>
            <a:chExt cx="2566346" cy="2049670"/>
          </a:xfrm>
        </p:grpSpPr>
        <p:pic>
          <p:nvPicPr>
            <p:cNvPr descr="Health.png" id="47" name="Google Shape;47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76006" y="4161384"/>
              <a:ext cx="1428393" cy="1428393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48" name="Google Shape;48;p5"/>
            <p:cNvSpPr/>
            <p:nvPr/>
          </p:nvSpPr>
          <p:spPr>
            <a:xfrm>
              <a:off x="1476006" y="4161384"/>
              <a:ext cx="1428393" cy="1428393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>
              <a:off x="907029" y="5681432"/>
              <a:ext cx="2566346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1440"/>
                <a:buFont typeface="Montserrat"/>
                <a:buNone/>
              </a:pPr>
              <a:r>
                <a:rPr lang="en-US" sz="1440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Artificial Analysis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907029" y="5997762"/>
              <a:ext cx="2566346" cy="213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5A4C"/>
                </a:buClr>
                <a:buSzPts val="1200"/>
                <a:buFont typeface="Montserrat"/>
                <a:buNone/>
              </a:pPr>
              <a:r>
                <a:rPr lang="en-US" sz="1200">
                  <a:solidFill>
                    <a:srgbClr val="5A5A4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leaderboard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" name="Google Shape;51;p5"/>
          <p:cNvGrpSpPr/>
          <p:nvPr/>
        </p:nvGrpSpPr>
        <p:grpSpPr>
          <a:xfrm>
            <a:off x="3963132" y="1901309"/>
            <a:ext cx="3194839" cy="2049670"/>
            <a:chOff x="4497057" y="4161384"/>
            <a:chExt cx="3194839" cy="2049670"/>
          </a:xfrm>
        </p:grpSpPr>
        <p:pic>
          <p:nvPicPr>
            <p:cNvPr descr="API_Cost.png" id="52" name="Google Shape;52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380280" y="4161384"/>
              <a:ext cx="1428393" cy="1428393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53" name="Google Shape;53;p5"/>
            <p:cNvSpPr/>
            <p:nvPr/>
          </p:nvSpPr>
          <p:spPr>
            <a:xfrm>
              <a:off x="5380280" y="4161384"/>
              <a:ext cx="1428393" cy="1428393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4497057" y="5681432"/>
              <a:ext cx="3194839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Vellum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4497057" y="5997762"/>
              <a:ext cx="3194839" cy="213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5A4C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5A5A4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includes API cost and context window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" name="Google Shape;56;p5"/>
          <p:cNvGrpSpPr/>
          <p:nvPr/>
        </p:nvGrpSpPr>
        <p:grpSpPr>
          <a:xfrm>
            <a:off x="8346299" y="1912259"/>
            <a:ext cx="1699800" cy="2027766"/>
            <a:chOff x="9284549" y="4161384"/>
            <a:chExt cx="1699800" cy="2027766"/>
          </a:xfrm>
        </p:grpSpPr>
        <p:pic>
          <p:nvPicPr>
            <p:cNvPr descr="Knoweledge (1).png" id="57" name="Google Shape;57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84553" y="4161384"/>
              <a:ext cx="1428393" cy="1428393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58" name="Google Shape;58;p5"/>
            <p:cNvSpPr/>
            <p:nvPr/>
          </p:nvSpPr>
          <p:spPr>
            <a:xfrm>
              <a:off x="9284553" y="4161384"/>
              <a:ext cx="1428393" cy="1428393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9506430" y="5681432"/>
              <a:ext cx="984639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1440"/>
                <a:buFont typeface="Montserrat"/>
                <a:buNone/>
              </a:pPr>
              <a:r>
                <a:rPr lang="en-US" sz="1440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Scale.com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5"/>
            <p:cNvSpPr/>
            <p:nvPr/>
          </p:nvSpPr>
          <p:spPr>
            <a:xfrm>
              <a:off x="9284549" y="5997750"/>
              <a:ext cx="1699800" cy="19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5A4C"/>
                </a:buClr>
                <a:buSzPts val="1200"/>
                <a:buFont typeface="Montserrat"/>
                <a:buNone/>
              </a:pPr>
              <a:r>
                <a:rPr lang="en-US" sz="1200">
                  <a:solidFill>
                    <a:srgbClr val="5A5A4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SEAL leaderboards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" name="Google Shape;61;p5"/>
          <p:cNvGrpSpPr/>
          <p:nvPr/>
        </p:nvGrpSpPr>
        <p:grpSpPr>
          <a:xfrm>
            <a:off x="6376167" y="4327106"/>
            <a:ext cx="2503500" cy="2049677"/>
            <a:chOff x="4821067" y="1875956"/>
            <a:chExt cx="2503500" cy="2049677"/>
          </a:xfrm>
        </p:grpSpPr>
        <p:pic>
          <p:nvPicPr>
            <p:cNvPr descr="Code2.png" id="62" name="Google Shape;62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80280" y="1875956"/>
              <a:ext cx="1428393" cy="1428393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63" name="Google Shape;63;p5"/>
            <p:cNvSpPr/>
            <p:nvPr/>
          </p:nvSpPr>
          <p:spPr>
            <a:xfrm>
              <a:off x="5380280" y="1875956"/>
              <a:ext cx="1428393" cy="1428393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5"/>
            <p:cNvSpPr/>
            <p:nvPr/>
          </p:nvSpPr>
          <p:spPr>
            <a:xfrm>
              <a:off x="4931764" y="3396004"/>
              <a:ext cx="2325423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1440"/>
                <a:buFont typeface="Montserrat"/>
                <a:buNone/>
              </a:pPr>
              <a:r>
                <a:rPr lang="en-US" sz="1440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Live Bench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5"/>
            <p:cNvSpPr/>
            <p:nvPr/>
          </p:nvSpPr>
          <p:spPr>
            <a:xfrm>
              <a:off x="4821067" y="3712333"/>
              <a:ext cx="2503500" cy="21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5A4C"/>
                </a:buClr>
                <a:buSzPts val="1200"/>
                <a:buFont typeface="Montserrat"/>
                <a:buNone/>
              </a:pPr>
              <a:r>
                <a:rPr lang="en-US" sz="1200">
                  <a:solidFill>
                    <a:srgbClr val="5A5A4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Contamination-free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/>
          <p:nvPr/>
        </p:nvSpPr>
        <p:spPr>
          <a:xfrm>
            <a:off x="219020" y="362827"/>
            <a:ext cx="5656436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1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Arena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6094476" y="0"/>
            <a:ext cx="6094476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penAI Playground 2025-10-04 at 19.04.07.png" id="73" name="Google Shape;73;p6"/>
          <p:cNvPicPr preferRelativeResize="0"/>
          <p:nvPr/>
        </p:nvPicPr>
        <p:blipFill rotWithShape="1">
          <a:blip r:embed="rId3">
            <a:alphaModFix/>
          </a:blip>
          <a:srcRect b="0" l="5556" r="5556" t="0"/>
          <a:stretch/>
        </p:blipFill>
        <p:spPr>
          <a:xfrm>
            <a:off x="6094476" y="0"/>
            <a:ext cx="6094476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6"/>
          <p:cNvSpPr/>
          <p:nvPr/>
        </p:nvSpPr>
        <p:spPr>
          <a:xfrm>
            <a:off x="761810" y="1745317"/>
            <a:ext cx="5027943" cy="575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800"/>
              <a:buFont typeface="Montserrat"/>
              <a:buNone/>
            </a:pPr>
            <a:r>
              <a:rPr b="0" i="0" lang="en-US" sz="180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lang="en-US" sz="1800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LM Arena</a:t>
            </a:r>
            <a:r>
              <a:rPr b="0" i="0" lang="en-US" sz="180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(formerly LMSYS) </a:t>
            </a:r>
            <a:r>
              <a:rPr b="0" i="0" lang="en-US" sz="180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is an amazing resource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761810" y="2574008"/>
            <a:ext cx="5027943" cy="22332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Compare Frontier and Open-source models directly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952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Blind human evals based on head-to-head comparison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952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LLMs are measured with an ELO-style score rating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761810" y="5356969"/>
            <a:ext cx="50280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</a:pPr>
            <a:r>
              <a:rPr b="0" i="1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Participate in the voting - it's a terrific way to learn about different models while adding to the ecosystem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692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/>
          <p:nvPr/>
        </p:nvSpPr>
        <p:spPr>
          <a:xfrm>
            <a:off x="0" y="362827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Commercial Use Cases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" name="Google Shape;83;p7"/>
          <p:cNvGrpSpPr/>
          <p:nvPr/>
        </p:nvGrpSpPr>
        <p:grpSpPr>
          <a:xfrm>
            <a:off x="1470332" y="1921039"/>
            <a:ext cx="2304600" cy="2763874"/>
            <a:chOff x="1470332" y="2024714"/>
            <a:chExt cx="2304600" cy="2763874"/>
          </a:xfrm>
        </p:grpSpPr>
        <p:sp>
          <p:nvSpPr>
            <p:cNvPr id="84" name="Google Shape;84;p7"/>
            <p:cNvSpPr/>
            <p:nvPr/>
          </p:nvSpPr>
          <p:spPr>
            <a:xfrm>
              <a:off x="1575081" y="2024714"/>
              <a:ext cx="2094900" cy="20949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7"/>
            <p:cNvSpPr/>
            <p:nvPr/>
          </p:nvSpPr>
          <p:spPr>
            <a:xfrm>
              <a:off x="1470332" y="4258958"/>
              <a:ext cx="23046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1" lang="en-US" sz="144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ChatGPT Wrapper</a:t>
              </a:r>
              <a:endParaRPr b="1" i="0" sz="1800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1470332" y="4575288"/>
              <a:ext cx="2304600" cy="21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lang="en-US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DuoLingo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lang="en-US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Copilots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lang="en-US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…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87" name="Google Shape;87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57750" y="2306725"/>
              <a:ext cx="1625650" cy="1625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8" name="Google Shape;88;p7"/>
          <p:cNvGrpSpPr/>
          <p:nvPr/>
        </p:nvGrpSpPr>
        <p:grpSpPr>
          <a:xfrm>
            <a:off x="4774336" y="1921039"/>
            <a:ext cx="2304600" cy="2763874"/>
            <a:chOff x="3755761" y="2024714"/>
            <a:chExt cx="2304600" cy="2763874"/>
          </a:xfrm>
        </p:grpSpPr>
        <p:sp>
          <p:nvSpPr>
            <p:cNvPr id="89" name="Google Shape;89;p7"/>
            <p:cNvSpPr/>
            <p:nvPr/>
          </p:nvSpPr>
          <p:spPr>
            <a:xfrm>
              <a:off x="3860509" y="2024714"/>
              <a:ext cx="2094900" cy="20949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7"/>
            <p:cNvSpPr/>
            <p:nvPr/>
          </p:nvSpPr>
          <p:spPr>
            <a:xfrm>
              <a:off x="3755761" y="4258958"/>
              <a:ext cx="23046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1" lang="en-US" sz="144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Specialized</a:t>
              </a:r>
              <a:endParaRPr b="1" i="0" sz="1800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91" name="Google Shape;91;p7"/>
            <p:cNvSpPr/>
            <p:nvPr/>
          </p:nvSpPr>
          <p:spPr>
            <a:xfrm>
              <a:off x="3755761" y="4575288"/>
              <a:ext cx="2304600" cy="21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lang="en-US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Harvey</a:t>
              </a:r>
              <a:br>
                <a:rPr lang="en-US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nebula.io</a:t>
              </a:r>
              <a:endPara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lang="en-US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Khanmigo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lang="en-US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Salesforce Health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lang="en-US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Palantir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t/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92" name="Google Shape;9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175475" y="2363006"/>
              <a:ext cx="1461212" cy="1461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3" name="Google Shape;93;p7"/>
          <p:cNvGrpSpPr/>
          <p:nvPr/>
        </p:nvGrpSpPr>
        <p:grpSpPr>
          <a:xfrm>
            <a:off x="8078339" y="1921039"/>
            <a:ext cx="2304600" cy="2763874"/>
            <a:chOff x="6041189" y="2024714"/>
            <a:chExt cx="2304600" cy="2763874"/>
          </a:xfrm>
        </p:grpSpPr>
        <p:sp>
          <p:nvSpPr>
            <p:cNvPr id="94" name="Google Shape;94;p7"/>
            <p:cNvSpPr/>
            <p:nvPr/>
          </p:nvSpPr>
          <p:spPr>
            <a:xfrm>
              <a:off x="6145938" y="2024714"/>
              <a:ext cx="2094900" cy="20949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7"/>
            <p:cNvSpPr/>
            <p:nvPr/>
          </p:nvSpPr>
          <p:spPr>
            <a:xfrm>
              <a:off x="6041189" y="4258958"/>
              <a:ext cx="23046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1" lang="en-US" sz="144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Agentic</a:t>
              </a:r>
              <a:endParaRPr b="1" i="0" sz="1800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96" name="Google Shape;96;p7"/>
            <p:cNvSpPr/>
            <p:nvPr/>
          </p:nvSpPr>
          <p:spPr>
            <a:xfrm>
              <a:off x="6041189" y="4575288"/>
              <a:ext cx="2304600" cy="21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lang="en-US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Claude Code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lang="en-US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OpenAI Codex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lang="en-US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OpenAI Agent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lang="en-US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…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97" name="Google Shape;97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464050" y="2306725"/>
              <a:ext cx="1555124" cy="15551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" name="Google Shape;98;p7"/>
          <p:cNvSpPr/>
          <p:nvPr/>
        </p:nvSpPr>
        <p:spPr>
          <a:xfrm>
            <a:off x="0" y="978375"/>
            <a:ext cx="1218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4C"/>
              </a:buClr>
              <a:buSzPts val="1500"/>
              <a:buFont typeface="Montserrat"/>
              <a:buNone/>
            </a:pPr>
            <a:r>
              <a:rPr lang="en-US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Automate, then Augment, then Differentiate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-25" y="6042825"/>
            <a:ext cx="1218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4C"/>
              </a:buClr>
              <a:buSzPts val="1500"/>
              <a:buFont typeface="Montserrat"/>
              <a:buNone/>
            </a:pPr>
            <a:r>
              <a:rPr lang="en-US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See my companion briefing on LLMs for Leaders</a:t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4C"/>
              </a:buClr>
              <a:buSzPts val="1500"/>
              <a:buFont typeface="Montserrat"/>
              <a:buNone/>
            </a:pPr>
            <a:r>
              <a:rPr lang="en-US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it’s a super-power for an AI Engineer to also have commercial know-how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6922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"/>
          <p:cNvSpPr/>
          <p:nvPr/>
        </p:nvSpPr>
        <p:spPr>
          <a:xfrm>
            <a:off x="0" y="419516"/>
            <a:ext cx="12188952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BUSINESS CHALLENGE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0" y="790154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1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Introducing our commercial challenge this week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476131" y="1952137"/>
            <a:ext cx="4394583" cy="442801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8"/>
          <p:cNvPicPr preferRelativeResize="0"/>
          <p:nvPr/>
        </p:nvPicPr>
        <p:blipFill rotWithShape="1">
          <a:blip r:embed="rId3">
            <a:alphaModFix/>
          </a:blip>
          <a:srcRect b="0" l="22087" r="22087" t="0"/>
          <a:stretch/>
        </p:blipFill>
        <p:spPr>
          <a:xfrm>
            <a:off x="476131" y="1952137"/>
            <a:ext cx="4394583" cy="4428018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8"/>
          <p:cNvSpPr/>
          <p:nvPr/>
        </p:nvSpPr>
        <p:spPr>
          <a:xfrm>
            <a:off x="5537297" y="2733959"/>
            <a:ext cx="6478796" cy="748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40"/>
              <a:buFont typeface="Montserrat"/>
              <a:buNone/>
            </a:pPr>
            <a:r>
              <a:rPr b="1" i="0" lang="en-US" sz="23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a product that converts Python code to C++ for performance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5537297" y="3621125"/>
            <a:ext cx="6478796" cy="255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Solution with a Frontier model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5537297" y="4034763"/>
            <a:ext cx="6478796" cy="255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Solution with an Open-Source model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5537297" y="4448402"/>
            <a:ext cx="6478796" cy="255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1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Let's start by selecting the LLMs most suited for the task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WEEK 4 DAY 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Ready for our code challenge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4_w4_2-1.png" id="121" name="Google Shape;121;p9"/>
          <p:cNvPicPr preferRelativeResize="0"/>
          <p:nvPr/>
        </p:nvPicPr>
        <p:blipFill rotWithShape="1">
          <a:blip r:embed="rId3">
            <a:alphaModFix/>
          </a:blip>
          <a:srcRect b="0" l="1928" r="1928" t="0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9"/>
          <p:cNvSpPr/>
          <p:nvPr/>
        </p:nvSpPr>
        <p:spPr>
          <a:xfrm>
            <a:off x="5156392" y="2189830"/>
            <a:ext cx="6897791" cy="215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350"/>
              <a:buFont typeface="Montserrat"/>
              <a:buNone/>
            </a:pPr>
            <a:r>
              <a:rPr b="1" i="0" lang="en-US" sz="135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5156392" y="2595434"/>
            <a:ext cx="6897791" cy="1243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Code with Frontier Models including AI Assistants with Tools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464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solutions with open-source LLMs with HuggingFace transformers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464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choose the right LLM for your project, backed by metrics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" name="Google Shape;124;p9"/>
          <p:cNvCxnSpPr/>
          <p:nvPr/>
        </p:nvCxnSpPr>
        <p:spPr>
          <a:xfrm>
            <a:off x="5156349" y="4004782"/>
            <a:ext cx="6270723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" name="Google Shape;125;p9"/>
          <p:cNvSpPr/>
          <p:nvPr/>
        </p:nvSpPr>
        <p:spPr>
          <a:xfrm>
            <a:off x="5156392" y="4361434"/>
            <a:ext cx="6897791" cy="215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350"/>
              <a:buFont typeface="Montserrat"/>
              <a:buNone/>
            </a:pPr>
            <a:r>
              <a:rPr b="1" i="0" lang="en-US" sz="135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After the next session you will be able 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5156392" y="4767038"/>
            <a:ext cx="6897791" cy="1027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Assess models for coding ability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464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 Frontier models to generate code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464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a solution that uses LLMs to generate code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