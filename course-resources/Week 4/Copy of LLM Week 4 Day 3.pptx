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5bd2e92b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85bd2e92b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5bd2e92b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5bd2e92bc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85bd2e92bc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85bd2e92bc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5bd2e92bc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85bd2e92bc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85bd2e92bc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https://videos.pexels.com/video-files/6963744/6963744-hd_1920_1080_25fps.mp4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36381"/>
            <a:ext cx="11998500" cy="5024678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4, 2025 - 3_12PM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2140" l="0" r="0" t="2140"/>
          <a:stretch/>
        </p:blipFill>
        <p:spPr>
          <a:xfrm>
            <a:off x="95226" y="1736381"/>
            <a:ext cx="11998500" cy="5024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4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Time for code generation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7_w4_4-1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95434"/>
            <a:ext cx="6897791" cy="124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with open-source LLMs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004782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361434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767038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 models for coding ability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Frontier models to generate code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solution that uses LLMs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duty as an AI Engineer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550608" y="2114604"/>
            <a:ext cx="880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“I want an </a:t>
            </a:r>
            <a:r>
              <a:rPr b="1"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AI Agent </a:t>
            </a:r>
            <a: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for my organization”</a:t>
            </a:r>
            <a:endParaRPr/>
          </a:p>
        </p:txBody>
      </p:sp>
      <p:sp>
        <p:nvSpPr>
          <p:cNvPr id="41" name="Google Shape;41;p5"/>
          <p:cNvSpPr txBox="1"/>
          <p:nvPr/>
        </p:nvSpPr>
        <p:spPr>
          <a:xfrm>
            <a:off x="550608" y="2950702"/>
            <a:ext cx="97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“OK, great! But what </a:t>
            </a:r>
            <a:r>
              <a:rPr b="1"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business problem </a:t>
            </a:r>
            <a:r>
              <a:rPr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are you solving?”</a:t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550608" y="3882893"/>
            <a:ext cx="11259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“Well, I want to be able to </a:t>
            </a:r>
            <a:r>
              <a:rPr b="1"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speak to my phone </a:t>
            </a:r>
            <a: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and say,</a:t>
            </a:r>
            <a:b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rgbClr val="008CF5"/>
                </a:solidFill>
                <a:latin typeface="Calibri"/>
                <a:ea typeface="Calibri"/>
                <a:cs typeface="Calibri"/>
                <a:sym typeface="Calibri"/>
              </a:rPr>
              <a:t>what are my sales numbers today” </a:t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597673" y="5203085"/>
            <a:ext cx="97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“OK, great! And.. what.. </a:t>
            </a:r>
            <a:r>
              <a:rPr b="1"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business problem </a:t>
            </a:r>
            <a:r>
              <a:rPr lang="en-US" sz="2400">
                <a:solidFill>
                  <a:srgbClr val="F99600"/>
                </a:solidFill>
                <a:latin typeface="Calibri"/>
                <a:ea typeface="Calibri"/>
                <a:cs typeface="Calibri"/>
                <a:sym typeface="Calibri"/>
              </a:rPr>
              <a:t>is that solving?”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614103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AI Engineer wears 2 hats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6"/>
          <p:cNvGrpSpPr/>
          <p:nvPr/>
        </p:nvGrpSpPr>
        <p:grpSpPr>
          <a:xfrm>
            <a:off x="1850065" y="3261447"/>
            <a:ext cx="8066680" cy="957034"/>
            <a:chOff x="1850065" y="3261447"/>
            <a:chExt cx="8066680" cy="957034"/>
          </a:xfrm>
        </p:grpSpPr>
        <p:sp>
          <p:nvSpPr>
            <p:cNvPr id="51" name="Google Shape;51;p6"/>
            <p:cNvSpPr txBox="1"/>
            <p:nvPr/>
          </p:nvSpPr>
          <p:spPr>
            <a:xfrm>
              <a:off x="4589470" y="3261447"/>
              <a:ext cx="320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questions that I get:</a:t>
              </a:r>
              <a:endPara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850065" y="3679981"/>
              <a:ext cx="2268300" cy="538500"/>
            </a:xfrm>
            <a:prstGeom prst="rect">
              <a:avLst/>
            </a:prstGeom>
            <a:solidFill>
              <a:srgbClr val="008CF5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Scientist</a:t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4118345" y="3679981"/>
              <a:ext cx="5798400" cy="5385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</a:t>
              </a:r>
              <a:endParaRPr/>
            </a:p>
          </p:txBody>
        </p:sp>
      </p:grpSp>
      <p:grpSp>
        <p:nvGrpSpPr>
          <p:cNvPr id="54" name="Google Shape;54;p6"/>
          <p:cNvGrpSpPr/>
          <p:nvPr/>
        </p:nvGrpSpPr>
        <p:grpSpPr>
          <a:xfrm>
            <a:off x="1850063" y="4872861"/>
            <a:ext cx="8066604" cy="942857"/>
            <a:chOff x="1850063" y="4872861"/>
            <a:chExt cx="8066604" cy="942857"/>
          </a:xfrm>
        </p:grpSpPr>
        <p:sp>
          <p:nvSpPr>
            <p:cNvPr id="55" name="Google Shape;55;p6"/>
            <p:cNvSpPr txBox="1"/>
            <p:nvPr/>
          </p:nvSpPr>
          <p:spPr>
            <a:xfrm>
              <a:off x="4589469" y="4872861"/>
              <a:ext cx="320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questions that I ask:</a:t>
              </a:r>
              <a:endPara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1850063" y="5277218"/>
              <a:ext cx="5911800" cy="538500"/>
            </a:xfrm>
            <a:prstGeom prst="rect">
              <a:avLst/>
            </a:prstGeom>
            <a:solidFill>
              <a:srgbClr val="008CF5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Scientist</a:t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7761767" y="5277218"/>
              <a:ext cx="2154900" cy="5385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</a:t>
              </a:r>
              <a:endParaRPr/>
            </a:p>
          </p:txBody>
        </p:sp>
      </p:grpSp>
      <p:sp>
        <p:nvSpPr>
          <p:cNvPr id="58" name="Google Shape;58;p6"/>
          <p:cNvSpPr txBox="1"/>
          <p:nvPr/>
        </p:nvSpPr>
        <p:spPr>
          <a:xfrm>
            <a:off x="1118451" y="5858366"/>
            <a:ext cx="57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business problem are you solving?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will you measure success?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data do you have, and what data do you need?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4007005" y="4239439"/>
            <a:ext cx="61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architecture? </a:t>
            </a:r>
            <a:r>
              <a:rPr i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to</a:t>
            </a: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integrat</a:t>
            </a:r>
            <a:r>
              <a:rPr i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 Which framewor</a:t>
            </a:r>
            <a:r>
              <a:rPr i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i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s? Which vector db?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60" name="Google Shape;60;p6"/>
          <p:cNvGrpSpPr/>
          <p:nvPr/>
        </p:nvGrpSpPr>
        <p:grpSpPr>
          <a:xfrm>
            <a:off x="1850064" y="1342380"/>
            <a:ext cx="4033200" cy="1479693"/>
            <a:chOff x="1850064" y="1342380"/>
            <a:chExt cx="4033200" cy="1479693"/>
          </a:xfrm>
        </p:grpSpPr>
        <p:sp>
          <p:nvSpPr>
            <p:cNvPr id="61" name="Google Shape;61;p6"/>
            <p:cNvSpPr/>
            <p:nvPr/>
          </p:nvSpPr>
          <p:spPr>
            <a:xfrm>
              <a:off x="1850064" y="2283572"/>
              <a:ext cx="4033200" cy="538500"/>
            </a:xfrm>
            <a:prstGeom prst="rect">
              <a:avLst/>
            </a:prstGeom>
            <a:solidFill>
              <a:srgbClr val="008CF5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Scientist</a:t>
              </a:r>
              <a:endParaRPr/>
            </a:p>
          </p:txBody>
        </p:sp>
        <p:pic>
          <p:nvPicPr>
            <p:cNvPr id="62" name="Google Shape;62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38450" y="1342380"/>
              <a:ext cx="738900" cy="738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oogle Shape;63;p6"/>
          <p:cNvGrpSpPr/>
          <p:nvPr/>
        </p:nvGrpSpPr>
        <p:grpSpPr>
          <a:xfrm>
            <a:off x="5883349" y="1342389"/>
            <a:ext cx="4033200" cy="1479683"/>
            <a:chOff x="5883349" y="1342389"/>
            <a:chExt cx="4033200" cy="1479683"/>
          </a:xfrm>
        </p:grpSpPr>
        <p:sp>
          <p:nvSpPr>
            <p:cNvPr id="64" name="Google Shape;64;p6"/>
            <p:cNvSpPr/>
            <p:nvPr/>
          </p:nvSpPr>
          <p:spPr>
            <a:xfrm>
              <a:off x="5883349" y="2283572"/>
              <a:ext cx="4033200" cy="5385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</a:t>
              </a:r>
              <a:endParaRPr/>
            </a:p>
          </p:txBody>
        </p:sp>
        <p:pic>
          <p:nvPicPr>
            <p:cNvPr id="65" name="Google Shape;65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92025" y="1342389"/>
              <a:ext cx="738900" cy="738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58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Preview: the 5 step strategy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0" y="978375"/>
            <a:ext cx="1218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selecting, training and applying an LLM to a commercial problem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7"/>
          <p:cNvGrpSpPr/>
          <p:nvPr/>
        </p:nvGrpSpPr>
        <p:grpSpPr>
          <a:xfrm>
            <a:off x="1476006" y="2171157"/>
            <a:ext cx="1428300" cy="1750448"/>
            <a:chOff x="1476006" y="2171157"/>
            <a:chExt cx="1428300" cy="1750448"/>
          </a:xfrm>
        </p:grpSpPr>
        <p:sp>
          <p:nvSpPr>
            <p:cNvPr id="74" name="Google Shape;74;p7"/>
            <p:cNvSpPr/>
            <p:nvPr/>
          </p:nvSpPr>
          <p:spPr>
            <a:xfrm>
              <a:off x="1476006" y="217115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Understand.png" id="75" name="Google Shape;7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2171157"/>
              <a:ext cx="1428300" cy="1428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6" name="Google Shape;76;p7"/>
            <p:cNvSpPr/>
            <p:nvPr/>
          </p:nvSpPr>
          <p:spPr>
            <a:xfrm>
              <a:off x="1577422" y="3691205"/>
              <a:ext cx="12255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Understand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5380280" y="2171157"/>
            <a:ext cx="1428300" cy="1750448"/>
            <a:chOff x="5380280" y="2171157"/>
            <a:chExt cx="1428300" cy="1750448"/>
          </a:xfrm>
        </p:grpSpPr>
        <p:sp>
          <p:nvSpPr>
            <p:cNvPr id="78" name="Google Shape;78;p7"/>
            <p:cNvSpPr/>
            <p:nvPr/>
          </p:nvSpPr>
          <p:spPr>
            <a:xfrm>
              <a:off x="5380280" y="217115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" name="Google Shape;79;p7"/>
            <p:cNvGrpSpPr/>
            <p:nvPr/>
          </p:nvGrpSpPr>
          <p:grpSpPr>
            <a:xfrm>
              <a:off x="5380280" y="2171157"/>
              <a:ext cx="1428300" cy="1750448"/>
              <a:chOff x="5380280" y="2171157"/>
              <a:chExt cx="1428300" cy="1750448"/>
            </a:xfrm>
          </p:grpSpPr>
          <p:pic>
            <p:nvPicPr>
              <p:cNvPr descr="Prepare.png" id="80" name="Google Shape;80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380280" y="217115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81" name="Google Shape;81;p7"/>
              <p:cNvSpPr/>
              <p:nvPr/>
            </p:nvSpPr>
            <p:spPr>
              <a:xfrm>
                <a:off x="5691193" y="3691205"/>
                <a:ext cx="8067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Prepare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2" name="Google Shape;82;p7"/>
          <p:cNvGrpSpPr/>
          <p:nvPr/>
        </p:nvGrpSpPr>
        <p:grpSpPr>
          <a:xfrm>
            <a:off x="9284553" y="2171157"/>
            <a:ext cx="1428300" cy="1750448"/>
            <a:chOff x="9284553" y="2171157"/>
            <a:chExt cx="1428300" cy="1750448"/>
          </a:xfrm>
        </p:grpSpPr>
        <p:sp>
          <p:nvSpPr>
            <p:cNvPr id="83" name="Google Shape;83;p7"/>
            <p:cNvSpPr/>
            <p:nvPr/>
          </p:nvSpPr>
          <p:spPr>
            <a:xfrm>
              <a:off x="9284553" y="2171157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" name="Google Shape;84;p7"/>
            <p:cNvGrpSpPr/>
            <p:nvPr/>
          </p:nvGrpSpPr>
          <p:grpSpPr>
            <a:xfrm>
              <a:off x="9284553" y="2171157"/>
              <a:ext cx="1428300" cy="1750448"/>
              <a:chOff x="9284553" y="2171157"/>
              <a:chExt cx="1428300" cy="1750448"/>
            </a:xfrm>
          </p:grpSpPr>
          <p:pic>
            <p:nvPicPr>
              <p:cNvPr descr="Select.png" id="85" name="Google Shape;85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84553" y="2171157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/>
              <p:nvPr/>
            </p:nvSpPr>
            <p:spPr>
              <a:xfrm>
                <a:off x="9684503" y="3691205"/>
                <a:ext cx="6285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Select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" name="Google Shape;87;p7"/>
          <p:cNvGrpSpPr/>
          <p:nvPr/>
        </p:nvGrpSpPr>
        <p:grpSpPr>
          <a:xfrm>
            <a:off x="3428143" y="4161384"/>
            <a:ext cx="1428300" cy="1750448"/>
            <a:chOff x="3428143" y="4161384"/>
            <a:chExt cx="1428300" cy="1750448"/>
          </a:xfrm>
        </p:grpSpPr>
        <p:sp>
          <p:nvSpPr>
            <p:cNvPr id="88" name="Google Shape;88;p7"/>
            <p:cNvSpPr/>
            <p:nvPr/>
          </p:nvSpPr>
          <p:spPr>
            <a:xfrm>
              <a:off x="3428143" y="4161384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" name="Google Shape;89;p7"/>
            <p:cNvGrpSpPr/>
            <p:nvPr/>
          </p:nvGrpSpPr>
          <p:grpSpPr>
            <a:xfrm>
              <a:off x="3428143" y="4161384"/>
              <a:ext cx="1428300" cy="1750448"/>
              <a:chOff x="3428143" y="4161384"/>
              <a:chExt cx="1428300" cy="1750448"/>
            </a:xfrm>
          </p:grpSpPr>
          <p:pic>
            <p:nvPicPr>
              <p:cNvPr descr="Customize.png" id="90" name="Google Shape;90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28143" y="4161384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91;p7"/>
              <p:cNvSpPr/>
              <p:nvPr/>
            </p:nvSpPr>
            <p:spPr>
              <a:xfrm>
                <a:off x="3597645" y="5681432"/>
                <a:ext cx="10893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Customize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2" name="Google Shape;92;p7"/>
          <p:cNvGrpSpPr/>
          <p:nvPr/>
        </p:nvGrpSpPr>
        <p:grpSpPr>
          <a:xfrm>
            <a:off x="7329084" y="4161384"/>
            <a:ext cx="1435200" cy="1750448"/>
            <a:chOff x="7329084" y="4161384"/>
            <a:chExt cx="1435200" cy="1750448"/>
          </a:xfrm>
        </p:grpSpPr>
        <p:sp>
          <p:nvSpPr>
            <p:cNvPr id="93" name="Google Shape;93;p7"/>
            <p:cNvSpPr/>
            <p:nvPr/>
          </p:nvSpPr>
          <p:spPr>
            <a:xfrm>
              <a:off x="7332416" y="4161384"/>
              <a:ext cx="1428300" cy="1428300"/>
            </a:xfrm>
            <a:prstGeom prst="ellipse">
              <a:avLst/>
            </a:pr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" name="Google Shape;94;p7"/>
            <p:cNvGrpSpPr/>
            <p:nvPr/>
          </p:nvGrpSpPr>
          <p:grpSpPr>
            <a:xfrm>
              <a:off x="7329084" y="4161384"/>
              <a:ext cx="1435200" cy="1750448"/>
              <a:chOff x="7329084" y="4161384"/>
              <a:chExt cx="1435200" cy="1750448"/>
            </a:xfrm>
          </p:grpSpPr>
          <p:pic>
            <p:nvPicPr>
              <p:cNvPr descr="Production.png" id="95" name="Google Shape;95;p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332416" y="4161384"/>
                <a:ext cx="1428300" cy="14283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96" name="Google Shape;96;p7"/>
              <p:cNvSpPr/>
              <p:nvPr/>
            </p:nvSpPr>
            <p:spPr>
              <a:xfrm>
                <a:off x="7329084" y="5681432"/>
                <a:ext cx="14352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Productionize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Reminder of the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76131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22087" r="22087" t="0"/>
          <a:stretch/>
        </p:blipFill>
        <p:spPr>
          <a:xfrm>
            <a:off x="476131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537297" y="2154641"/>
            <a:ext cx="6478796" cy="74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None/>
            </a:pPr>
            <a:r>
              <a:rPr b="1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product that converts Python code to C++ for performance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537297" y="3041807"/>
            <a:ext cx="6478796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Today we will start with the Frontier Model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Testing the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6094476" y="1790252"/>
            <a:ext cx="5532641" cy="44946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7832"/>
              </a:buClr>
              <a:buSzPts val="1200"/>
              <a:buFont typeface="Courier"/>
              <a:buNone/>
            </a:pPr>
            <a: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  <a:t>import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time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calculate(</a:t>
            </a:r>
            <a:r>
              <a:rPr b="0" i="0" lang="en-US" sz="11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iterations, param1, param2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):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result = 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1.0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i </a:t>
            </a:r>
            <a: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range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, iterations+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):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    j = i * param1 - param2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    result -= (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/j)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    j = i * param1 + param2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    result += (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/j)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0" i="0" lang="en-US" sz="1100" u="none" cap="none" strike="noStrike">
                <a:solidFill>
                  <a:srgbClr val="CB7832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result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start_time = time.time()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result = calculate(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100_000_000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4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) * 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4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end_time = time.time()</a:t>
            </a:r>
            <a:b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print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100" u="none" cap="none" strike="noStrike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rPr>
              <a:t>f"Result: </a:t>
            </a: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{result: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.12</a:t>
            </a: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f}</a:t>
            </a:r>
            <a:r>
              <a:rPr b="0" i="0" lang="en-US" sz="1100" u="none" cap="none" strike="noStrike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rPr>
              <a:t>"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b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print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100" u="none" cap="none" strike="noStrike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rPr>
              <a:t>f"Execution Time: </a:t>
            </a: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{(end_time - start_time):</a:t>
            </a:r>
            <a:r>
              <a:rPr b="0" i="0" lang="en-US" sz="11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.6</a:t>
            </a:r>
            <a:r>
              <a:rPr b="0" i="0" lang="en-US" sz="1100" u="none" cap="none" strike="noStrike">
                <a:solidFill>
                  <a:srgbClr val="E0C46C"/>
                </a:solidFill>
                <a:latin typeface="Courier"/>
                <a:ea typeface="Courier"/>
                <a:cs typeface="Courier"/>
                <a:sym typeface="Courier"/>
              </a:rPr>
              <a:t>f}</a:t>
            </a:r>
            <a:r>
              <a:rPr b="0" i="0" lang="en-US" sz="1100" u="none" cap="none" strike="noStrike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rPr>
              <a:t> seconds"</a:t>
            </a:r>
            <a:r>
              <a:rPr b="0" i="0" lang="en-US" sz="11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61810" y="2154641"/>
            <a:ext cx="4608947" cy="74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40"/>
              <a:buFont typeface="Montserrat"/>
              <a:buNone/>
            </a:pPr>
            <a:r>
              <a:rPr b="1" i="0" lang="en-US" sz="23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We'll use this approach to test our models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61810" y="3032508"/>
            <a:ext cx="4608947" cy="2052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4C"/>
              </a:buClr>
              <a:buSzPts val="1650"/>
              <a:buFont typeface="Montserrat"/>
              <a:buNone/>
            </a:pPr>
            <a:r>
              <a:rPr b="1" i="1" lang="en-US" sz="1650" u="none" cap="none" strike="noStrike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"Please reimplement this Python code in C++ with the fastest possible implementation for </a:t>
            </a:r>
            <a:r>
              <a:rPr b="1" i="1" lang="en-US" sz="1650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my machine</a:t>
            </a:r>
            <a:r>
              <a:rPr b="1" i="1" lang="en-US" sz="1650" u="none" cap="none" strike="noStrike">
                <a:solidFill>
                  <a:srgbClr val="5A5A4C"/>
                </a:solidFill>
                <a:latin typeface="Montserrat"/>
                <a:ea typeface="Montserrat"/>
                <a:cs typeface="Montserrat"/>
                <a:sym typeface="Montserrat"/>
              </a:rPr>
              <a:t>. Only respond with the C++ code. Do not explain your implementation. The only requirement is that the C++ code prints the same result and runs fast."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Results from our simple test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3228168" y="1847388"/>
            <a:ext cx="5532641" cy="28948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Courier"/>
              <a:buNone/>
            </a:pP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From Python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Result: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3.141592658589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7.757589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GPT-4o &amp; Claude-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3.5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-Sonnet gave same C++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Result: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3.141592658590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0.073004417000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100X Speedup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2971057" y="5162227"/>
            <a:ext cx="7301810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1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Now let's try something harder...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Spectular results from our hard test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228168" y="1847388"/>
            <a:ext cx="5532642" cy="403759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Courier"/>
              <a:buNone/>
            </a:pP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From Python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Total Maximum Subarray Sum 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20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 runs)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: 10980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25.420952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GPT-4o C++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Total Maximum Subarray Sum 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20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 runs)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: 10980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0.642157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40X Speedup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Claude-3.5-Sonnet code: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Total Maximum Subarray Sum 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0" lang="en-US" sz="1200" u="none" cap="none" strike="noStrike">
                <a:solidFill>
                  <a:srgbClr val="6896BA"/>
                </a:solidFill>
                <a:latin typeface="Courier"/>
                <a:ea typeface="Courier"/>
                <a:cs typeface="Courier"/>
                <a:sym typeface="Courier"/>
              </a:rPr>
              <a:t>20</a:t>
            </a:r>
            <a:r>
              <a:rPr b="0" i="0" lang="en-US" sz="1200" u="none" cap="none" strike="noStrike">
                <a:solidFill>
                  <a:srgbClr val="B9B9B9"/>
                </a:solidFill>
                <a:latin typeface="Courier"/>
                <a:ea typeface="Courier"/>
                <a:cs typeface="Courier"/>
                <a:sym typeface="Courier"/>
              </a:rPr>
              <a:t> runs)</a:t>
            </a: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: 10980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Execution Time: 0.000409 seconds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  <a:t>60,000X+ Speedup!</a:t>
            </a:r>
            <a:br>
              <a:rPr b="0" i="0" lang="en-US" sz="1200" u="none" cap="none" strike="noStrike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4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Open Source keep up?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8_w4_4-2.png"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5156392" y="2595434"/>
            <a:ext cx="6897791" cy="124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solutions that use Frontier models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12"/>
          <p:cNvCxnSpPr/>
          <p:nvPr/>
        </p:nvCxnSpPr>
        <p:spPr>
          <a:xfrm>
            <a:off x="5156349" y="4004782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12"/>
          <p:cNvSpPr/>
          <p:nvPr/>
        </p:nvSpPr>
        <p:spPr>
          <a:xfrm>
            <a:off x="5156392" y="4361434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the next session, you'll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5156392" y="4767038"/>
            <a:ext cx="6897791" cy="1027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Assess open-source models for coding ability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Paid and open-source models against a business objective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solution that uses open-source LLMs to generate code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