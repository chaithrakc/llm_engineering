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8b0b2ee06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68b0b2ee06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68b0b2ee06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8b0b2ee06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68b0b2ee06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68b0b2ee06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8b0b2ee0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68b0b2ee0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68b0b2ee0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818302"/>
            <a:ext cx="11998500" cy="4942757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py of Brain_V4_full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1450" r="1450" t="0"/>
          <a:stretch/>
        </p:blipFill>
        <p:spPr>
          <a:xfrm>
            <a:off x="95226" y="1818302"/>
            <a:ext cx="11998500" cy="494275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2815838" y="582740"/>
            <a:ext cx="6557275" cy="446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47"/>
              <a:buFont typeface="Montserrat"/>
              <a:buNone/>
            </a:pPr>
            <a:r>
              <a:rPr b="0" i="0" lang="en-US" sz="3347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815838" y="1075163"/>
            <a:ext cx="6557275" cy="356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Montserrat"/>
              <a:buNone/>
            </a:pPr>
            <a:r>
              <a:rPr b="0" i="0" lang="en-US" sz="223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DAY 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Another important level-up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7_w2_4-1.png" id="28" name="Google Shape;28;p4"/>
          <p:cNvPicPr preferRelativeResize="0"/>
          <p:nvPr/>
        </p:nvPicPr>
        <p:blipFill rotWithShape="1">
          <a:blip r:embed="rId3">
            <a:alphaModFix/>
          </a:blip>
          <a:srcRect b="5755" l="7461" r="7461" t="5755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83432"/>
            <a:ext cx="6897791" cy="2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30"/>
              <a:buFont typeface="Montserrat"/>
              <a:buNone/>
            </a:pPr>
            <a:r>
              <a:rPr b="1" i="0" lang="en-US" sz="153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643047"/>
            <a:ext cx="6897791" cy="1163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lang="en-US" sz="15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Overview of</a:t>
            </a: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transformers </a:t>
            </a:r>
            <a:r>
              <a:rPr lang="en-US" sz="15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key terminology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lang="en-US" sz="15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code with Chat Completions API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an AI Chatbot Assistant including an interactive UI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7" y="3995333"/>
            <a:ext cx="6270722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374155"/>
            <a:ext cx="6897791" cy="2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30"/>
              <a:buFont typeface="Montserrat"/>
              <a:buNone/>
            </a:pPr>
            <a:r>
              <a:rPr b="1" i="0" lang="en-US" sz="153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today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833771"/>
            <a:ext cx="6897791" cy="1163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Define Tools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Give common use cases for Tools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Code an AI Assistant that incorporates Tools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219020" y="419516"/>
            <a:ext cx="5656436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DEFINING TOOLS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219020" y="790154"/>
            <a:ext cx="5656436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094476" y="0"/>
            <a:ext cx="6094476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2 at 20.29.18.png" id="42" name="Google Shape;42;p5"/>
          <p:cNvPicPr preferRelativeResize="0"/>
          <p:nvPr/>
        </p:nvPicPr>
        <p:blipFill rotWithShape="1">
          <a:blip r:embed="rId3">
            <a:alphaModFix/>
          </a:blip>
          <a:srcRect b="0" l="5556" r="5556" t="0"/>
          <a:stretch/>
        </p:blipFill>
        <p:spPr>
          <a:xfrm>
            <a:off x="6094476" y="0"/>
            <a:ext cx="6094476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761810" y="2196228"/>
            <a:ext cx="5027943" cy="187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Montserrat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Allows Frontier models to connect with external functions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61810" y="2541498"/>
            <a:ext cx="5027943" cy="1023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6"/>
              <a:buFont typeface="Montserrat"/>
              <a:buChar char="•"/>
            </a:pPr>
            <a:r>
              <a:rPr b="0" i="0" lang="en-US" sz="1346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Richer responses by extending knowledge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459"/>
              </a:spcBef>
              <a:spcAft>
                <a:spcPts val="0"/>
              </a:spcAft>
              <a:buClr>
                <a:srgbClr val="FFFFFF"/>
              </a:buClr>
              <a:buSzPts val="1346"/>
              <a:buFont typeface="Montserrat"/>
              <a:buChar char="•"/>
            </a:pPr>
            <a:r>
              <a:rPr b="0" i="0" lang="en-US" sz="1346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Ability to carry out actions within the application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459"/>
              </a:spcBef>
              <a:spcAft>
                <a:spcPts val="0"/>
              </a:spcAft>
              <a:buClr>
                <a:srgbClr val="FFFFFF"/>
              </a:buClr>
              <a:buSzPts val="1346"/>
              <a:buFont typeface="Montserrat"/>
              <a:buChar char="•"/>
            </a:pPr>
            <a:r>
              <a:rPr b="0" i="0" lang="en-US" sz="1346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Enhanced capabilities, like calculations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5"/>
          <p:cNvCxnSpPr/>
          <p:nvPr/>
        </p:nvCxnSpPr>
        <p:spPr>
          <a:xfrm>
            <a:off x="761808" y="3702885"/>
            <a:ext cx="4570858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" name="Google Shape;46;p5"/>
          <p:cNvSpPr/>
          <p:nvPr/>
        </p:nvSpPr>
        <p:spPr>
          <a:xfrm>
            <a:off x="761810" y="4037367"/>
            <a:ext cx="5027943" cy="187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Montserrat"/>
              <a:buNone/>
            </a:pPr>
            <a:r>
              <a:rPr b="1" lang="en-US" sz="11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BUT WAIT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761810" y="4382636"/>
            <a:ext cx="5027943" cy="1023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6"/>
              <a:buFont typeface="Montserrat"/>
              <a:buChar char="•"/>
            </a:pPr>
            <a:r>
              <a:rPr lang="en-US" sz="134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 we’re going to give an LLM the ability to run code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459"/>
              </a:spcBef>
              <a:spcAft>
                <a:spcPts val="0"/>
              </a:spcAft>
              <a:buClr>
                <a:srgbClr val="FFFFFF"/>
              </a:buClr>
              <a:buSzPts val="1346"/>
              <a:buFont typeface="Montserrat"/>
              <a:buChar char="•"/>
            </a:pPr>
            <a:r>
              <a:rPr b="1" lang="en-US" sz="134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sounds spooky!</a:t>
            </a:r>
            <a:endParaRPr b="1"/>
          </a:p>
          <a:p>
            <a:pPr indent="-242900" lvl="0" marL="242900" marR="0" rtl="0" algn="l">
              <a:lnSpc>
                <a:spcPct val="125928"/>
              </a:lnSpc>
              <a:spcBef>
                <a:spcPts val="1459"/>
              </a:spcBef>
              <a:spcAft>
                <a:spcPts val="0"/>
              </a:spcAft>
              <a:buClr>
                <a:srgbClr val="FFFFFF"/>
              </a:buClr>
              <a:buSzPts val="1346"/>
              <a:buFont typeface="Montserrat"/>
              <a:buChar char="•"/>
            </a:pPr>
            <a:r>
              <a:rPr lang="en-US" sz="134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OpenAI is going to reach into my computer??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356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Tool Calling in Theory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0" y="978375"/>
            <a:ext cx="12188952" cy="266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4C"/>
              </a:buClr>
              <a:buSzPts val="1500"/>
              <a:buFont typeface="Montserrat"/>
              <a:buNone/>
            </a:pPr>
            <a:r>
              <a:rPr lang="en-US" sz="1500">
                <a:solidFill>
                  <a:srgbClr val="5A5A4C"/>
                </a:solidFill>
                <a:latin typeface="Montserrat"/>
                <a:ea typeface="Montserrat"/>
                <a:cs typeface="Montserrat"/>
                <a:sym typeface="Montserrat"/>
              </a:rPr>
              <a:t>An LLM Decides to run code on my computer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p6"/>
          <p:cNvGrpSpPr/>
          <p:nvPr/>
        </p:nvGrpSpPr>
        <p:grpSpPr>
          <a:xfrm>
            <a:off x="3685854" y="1843204"/>
            <a:ext cx="1428300" cy="1913206"/>
            <a:chOff x="3685854" y="1843204"/>
            <a:chExt cx="1428300" cy="1913206"/>
          </a:xfrm>
        </p:grpSpPr>
        <p:pic>
          <p:nvPicPr>
            <p:cNvPr descr="Code (1).png" id="56" name="Google Shape;5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85854" y="1843204"/>
              <a:ext cx="1428300" cy="1428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57" name="Google Shape;57;p6"/>
            <p:cNvSpPr/>
            <p:nvPr/>
          </p:nvSpPr>
          <p:spPr>
            <a:xfrm>
              <a:off x="3685854" y="1843204"/>
              <a:ext cx="1428300" cy="1428300"/>
            </a:xfrm>
            <a:prstGeom prst="ellipse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4137702" y="3482210"/>
              <a:ext cx="5343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D7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Code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" name="Google Shape;59;p6"/>
          <p:cNvGrpSpPr/>
          <p:nvPr/>
        </p:nvGrpSpPr>
        <p:grpSpPr>
          <a:xfrm>
            <a:off x="5452299" y="2126204"/>
            <a:ext cx="1266369" cy="845151"/>
            <a:chOff x="5452299" y="2126204"/>
            <a:chExt cx="1266369" cy="845151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5502752" y="2679332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5400000">
              <a:off x="6550162" y="2298368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" name="Google Shape;62;p6"/>
            <p:cNvCxnSpPr/>
            <p:nvPr/>
          </p:nvCxnSpPr>
          <p:spPr>
            <a:xfrm>
              <a:off x="5571332" y="2366948"/>
              <a:ext cx="10473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" name="Google Shape;63;p6"/>
            <p:cNvCxnSpPr/>
            <p:nvPr/>
          </p:nvCxnSpPr>
          <p:spPr>
            <a:xfrm>
              <a:off x="5571332" y="2747852"/>
              <a:ext cx="10473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4" name="Google Shape;64;p6"/>
            <p:cNvSpPr/>
            <p:nvPr/>
          </p:nvSpPr>
          <p:spPr>
            <a:xfrm>
              <a:off x="5452299" y="2126204"/>
              <a:ext cx="942600" cy="1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700"/>
                </a:buClr>
                <a:buSzPts val="1125"/>
                <a:buFont typeface="Arial"/>
                <a:buNone/>
              </a:pPr>
              <a:r>
                <a:rPr b="1" i="0" lang="en-US" sz="1125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Prompt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5776068" y="2821355"/>
              <a:ext cx="942600" cy="1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700"/>
                </a:buClr>
                <a:buSzPts val="1125"/>
                <a:buFont typeface="Arial"/>
                <a:buNone/>
              </a:pPr>
              <a:r>
                <a:rPr b="1" i="0" lang="en-US" sz="1125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Response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66;p6"/>
          <p:cNvGrpSpPr/>
          <p:nvPr/>
        </p:nvGrpSpPr>
        <p:grpSpPr>
          <a:xfrm>
            <a:off x="7037815" y="1843204"/>
            <a:ext cx="1428300" cy="1887680"/>
            <a:chOff x="7037815" y="1843204"/>
            <a:chExt cx="1428300" cy="1887680"/>
          </a:xfrm>
        </p:grpSpPr>
        <p:pic>
          <p:nvPicPr>
            <p:cNvPr descr="LLM.png" id="67" name="Google Shape;67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37815" y="1843204"/>
              <a:ext cx="1428300" cy="1428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68" name="Google Shape;68;p6"/>
            <p:cNvSpPr/>
            <p:nvPr/>
          </p:nvSpPr>
          <p:spPr>
            <a:xfrm>
              <a:off x="7037815" y="1843204"/>
              <a:ext cx="1428300" cy="1428300"/>
            </a:xfrm>
            <a:prstGeom prst="ellipse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7435967" y="3456684"/>
              <a:ext cx="5343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D7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LLM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70;p6"/>
          <p:cNvGrpSpPr/>
          <p:nvPr/>
        </p:nvGrpSpPr>
        <p:grpSpPr>
          <a:xfrm>
            <a:off x="6933067" y="3798269"/>
            <a:ext cx="1656310" cy="2744613"/>
            <a:chOff x="6933067" y="3679147"/>
            <a:chExt cx="1656310" cy="2744613"/>
          </a:xfrm>
        </p:grpSpPr>
        <p:sp>
          <p:nvSpPr>
            <p:cNvPr id="71" name="Google Shape;71;p6"/>
            <p:cNvSpPr/>
            <p:nvPr/>
          </p:nvSpPr>
          <p:spPr>
            <a:xfrm>
              <a:off x="7578683" y="3679147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" name="Google Shape;72;p6"/>
            <p:cNvGrpSpPr/>
            <p:nvPr/>
          </p:nvGrpSpPr>
          <p:grpSpPr>
            <a:xfrm>
              <a:off x="6933067" y="3747728"/>
              <a:ext cx="1656310" cy="2676032"/>
              <a:chOff x="6933067" y="3747728"/>
              <a:chExt cx="1656310" cy="2676032"/>
            </a:xfrm>
          </p:grpSpPr>
          <p:cxnSp>
            <p:nvCxnSpPr>
              <p:cNvPr id="73" name="Google Shape;73;p6"/>
              <p:cNvCxnSpPr/>
              <p:nvPr/>
            </p:nvCxnSpPr>
            <p:spPr>
              <a:xfrm rot="5400000">
                <a:off x="7354463" y="4040528"/>
                <a:ext cx="5856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4" name="Google Shape;74;p6"/>
              <p:cNvSpPr/>
              <p:nvPr/>
            </p:nvSpPr>
            <p:spPr>
              <a:xfrm rot="10800000">
                <a:off x="7578743" y="4264882"/>
                <a:ext cx="137100" cy="1371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6"/>
              <p:cNvSpPr/>
              <p:nvPr/>
            </p:nvSpPr>
            <p:spPr>
              <a:xfrm>
                <a:off x="7646777" y="3954547"/>
                <a:ext cx="942600" cy="15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49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D700"/>
                  </a:buClr>
                  <a:buSzPts val="1125"/>
                  <a:buFont typeface="Arial"/>
                  <a:buNone/>
                </a:pPr>
                <a:r>
                  <a:rPr b="0" i="0" lang="en-US" sz="1125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EXECUTE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Knoweledge Base.png" id="76" name="Google Shape;76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933067" y="4500014"/>
                <a:ext cx="1428300" cy="14283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6"/>
              <p:cNvSpPr/>
              <p:nvPr/>
            </p:nvSpPr>
            <p:spPr>
              <a:xfrm>
                <a:off x="6933067" y="4500014"/>
                <a:ext cx="1428300" cy="1428300"/>
              </a:xfrm>
              <a:prstGeom prst="ellipse">
                <a:avLst/>
              </a:prstGeom>
              <a:noFill/>
              <a:ln cap="flat" cmpd="sng" w="25400">
                <a:solidFill>
                  <a:srgbClr val="FFD7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6"/>
              <p:cNvSpPr/>
              <p:nvPr/>
            </p:nvSpPr>
            <p:spPr>
              <a:xfrm>
                <a:off x="7384927" y="6149560"/>
                <a:ext cx="534300" cy="27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D700"/>
                  </a:buClr>
                  <a:buSzPts val="1500"/>
                  <a:buFont typeface="Arial"/>
                  <a:buNone/>
                </a:pPr>
                <a:r>
                  <a:rPr lang="en-US" sz="1500">
                    <a:solidFill>
                      <a:schemeClr val="dk1"/>
                    </a:solidFill>
                  </a:rPr>
                  <a:t>Tool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35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Tool Calling in Practice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0" y="978375"/>
            <a:ext cx="1218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4C"/>
              </a:buClr>
              <a:buSzPts val="1500"/>
              <a:buFont typeface="Montserrat"/>
              <a:buNone/>
            </a:pPr>
            <a:r>
              <a:rPr lang="en-US" sz="1500">
                <a:solidFill>
                  <a:srgbClr val="5A5A4C"/>
                </a:solidFill>
                <a:latin typeface="Montserrat"/>
                <a:ea typeface="Montserrat"/>
                <a:cs typeface="Montserrat"/>
                <a:sym typeface="Montserrat"/>
              </a:rPr>
              <a:t>An LLM Only Generates Tokens! Our code calls the tool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7"/>
          <p:cNvGrpSpPr/>
          <p:nvPr/>
        </p:nvGrpSpPr>
        <p:grpSpPr>
          <a:xfrm>
            <a:off x="3685854" y="1843204"/>
            <a:ext cx="1428300" cy="1913206"/>
            <a:chOff x="3685854" y="1843204"/>
            <a:chExt cx="1428300" cy="1913206"/>
          </a:xfrm>
        </p:grpSpPr>
        <p:pic>
          <p:nvPicPr>
            <p:cNvPr descr="Code (1).png" id="87" name="Google Shape;87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85854" y="1843204"/>
              <a:ext cx="1428300" cy="1428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88" name="Google Shape;88;p7"/>
            <p:cNvSpPr/>
            <p:nvPr/>
          </p:nvSpPr>
          <p:spPr>
            <a:xfrm>
              <a:off x="3685854" y="1843204"/>
              <a:ext cx="1428300" cy="1428300"/>
            </a:xfrm>
            <a:prstGeom prst="ellipse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4137702" y="3482210"/>
              <a:ext cx="5343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D7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Code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7"/>
          <p:cNvSpPr/>
          <p:nvPr/>
        </p:nvSpPr>
        <p:spPr>
          <a:xfrm rot="5400000">
            <a:off x="6550162" y="2298368"/>
            <a:ext cx="137100" cy="1371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" name="Google Shape;91;p7"/>
          <p:cNvGrpSpPr/>
          <p:nvPr/>
        </p:nvGrpSpPr>
        <p:grpSpPr>
          <a:xfrm>
            <a:off x="5452299" y="2126204"/>
            <a:ext cx="1266369" cy="845151"/>
            <a:chOff x="5452299" y="2126204"/>
            <a:chExt cx="1266369" cy="845151"/>
          </a:xfrm>
        </p:grpSpPr>
        <p:cxnSp>
          <p:nvCxnSpPr>
            <p:cNvPr id="92" name="Google Shape;92;p7"/>
            <p:cNvCxnSpPr/>
            <p:nvPr/>
          </p:nvCxnSpPr>
          <p:spPr>
            <a:xfrm>
              <a:off x="5571332" y="2366948"/>
              <a:ext cx="10473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" name="Google Shape;93;p7"/>
            <p:cNvCxnSpPr/>
            <p:nvPr/>
          </p:nvCxnSpPr>
          <p:spPr>
            <a:xfrm>
              <a:off x="5571332" y="2747852"/>
              <a:ext cx="10473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4" name="Google Shape;94;p7"/>
            <p:cNvSpPr/>
            <p:nvPr/>
          </p:nvSpPr>
          <p:spPr>
            <a:xfrm rot="-5400000">
              <a:off x="5502752" y="2679332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5452299" y="2126204"/>
              <a:ext cx="942600" cy="1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700"/>
                </a:buClr>
                <a:buSzPts val="1125"/>
                <a:buFont typeface="Arial"/>
                <a:buNone/>
              </a:pPr>
              <a:r>
                <a:rPr b="1" i="0" lang="en-US" sz="1125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Prompt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5776068" y="2821355"/>
              <a:ext cx="942600" cy="1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700"/>
                </a:buClr>
                <a:buSzPts val="1125"/>
                <a:buFont typeface="Arial"/>
                <a:buNone/>
              </a:pPr>
              <a:r>
                <a:rPr b="1" i="0" lang="en-US" sz="1125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Response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7"/>
          <p:cNvGrpSpPr/>
          <p:nvPr/>
        </p:nvGrpSpPr>
        <p:grpSpPr>
          <a:xfrm>
            <a:off x="7037815" y="1843204"/>
            <a:ext cx="1428300" cy="1887680"/>
            <a:chOff x="7037815" y="1843204"/>
            <a:chExt cx="1428300" cy="1887680"/>
          </a:xfrm>
        </p:grpSpPr>
        <p:pic>
          <p:nvPicPr>
            <p:cNvPr descr="LLM.png" id="98" name="Google Shape;9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37815" y="1843204"/>
              <a:ext cx="1428300" cy="1428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99" name="Google Shape;99;p7"/>
            <p:cNvSpPr/>
            <p:nvPr/>
          </p:nvSpPr>
          <p:spPr>
            <a:xfrm>
              <a:off x="7037815" y="1843204"/>
              <a:ext cx="1428300" cy="1428300"/>
            </a:xfrm>
            <a:prstGeom prst="ellipse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7435967" y="3456684"/>
              <a:ext cx="5343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D7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LLM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7"/>
          <p:cNvGrpSpPr/>
          <p:nvPr/>
        </p:nvGrpSpPr>
        <p:grpSpPr>
          <a:xfrm>
            <a:off x="3685842" y="3756394"/>
            <a:ext cx="1656310" cy="2744613"/>
            <a:chOff x="6933067" y="3679147"/>
            <a:chExt cx="1656310" cy="2744613"/>
          </a:xfrm>
        </p:grpSpPr>
        <p:sp>
          <p:nvSpPr>
            <p:cNvPr id="102" name="Google Shape;102;p7"/>
            <p:cNvSpPr/>
            <p:nvPr/>
          </p:nvSpPr>
          <p:spPr>
            <a:xfrm>
              <a:off x="7578683" y="3679147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3" name="Google Shape;103;p7"/>
            <p:cNvGrpSpPr/>
            <p:nvPr/>
          </p:nvGrpSpPr>
          <p:grpSpPr>
            <a:xfrm>
              <a:off x="6933067" y="3747728"/>
              <a:ext cx="1656310" cy="2676032"/>
              <a:chOff x="6933067" y="3747728"/>
              <a:chExt cx="1656310" cy="2676032"/>
            </a:xfrm>
          </p:grpSpPr>
          <p:cxnSp>
            <p:nvCxnSpPr>
              <p:cNvPr id="104" name="Google Shape;104;p7"/>
              <p:cNvCxnSpPr/>
              <p:nvPr/>
            </p:nvCxnSpPr>
            <p:spPr>
              <a:xfrm rot="5400000">
                <a:off x="7354463" y="4040528"/>
                <a:ext cx="5856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5" name="Google Shape;105;p7"/>
              <p:cNvSpPr/>
              <p:nvPr/>
            </p:nvSpPr>
            <p:spPr>
              <a:xfrm rot="10800000">
                <a:off x="7578743" y="4264882"/>
                <a:ext cx="137100" cy="1371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7"/>
              <p:cNvSpPr/>
              <p:nvPr/>
            </p:nvSpPr>
            <p:spPr>
              <a:xfrm>
                <a:off x="7646777" y="3954547"/>
                <a:ext cx="942600" cy="15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49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D700"/>
                  </a:buClr>
                  <a:buSzPts val="1125"/>
                  <a:buFont typeface="Arial"/>
                  <a:buNone/>
                </a:pPr>
                <a:r>
                  <a:rPr b="0" i="0" lang="en-US" sz="1125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EXECUTE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Knoweledge Base.png" id="107" name="Google Shape;107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933067" y="4500014"/>
                <a:ext cx="1428300" cy="14283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108" name="Google Shape;108;p7"/>
              <p:cNvSpPr/>
              <p:nvPr/>
            </p:nvSpPr>
            <p:spPr>
              <a:xfrm>
                <a:off x="6933067" y="4500014"/>
                <a:ext cx="1428300" cy="1428300"/>
              </a:xfrm>
              <a:prstGeom prst="ellipse">
                <a:avLst/>
              </a:prstGeom>
              <a:noFill/>
              <a:ln cap="flat" cmpd="sng" w="25400">
                <a:solidFill>
                  <a:srgbClr val="FFD7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7"/>
              <p:cNvSpPr/>
              <p:nvPr/>
            </p:nvSpPr>
            <p:spPr>
              <a:xfrm>
                <a:off x="7384927" y="6149560"/>
                <a:ext cx="534300" cy="27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D700"/>
                  </a:buClr>
                  <a:buSzPts val="1500"/>
                  <a:buFont typeface="Arial"/>
                  <a:buNone/>
                </a:pPr>
                <a:r>
                  <a:rPr lang="en-US" sz="1500">
                    <a:solidFill>
                      <a:schemeClr val="dk1"/>
                    </a:solidFill>
                  </a:rPr>
                  <a:t>Tool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35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Behold Tool Calling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0" y="978375"/>
            <a:ext cx="1218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4C"/>
              </a:buClr>
              <a:buSzPts val="1500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9587" y="813431"/>
            <a:ext cx="7344102" cy="6299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356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Common Use Cases For Tools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0" y="978375"/>
            <a:ext cx="1218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4C"/>
              </a:buClr>
              <a:buSzPts val="1500"/>
              <a:buFont typeface="Montserrat"/>
              <a:buNone/>
            </a:pPr>
            <a:r>
              <a:rPr lang="en-US" sz="1500">
                <a:solidFill>
                  <a:srgbClr val="5A5A4C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r>
              <a:rPr b="0" i="0" lang="en-US" sz="1500" u="none" cap="none" strike="noStrike">
                <a:solidFill>
                  <a:srgbClr val="5A5A4C"/>
                </a:solidFill>
                <a:latin typeface="Montserrat"/>
                <a:ea typeface="Montserrat"/>
                <a:cs typeface="Montserrat"/>
                <a:sym typeface="Montserrat"/>
              </a:rPr>
              <a:t> can enable assistants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9"/>
          <p:cNvGrpSpPr/>
          <p:nvPr/>
        </p:nvGrpSpPr>
        <p:grpSpPr>
          <a:xfrm>
            <a:off x="342814" y="1839141"/>
            <a:ext cx="2933100" cy="3266401"/>
            <a:chOff x="342814" y="1839141"/>
            <a:chExt cx="2933100" cy="3266401"/>
          </a:xfrm>
        </p:grpSpPr>
        <p:pic>
          <p:nvPicPr>
            <p:cNvPr descr="Data.png" id="126" name="Google Shape;126;p9"/>
            <p:cNvPicPr preferRelativeResize="0"/>
            <p:nvPr/>
          </p:nvPicPr>
          <p:blipFill rotWithShape="1">
            <a:blip r:embed="rId3">
              <a:alphaModFix/>
            </a:blip>
            <a:srcRect b="-1209" l="-1209" r="-1209" t="-1209"/>
            <a:stretch/>
          </p:blipFill>
          <p:spPr>
            <a:xfrm>
              <a:off x="476131" y="1839141"/>
              <a:ext cx="2666334" cy="2666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9"/>
            <p:cNvSpPr/>
            <p:nvPr/>
          </p:nvSpPr>
          <p:spPr>
            <a:xfrm>
              <a:off x="342814" y="4644742"/>
              <a:ext cx="2933100" cy="4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Fetch data or add knowledge or context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9"/>
          <p:cNvGrpSpPr/>
          <p:nvPr/>
        </p:nvGrpSpPr>
        <p:grpSpPr>
          <a:xfrm>
            <a:off x="3199600" y="1839141"/>
            <a:ext cx="2933100" cy="3266401"/>
            <a:chOff x="3199600" y="1839141"/>
            <a:chExt cx="2933100" cy="3266401"/>
          </a:xfrm>
        </p:grpSpPr>
        <p:pic>
          <p:nvPicPr>
            <p:cNvPr descr="Book.png" id="129" name="Google Shape;129;p9"/>
            <p:cNvPicPr preferRelativeResize="0"/>
            <p:nvPr/>
          </p:nvPicPr>
          <p:blipFill rotWithShape="1">
            <a:blip r:embed="rId4">
              <a:alphaModFix/>
            </a:blip>
            <a:srcRect b="-1209" l="-1209" r="-1209" t="-1209"/>
            <a:stretch/>
          </p:blipFill>
          <p:spPr>
            <a:xfrm>
              <a:off x="3332917" y="1839141"/>
              <a:ext cx="2666334" cy="2666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9"/>
            <p:cNvSpPr/>
            <p:nvPr/>
          </p:nvSpPr>
          <p:spPr>
            <a:xfrm>
              <a:off x="3199600" y="4644742"/>
              <a:ext cx="2933100" cy="4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Take action, like booking a meeting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9"/>
          <p:cNvGrpSpPr/>
          <p:nvPr/>
        </p:nvGrpSpPr>
        <p:grpSpPr>
          <a:xfrm>
            <a:off x="6056386" y="1839141"/>
            <a:ext cx="2933100" cy="3036001"/>
            <a:chOff x="6056386" y="1839141"/>
            <a:chExt cx="2933100" cy="3036001"/>
          </a:xfrm>
        </p:grpSpPr>
        <p:pic>
          <p:nvPicPr>
            <p:cNvPr descr="Calculations.png" id="132" name="Google Shape;132;p9"/>
            <p:cNvPicPr preferRelativeResize="0"/>
            <p:nvPr/>
          </p:nvPicPr>
          <p:blipFill rotWithShape="1">
            <a:blip r:embed="rId5">
              <a:alphaModFix/>
            </a:blip>
            <a:srcRect b="-1209" l="-1209" r="-1209" t="-1209"/>
            <a:stretch/>
          </p:blipFill>
          <p:spPr>
            <a:xfrm>
              <a:off x="6189702" y="1839141"/>
              <a:ext cx="2666334" cy="2666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9"/>
            <p:cNvSpPr/>
            <p:nvPr/>
          </p:nvSpPr>
          <p:spPr>
            <a:xfrm>
              <a:off x="6056386" y="4644742"/>
              <a:ext cx="29331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Perform calculations</a:t>
              </a:r>
              <a:endParaRPr b="0" i="0" sz="144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or run code</a:t>
              </a:r>
              <a:endParaRPr sz="14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4" name="Google Shape;134;p9"/>
          <p:cNvGrpSpPr/>
          <p:nvPr/>
        </p:nvGrpSpPr>
        <p:grpSpPr>
          <a:xfrm>
            <a:off x="8913171" y="1839141"/>
            <a:ext cx="2933100" cy="3036001"/>
            <a:chOff x="8913171" y="1839141"/>
            <a:chExt cx="2933100" cy="3036001"/>
          </a:xfrm>
        </p:grpSpPr>
        <p:pic>
          <p:nvPicPr>
            <p:cNvPr descr="Modify_ui.png" id="135" name="Google Shape;135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046488" y="1839141"/>
              <a:ext cx="2666334" cy="2666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9"/>
            <p:cNvSpPr/>
            <p:nvPr/>
          </p:nvSpPr>
          <p:spPr>
            <a:xfrm>
              <a:off x="8913171" y="4644742"/>
              <a:ext cx="29331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Modify the UI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9"/>
          <p:cNvSpPr/>
          <p:nvPr/>
        </p:nvSpPr>
        <p:spPr>
          <a:xfrm>
            <a:off x="342825" y="5418275"/>
            <a:ext cx="115608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440"/>
              <a:buFont typeface="Montserrat"/>
              <a:buNone/>
            </a:pPr>
            <a:r>
              <a:rPr b="1" lang="en-US" sz="15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And two other ways to use tools that form basis of Agentic AI:</a:t>
            </a:r>
            <a:endParaRPr b="1" sz="154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440"/>
              <a:buFont typeface="Montserrat"/>
              <a:buNone/>
            </a:pPr>
            <a:r>
              <a:t/>
            </a:r>
            <a:endParaRPr b="1" sz="154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6390" lvl="0" marL="45720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540"/>
              <a:buFont typeface="Montserrat"/>
              <a:buAutoNum type="arabicPeriod"/>
            </a:pPr>
            <a:r>
              <a:rPr lang="en-US" sz="15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A tool can be used to make another call to an LLM</a:t>
            </a:r>
            <a:endParaRPr sz="154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6390" lvl="0" marL="45720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540"/>
              <a:buFont typeface="Montserrat"/>
              <a:buAutoNum type="arabicPeriod"/>
            </a:pPr>
            <a:r>
              <a:rPr lang="en-US" sz="15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A tool can be used to track a ToDo list and track progress towards a goal</a:t>
            </a:r>
            <a:endParaRPr sz="154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0"/>
          <p:cNvPicPr preferRelativeResize="0"/>
          <p:nvPr/>
        </p:nvPicPr>
        <p:blipFill rotWithShape="1">
          <a:blip r:embed="rId3">
            <a:alphaModFix/>
          </a:blip>
          <a:srcRect b="-4709" l="-1545" r="-1545" t="-4709"/>
          <a:stretch/>
        </p:blipFill>
        <p:spPr>
          <a:xfrm>
            <a:off x="1152237" y="828468"/>
            <a:ext cx="10036349" cy="602537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0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Informed Airline Customer Support Agent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COMING UP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5902210" y="790154"/>
            <a:ext cx="4779082" cy="1019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Tomorrow</a:t>
            </a: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we take this to the next level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5156392" y="2704052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5156392" y="3109656"/>
            <a:ext cx="6897791" cy="1027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lang="en-US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Overview of</a:t>
            </a: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transformers and key terminology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lang="en-US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code with the Chat Completions API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an AI Assistant using Tools for enhanced expertise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11"/>
          <p:cNvCxnSpPr/>
          <p:nvPr/>
        </p:nvCxnSpPr>
        <p:spPr>
          <a:xfrm>
            <a:off x="5156349" y="4303033"/>
            <a:ext cx="6270718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11"/>
          <p:cNvSpPr/>
          <p:nvPr/>
        </p:nvSpPr>
        <p:spPr>
          <a:xfrm>
            <a:off x="5156392" y="4659685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Tomorrow will complete week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5156392" y="5065289"/>
            <a:ext cx="6897791" cy="1027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Describe Agents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how Agents can carry out sequential activities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Complete a multi-modal AI Assistant with Agents and Tools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1" title="09_w2_5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