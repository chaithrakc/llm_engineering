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805492"/>
            <a:ext cx="11998500" cy="4955567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py of Brain_V4_full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1576" r="1576" t="0"/>
          <a:stretch/>
        </p:blipFill>
        <p:spPr>
          <a:xfrm>
            <a:off x="95226" y="1805492"/>
            <a:ext cx="11998500" cy="495556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2815838" y="582740"/>
            <a:ext cx="6557275" cy="44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7"/>
              <a:buFont typeface="Montserrat"/>
              <a:buNone/>
            </a:pPr>
            <a:r>
              <a:rPr b="0" i="0" lang="en-US" sz="3347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815838" y="1075163"/>
            <a:ext cx="6557275" cy="356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Montserrat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2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classic Gen AI week ahead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_w2_3-1_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already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use the OpenAI API including streaming with markdown and JSON generation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Frontier APIs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UIs for your solutions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7" y="4122773"/>
            <a:ext cx="627072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today,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Chat UI in Gradio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conversation history in a prompt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your first customer support assistant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AI Assistant is a very common Gen AI use case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based Chatbots are remarkably effective at conversation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295201" y="1933092"/>
            <a:ext cx="3980455" cy="3988266"/>
            <a:chOff x="295201" y="1933092"/>
            <a:chExt cx="3980455" cy="3988266"/>
          </a:xfrm>
        </p:grpSpPr>
        <p:pic>
          <p:nvPicPr>
            <p:cNvPr descr="gemini copy.png"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-1333" l="-1333" r="-1333" t="-1333"/>
            <a:stretch/>
          </p:blipFill>
          <p:spPr>
            <a:xfrm>
              <a:off x="476131" y="1933092"/>
              <a:ext cx="3618595" cy="3618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295201" y="5690955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On-brand </a:t>
              </a: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persona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5"/>
          <p:cNvGrpSpPr/>
          <p:nvPr/>
        </p:nvGrpSpPr>
        <p:grpSpPr>
          <a:xfrm>
            <a:off x="7913296" y="1933092"/>
            <a:ext cx="3980455" cy="4218668"/>
            <a:chOff x="7913296" y="1933092"/>
            <a:chExt cx="3980455" cy="4218668"/>
          </a:xfrm>
        </p:grpSpPr>
        <p:pic>
          <p:nvPicPr>
            <p:cNvPr descr="Coding3 (1).png" id="45" name="Google Shape;45;p5"/>
            <p:cNvPicPr preferRelativeResize="0"/>
            <p:nvPr/>
          </p:nvPicPr>
          <p:blipFill rotWithShape="1">
            <a:blip r:embed="rId4">
              <a:alphaModFix/>
            </a:blip>
            <a:srcRect b="-2368" l="-2368" r="-2368" t="-2368"/>
            <a:stretch/>
          </p:blipFill>
          <p:spPr>
            <a:xfrm>
              <a:off x="8094226" y="1933092"/>
              <a:ext cx="3618595" cy="3618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5"/>
            <p:cNvSpPr/>
            <p:nvPr/>
          </p:nvSpPr>
          <p:spPr>
            <a:xfrm>
              <a:off x="7913296" y="5690955"/>
              <a:ext cx="3980455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Subject matter expertise to answer questions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5"/>
          <p:cNvGrpSpPr/>
          <p:nvPr/>
        </p:nvGrpSpPr>
        <p:grpSpPr>
          <a:xfrm>
            <a:off x="4104249" y="1933092"/>
            <a:ext cx="3980455" cy="4218668"/>
            <a:chOff x="4104249" y="1933092"/>
            <a:chExt cx="3980455" cy="4218668"/>
          </a:xfrm>
        </p:grpSpPr>
        <p:pic>
          <p:nvPicPr>
            <p:cNvPr descr="Context.png" id="48" name="Google Shape;48;p5"/>
            <p:cNvPicPr preferRelativeResize="0"/>
            <p:nvPr/>
          </p:nvPicPr>
          <p:blipFill rotWithShape="1">
            <a:blip r:embed="rId5">
              <a:alphaModFix/>
            </a:blip>
            <a:srcRect b="-2368" l="-2368" r="-2368" t="-2368"/>
            <a:stretch/>
          </p:blipFill>
          <p:spPr>
            <a:xfrm>
              <a:off x="4285178" y="1933092"/>
              <a:ext cx="3618595" cy="3618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5"/>
            <p:cNvSpPr/>
            <p:nvPr/>
          </p:nvSpPr>
          <p:spPr>
            <a:xfrm>
              <a:off x="4104249" y="5690955"/>
              <a:ext cx="3980455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Ability to maintain context between messages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use of Prompts with our Assistant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6"/>
          <p:cNvGrpSpPr/>
          <p:nvPr/>
        </p:nvGrpSpPr>
        <p:grpSpPr>
          <a:xfrm>
            <a:off x="295201" y="1523619"/>
            <a:ext cx="3980455" cy="4604506"/>
            <a:chOff x="295201" y="1523619"/>
            <a:chExt cx="3980455" cy="4604506"/>
          </a:xfrm>
        </p:grpSpPr>
        <p:sp>
          <p:nvSpPr>
            <p:cNvPr id="57" name="Google Shape;57;p6"/>
            <p:cNvSpPr/>
            <p:nvPr/>
          </p:nvSpPr>
          <p:spPr>
            <a:xfrm>
              <a:off x="571357" y="1523619"/>
              <a:ext cx="3428143" cy="342814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sys.png" id="58" name="Google Shape;58;p6"/>
            <p:cNvPicPr preferRelativeResize="0"/>
            <p:nvPr/>
          </p:nvPicPr>
          <p:blipFill rotWithShape="1">
            <a:blip r:embed="rId3">
              <a:alphaModFix/>
            </a:blip>
            <a:srcRect b="2092" l="2092" r="2092" t="2092"/>
            <a:stretch/>
          </p:blipFill>
          <p:spPr>
            <a:xfrm>
              <a:off x="571357" y="1523619"/>
              <a:ext cx="3428143" cy="342814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59" name="Google Shape;59;p6"/>
            <p:cNvSpPr/>
            <p:nvPr/>
          </p:nvSpPr>
          <p:spPr>
            <a:xfrm>
              <a:off x="295201" y="5091030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System Prompt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489284" y="5413299"/>
              <a:ext cx="3366000" cy="42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Establish ground-rules, like "If you don't know the answer, just say so"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295201" y="5914825"/>
              <a:ext cx="39804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Provide critical background context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4104249" y="1523619"/>
            <a:ext cx="3980455" cy="4523631"/>
            <a:chOff x="4104249" y="1523619"/>
            <a:chExt cx="3980455" cy="4523631"/>
          </a:xfrm>
        </p:grpSpPr>
        <p:sp>
          <p:nvSpPr>
            <p:cNvPr id="63" name="Google Shape;63;p6"/>
            <p:cNvSpPr/>
            <p:nvPr/>
          </p:nvSpPr>
          <p:spPr>
            <a:xfrm>
              <a:off x="4380405" y="1523619"/>
              <a:ext cx="3428143" cy="342814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Context (1).png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2632" l="2632" r="2632" t="2632"/>
            <a:stretch/>
          </p:blipFill>
          <p:spPr>
            <a:xfrm>
              <a:off x="4380405" y="1523619"/>
              <a:ext cx="3428143" cy="342814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5" name="Google Shape;65;p6"/>
            <p:cNvSpPr/>
            <p:nvPr/>
          </p:nvSpPr>
          <p:spPr>
            <a:xfrm>
              <a:off x="4104249" y="5091030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Context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368910" y="5407350"/>
              <a:ext cx="3244500" cy="6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During the conversation, insert context to give more relevant background information pertaining to the topic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6"/>
          <p:cNvGrpSpPr/>
          <p:nvPr/>
        </p:nvGrpSpPr>
        <p:grpSpPr>
          <a:xfrm>
            <a:off x="7913296" y="1523619"/>
            <a:ext cx="3980455" cy="4523616"/>
            <a:chOff x="7913296" y="1523619"/>
            <a:chExt cx="3980455" cy="4523616"/>
          </a:xfrm>
        </p:grpSpPr>
        <p:sp>
          <p:nvSpPr>
            <p:cNvPr id="68" name="Google Shape;68;p6"/>
            <p:cNvSpPr/>
            <p:nvPr/>
          </p:nvSpPr>
          <p:spPr>
            <a:xfrm>
              <a:off x="8189452" y="1523619"/>
              <a:ext cx="3428143" cy="342814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multi shot (1).png" id="69" name="Google Shape;69;p6"/>
            <p:cNvPicPr preferRelativeResize="0"/>
            <p:nvPr/>
          </p:nvPicPr>
          <p:blipFill rotWithShape="1">
            <a:blip r:embed="rId5">
              <a:alphaModFix/>
            </a:blip>
            <a:srcRect b="2632" l="2632" r="2632" t="2632"/>
            <a:stretch/>
          </p:blipFill>
          <p:spPr>
            <a:xfrm>
              <a:off x="8189452" y="1523619"/>
              <a:ext cx="3428143" cy="342814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0" name="Google Shape;70;p6"/>
            <p:cNvSpPr/>
            <p:nvPr/>
          </p:nvSpPr>
          <p:spPr>
            <a:xfrm>
              <a:off x="7913296" y="5091030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Multi-Shot Prompting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7913296" y="5407360"/>
              <a:ext cx="3980455" cy="639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Provide example conversations to to prime for specific scenarios, train on conversational style and demonstrate complex interactions 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466608" y="2372322"/>
            <a:ext cx="2199725" cy="191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84"/>
              <a:buFont typeface="Montserrat"/>
              <a:buNone/>
            </a:pPr>
            <a:r>
              <a:rPr b="0" i="0" lang="en-US" sz="398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first chatbot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4876" y="171407"/>
            <a:ext cx="9076425" cy="6514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Congratulations - 20% milestone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_w2_3-2.png" id="87" name="Google Shape;87;p8"/>
          <p:cNvPicPr preferRelativeResize="0"/>
          <p:nvPr/>
        </p:nvPicPr>
        <p:blipFill rotWithShape="1">
          <a:blip r:embed="rId3">
            <a:alphaModFix/>
          </a:blip>
          <a:srcRect b="54" l="1980" r="1980" t="54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5156392" y="2183432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156392" y="2643047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lang="en-US" sz="15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 and explain key terminology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the </a:t>
            </a:r>
            <a:r>
              <a:rPr lang="en-US" sz="15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Chat Completions API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AI Chatbot Assistant including an interactive UI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>
            <a:off x="5156349" y="3995333"/>
            <a:ext cx="6270718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8"/>
          <p:cNvSpPr/>
          <p:nvPr/>
        </p:nvSpPr>
        <p:spPr>
          <a:xfrm>
            <a:off x="5156392" y="4374155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the next session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156392" y="4833771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the use of Tools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Function-calling Tool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an AI Assistant that incorporates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