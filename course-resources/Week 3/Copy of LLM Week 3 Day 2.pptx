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12192000"/>
  <p:embeddedFontLst>
    <p:embeddedFont>
      <p:font typeface="Montserrat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Montserrat-regular.fntdata"/><Relationship Id="rId10" Type="http://schemas.openxmlformats.org/officeDocument/2006/relationships/slide" Target="slides/slide6.xml"/><Relationship Id="rId13" Type="http://schemas.openxmlformats.org/officeDocument/2006/relationships/font" Target="fonts/Montserrat-italic.fntdata"/><Relationship Id="rId12" Type="http://schemas.openxmlformats.org/officeDocument/2006/relationships/font" Target="fonts/Montserrat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font" Target="fonts/Montserrat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Video URL: https://videos.pexels.com/video-files/3129576/3129576-uhd_3840_2160_30fps.mp4</a:t>
            </a:r>
            <a:br>
              <a:rPr lang="en-US"/>
            </a:br>
            <a:r>
              <a:rPr lang="en-US"/>
              <a:t>Video URL: https://videos.pexels.com/video-files/854322/854322-hd_1280_720_25fps.mp4</a:t>
            </a:r>
            <a:endParaRPr/>
          </a:p>
        </p:txBody>
      </p:sp>
      <p:sp>
        <p:nvSpPr>
          <p:cNvPr id="37" name="Google Shape;3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4.png"/><Relationship Id="rId7" Type="http://schemas.openxmlformats.org/officeDocument/2006/relationships/image" Target="../media/image7.png"/><Relationship Id="rId8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95226" y="1760375"/>
            <a:ext cx="11998500" cy="5000684"/>
          </a:xfrm>
          <a:prstGeom prst="rect">
            <a:avLst/>
          </a:prstGeom>
          <a:solidFill>
            <a:srgbClr val="62A8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Brain_W3_VF.png" id="17" name="Google Shape;17;p3"/>
          <p:cNvPicPr preferRelativeResize="0"/>
          <p:nvPr/>
        </p:nvPicPr>
        <p:blipFill rotWithShape="1">
          <a:blip r:embed="rId3">
            <a:alphaModFix/>
          </a:blip>
          <a:srcRect b="0" l="2013" r="2013" t="0"/>
          <a:stretch/>
        </p:blipFill>
        <p:spPr>
          <a:xfrm>
            <a:off x="95226" y="1760375"/>
            <a:ext cx="11998500" cy="5000684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>
            <a:off x="3051523" y="588022"/>
            <a:ext cx="6085906" cy="414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8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8"/>
              <a:buFont typeface="Montserrat"/>
              <a:buNone/>
            </a:pPr>
            <a:r>
              <a:rPr b="0" i="0" lang="en-US" sz="310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LLM Engineering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3051523" y="1045256"/>
            <a:ext cx="6085906" cy="331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1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72"/>
              <a:buFont typeface="Montserrat"/>
              <a:buNone/>
            </a:pPr>
            <a:r>
              <a:rPr b="0" i="0" lang="en-US" sz="2072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MASTER AI &amp; LARGE LANGUAGE MODELS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4528610" y="419516"/>
            <a:ext cx="7526284" cy="2549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594"/>
              <a:buFont typeface="Montserrat"/>
              <a:buNone/>
            </a:pPr>
            <a:r>
              <a:rPr b="0" i="0" lang="en-US" sz="1594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PROGRESS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4528610" y="790154"/>
            <a:ext cx="7526284" cy="509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0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Ready for open-source coding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0" y="0"/>
            <a:ext cx="4394583" cy="685628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3_D2_1.png" id="28" name="Google Shape;28;p4"/>
          <p:cNvPicPr preferRelativeResize="0"/>
          <p:nvPr/>
        </p:nvPicPr>
        <p:blipFill rotWithShape="1">
          <a:blip r:embed="rId3">
            <a:alphaModFix/>
          </a:blip>
          <a:srcRect b="0" l="1928" r="1928" t="0"/>
          <a:stretch/>
        </p:blipFill>
        <p:spPr>
          <a:xfrm>
            <a:off x="0" y="0"/>
            <a:ext cx="4394583" cy="6856286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/>
          <p:nvPr/>
        </p:nvSpPr>
        <p:spPr>
          <a:xfrm>
            <a:off x="5156392" y="2183432"/>
            <a:ext cx="6897791" cy="2446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47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530"/>
              <a:buFont typeface="Montserrat"/>
              <a:buNone/>
            </a:pPr>
            <a:r>
              <a:rPr b="1" i="0" lang="en-US" sz="1530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What you can now do 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5156392" y="2643047"/>
            <a:ext cx="6897791" cy="11639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594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30"/>
              <a:buFont typeface="Montserrat"/>
              <a:buChar char="•"/>
            </a:pPr>
            <a:r>
              <a:rPr b="0" i="0" lang="en-US" sz="153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Confidently code with Frontier Models</a:t>
            </a:r>
            <a:endParaRPr/>
          </a:p>
          <a:p>
            <a:pPr indent="-242900" lvl="0" marL="242900" marR="0" rtl="0" algn="l">
              <a:lnSpc>
                <a:spcPct val="125947"/>
              </a:lnSpc>
              <a:spcBef>
                <a:spcPts val="1659"/>
              </a:spcBef>
              <a:spcAft>
                <a:spcPts val="0"/>
              </a:spcAft>
              <a:buClr>
                <a:srgbClr val="FFFFFF"/>
              </a:buClr>
              <a:buSzPts val="1530"/>
              <a:buFont typeface="Montserrat"/>
              <a:buChar char="•"/>
            </a:pPr>
            <a:r>
              <a:rPr b="0" i="0" lang="en-US" sz="153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Build a multi-modal AI Assistant with Tools</a:t>
            </a:r>
            <a:endParaRPr/>
          </a:p>
          <a:p>
            <a:pPr indent="-242900" lvl="0" marL="242900" marR="0" rtl="0" algn="l">
              <a:lnSpc>
                <a:spcPct val="125947"/>
              </a:lnSpc>
              <a:spcBef>
                <a:spcPts val="1659"/>
              </a:spcBef>
              <a:spcAft>
                <a:spcPts val="0"/>
              </a:spcAft>
              <a:buClr>
                <a:srgbClr val="FFFFFF"/>
              </a:buClr>
              <a:buSzPts val="1530"/>
              <a:buFont typeface="Montserrat"/>
              <a:buChar char="•"/>
            </a:pPr>
            <a:r>
              <a:rPr b="0" i="0" lang="en-US" sz="153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Navigate the Hugging</a:t>
            </a:r>
            <a:r>
              <a:rPr lang="en-US" sz="153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F</a:t>
            </a:r>
            <a:r>
              <a:rPr b="0" i="0" lang="en-US" sz="153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ace platform; run code on Colab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31;p4"/>
          <p:cNvCxnSpPr/>
          <p:nvPr/>
        </p:nvCxnSpPr>
        <p:spPr>
          <a:xfrm>
            <a:off x="5156349" y="3995333"/>
            <a:ext cx="6270719" cy="0"/>
          </a:xfrm>
          <a:prstGeom prst="straightConnector1">
            <a:avLst/>
          </a:prstGeom>
          <a:noFill/>
          <a:ln cap="flat" cmpd="sng" w="12700">
            <a:solidFill>
              <a:srgbClr val="FFFFFF">
                <a:alpha val="2000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2" name="Google Shape;32;p4"/>
          <p:cNvSpPr/>
          <p:nvPr/>
        </p:nvSpPr>
        <p:spPr>
          <a:xfrm>
            <a:off x="5156392" y="4374155"/>
            <a:ext cx="6897791" cy="2446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47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530"/>
              <a:buFont typeface="Montserrat"/>
              <a:buNone/>
            </a:pPr>
            <a:r>
              <a:rPr b="1" i="0" lang="en-US" sz="1530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After today you'll be able to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5156392" y="4833771"/>
            <a:ext cx="6897791" cy="11639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594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30"/>
              <a:buFont typeface="Montserrat"/>
              <a:buChar char="•"/>
            </a:pPr>
            <a:r>
              <a:rPr b="0" i="0" lang="en-US" sz="153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Understand the 2 different levels of Hugging Face API</a:t>
            </a:r>
            <a:endParaRPr/>
          </a:p>
          <a:p>
            <a:pPr indent="-242900" lvl="0" marL="242900" marR="0" rtl="0" algn="l">
              <a:lnSpc>
                <a:spcPct val="125947"/>
              </a:lnSpc>
              <a:spcBef>
                <a:spcPts val="1659"/>
              </a:spcBef>
              <a:spcAft>
                <a:spcPts val="0"/>
              </a:spcAft>
              <a:buClr>
                <a:srgbClr val="FFFFFF"/>
              </a:buClr>
              <a:buSzPts val="1530"/>
              <a:buFont typeface="Montserrat"/>
              <a:buChar char="•"/>
            </a:pPr>
            <a:r>
              <a:rPr b="0" i="0" lang="en-US" sz="153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Use pipelines for a wide variety of inference tasks</a:t>
            </a:r>
            <a:endParaRPr/>
          </a:p>
          <a:p>
            <a:pPr indent="-242900" lvl="0" marL="242900" marR="0" rtl="0" algn="l">
              <a:lnSpc>
                <a:spcPct val="125947"/>
              </a:lnSpc>
              <a:spcBef>
                <a:spcPts val="1659"/>
              </a:spcBef>
              <a:spcAft>
                <a:spcPts val="0"/>
              </a:spcAft>
              <a:buClr>
                <a:srgbClr val="FFFFFF"/>
              </a:buClr>
              <a:buSzPts val="1530"/>
              <a:buFont typeface="Montserrat"/>
              <a:buChar char="•"/>
            </a:pPr>
            <a:r>
              <a:rPr b="0" i="0" lang="en-US" sz="153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Use pipelines to generate text, images and audio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/>
          <p:nvPr/>
        </p:nvSpPr>
        <p:spPr>
          <a:xfrm>
            <a:off x="0" y="362827"/>
            <a:ext cx="12188952" cy="509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0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Two API Levels of Hugging Face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199975" y="2256861"/>
            <a:ext cx="6075431" cy="3439971"/>
            <a:chOff x="199975" y="2256861"/>
            <a:chExt cx="6075431" cy="3439971"/>
          </a:xfrm>
        </p:grpSpPr>
        <p:sp>
          <p:nvSpPr>
            <p:cNvPr id="41" name="Google Shape;41;p5"/>
            <p:cNvSpPr/>
            <p:nvPr/>
          </p:nvSpPr>
          <p:spPr>
            <a:xfrm>
              <a:off x="476131" y="2256861"/>
              <a:ext cx="5523119" cy="2771082"/>
            </a:xfrm>
            <a:prstGeom prst="rect">
              <a:avLst/>
            </a:prstGeom>
            <a:solidFill>
              <a:srgbClr val="62A8B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2" name="Google Shape;42;p5"/>
            <p:cNvPicPr preferRelativeResize="0"/>
            <p:nvPr/>
          </p:nvPicPr>
          <p:blipFill rotWithShape="1">
            <a:blip r:embed="rId3">
              <a:alphaModFix/>
            </a:blip>
            <a:srcRect b="5402" l="0" r="0" t="5402"/>
            <a:stretch/>
          </p:blipFill>
          <p:spPr>
            <a:xfrm>
              <a:off x="476131" y="2256861"/>
              <a:ext cx="5523119" cy="277108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" name="Google Shape;43;p5"/>
            <p:cNvSpPr/>
            <p:nvPr/>
          </p:nvSpPr>
          <p:spPr>
            <a:xfrm>
              <a:off x="199975" y="5167211"/>
              <a:ext cx="6075431" cy="230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40"/>
                <a:buFont typeface="Montserrat"/>
                <a:buNone/>
              </a:pPr>
              <a:r>
                <a:rPr b="0" i="0" lang="en-US" sz="144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Pipelines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5"/>
            <p:cNvSpPr/>
            <p:nvPr/>
          </p:nvSpPr>
          <p:spPr>
            <a:xfrm>
              <a:off x="199975" y="5483540"/>
              <a:ext cx="6075431" cy="2132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Montserrat"/>
                <a:buNone/>
              </a:pPr>
              <a:r>
                <a:rPr b="0" i="0" lang="en-US" sz="12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Higher level APIs to carry out standard tasks incredibly quickly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" name="Google Shape;45;p5"/>
          <p:cNvGrpSpPr/>
          <p:nvPr/>
        </p:nvGrpSpPr>
        <p:grpSpPr>
          <a:xfrm>
            <a:off x="5913546" y="2256861"/>
            <a:ext cx="6075431" cy="3439971"/>
            <a:chOff x="5913546" y="2256861"/>
            <a:chExt cx="6075431" cy="3439971"/>
          </a:xfrm>
        </p:grpSpPr>
        <p:sp>
          <p:nvSpPr>
            <p:cNvPr id="46" name="Google Shape;46;p5"/>
            <p:cNvSpPr/>
            <p:nvPr/>
          </p:nvSpPr>
          <p:spPr>
            <a:xfrm>
              <a:off x="6189702" y="2256861"/>
              <a:ext cx="5523119" cy="2771082"/>
            </a:xfrm>
            <a:prstGeom prst="rect">
              <a:avLst/>
            </a:prstGeom>
            <a:solidFill>
              <a:srgbClr val="62A8B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7" name="Google Shape;47;p5"/>
            <p:cNvPicPr preferRelativeResize="0"/>
            <p:nvPr/>
          </p:nvPicPr>
          <p:blipFill rotWithShape="1">
            <a:blip r:embed="rId4">
              <a:alphaModFix/>
            </a:blip>
            <a:srcRect b="5402" l="0" r="0" t="5402"/>
            <a:stretch/>
          </p:blipFill>
          <p:spPr>
            <a:xfrm>
              <a:off x="6189702" y="2256861"/>
              <a:ext cx="5523119" cy="277108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" name="Google Shape;48;p5"/>
            <p:cNvSpPr/>
            <p:nvPr/>
          </p:nvSpPr>
          <p:spPr>
            <a:xfrm>
              <a:off x="5913546" y="5167211"/>
              <a:ext cx="6075431" cy="230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40"/>
                <a:buFont typeface="Montserrat"/>
                <a:buNone/>
              </a:pPr>
              <a:r>
                <a:rPr b="0" i="0" lang="en-US" sz="144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Tokenizers and Models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5"/>
            <p:cNvSpPr/>
            <p:nvPr/>
          </p:nvSpPr>
          <p:spPr>
            <a:xfrm>
              <a:off x="5913546" y="5483540"/>
              <a:ext cx="6075431" cy="2132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Montserrat"/>
                <a:buNone/>
              </a:pPr>
              <a:r>
                <a:rPr b="0" i="0" lang="en-US" sz="12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Lower level APIs to provide the most power and control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"/>
          <p:cNvSpPr/>
          <p:nvPr/>
        </p:nvSpPr>
        <p:spPr>
          <a:xfrm>
            <a:off x="0" y="362827"/>
            <a:ext cx="12188952" cy="509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0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Pipelines are </a:t>
            </a:r>
            <a:r>
              <a:rPr lang="en-US" sz="318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for </a:t>
            </a:r>
            <a:r>
              <a:rPr b="0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simple out-of-the-box inference tasks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6"/>
          <p:cNvSpPr/>
          <p:nvPr/>
        </p:nvSpPr>
        <p:spPr>
          <a:xfrm>
            <a:off x="0" y="978375"/>
            <a:ext cx="12188952" cy="2666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Unleash the power of open-source models in your solutions in 2 lines of code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7" name="Google Shape;57;p6"/>
          <p:cNvGrpSpPr/>
          <p:nvPr/>
        </p:nvGrpSpPr>
        <p:grpSpPr>
          <a:xfrm>
            <a:off x="1221276" y="2171157"/>
            <a:ext cx="1937853" cy="1750451"/>
            <a:chOff x="1221276" y="2171157"/>
            <a:chExt cx="1937853" cy="1750451"/>
          </a:xfrm>
        </p:grpSpPr>
        <p:pic>
          <p:nvPicPr>
            <p:cNvPr descr="Sentiment.png" id="58" name="Google Shape;58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476006" y="2171157"/>
              <a:ext cx="1428393" cy="142839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" name="Google Shape;59;p6"/>
            <p:cNvSpPr/>
            <p:nvPr/>
          </p:nvSpPr>
          <p:spPr>
            <a:xfrm>
              <a:off x="1221276" y="3691205"/>
              <a:ext cx="1937853" cy="230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40"/>
                <a:buFont typeface="Montserrat"/>
                <a:buNone/>
              </a:pPr>
              <a:r>
                <a:rPr b="0" i="0" lang="en-US" sz="144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Sentiment analysis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0" name="Google Shape;60;p6"/>
          <p:cNvGrpSpPr/>
          <p:nvPr/>
        </p:nvGrpSpPr>
        <p:grpSpPr>
          <a:xfrm>
            <a:off x="5380280" y="2171157"/>
            <a:ext cx="1428393" cy="1750451"/>
            <a:chOff x="5380280" y="2171157"/>
            <a:chExt cx="1428393" cy="1750451"/>
          </a:xfrm>
        </p:grpSpPr>
        <p:pic>
          <p:nvPicPr>
            <p:cNvPr descr="Classifier.png" id="61" name="Google Shape;61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380280" y="2171157"/>
              <a:ext cx="1428393" cy="142839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" name="Google Shape;62;p6"/>
            <p:cNvSpPr/>
            <p:nvPr/>
          </p:nvSpPr>
          <p:spPr>
            <a:xfrm>
              <a:off x="5628344" y="3691205"/>
              <a:ext cx="932264" cy="230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40"/>
                <a:buFont typeface="Montserrat"/>
                <a:buNone/>
              </a:pPr>
              <a:r>
                <a:rPr b="0" i="0" lang="en-US" sz="144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Classifier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3" name="Google Shape;63;p6"/>
          <p:cNvGrpSpPr/>
          <p:nvPr/>
        </p:nvGrpSpPr>
        <p:grpSpPr>
          <a:xfrm>
            <a:off x="8637015" y="2171157"/>
            <a:ext cx="2723469" cy="1750451"/>
            <a:chOff x="8637015" y="2171157"/>
            <a:chExt cx="2723469" cy="1750451"/>
          </a:xfrm>
        </p:grpSpPr>
        <p:pic>
          <p:nvPicPr>
            <p:cNvPr descr="NER.png" id="64" name="Google Shape;64;p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284553" y="2171157"/>
              <a:ext cx="1428393" cy="142839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" name="Google Shape;65;p6"/>
            <p:cNvSpPr/>
            <p:nvPr/>
          </p:nvSpPr>
          <p:spPr>
            <a:xfrm>
              <a:off x="8637015" y="3691205"/>
              <a:ext cx="2723469" cy="230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40"/>
                <a:buFont typeface="Montserrat"/>
                <a:buNone/>
              </a:pPr>
              <a:r>
                <a:rPr b="0" i="0" lang="en-US" sz="144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Named Entity Recognition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6" name="Google Shape;66;p6"/>
          <p:cNvGrpSpPr/>
          <p:nvPr/>
        </p:nvGrpSpPr>
        <p:grpSpPr>
          <a:xfrm>
            <a:off x="1147952" y="4161384"/>
            <a:ext cx="2084501" cy="1750451"/>
            <a:chOff x="1147952" y="4161384"/>
            <a:chExt cx="2084501" cy="1750451"/>
          </a:xfrm>
        </p:grpSpPr>
        <p:pic>
          <p:nvPicPr>
            <p:cNvPr descr="QA.png" id="67" name="Google Shape;67;p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476006" y="4161384"/>
              <a:ext cx="1428393" cy="142839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" name="Google Shape;68;p6"/>
            <p:cNvSpPr/>
            <p:nvPr/>
          </p:nvSpPr>
          <p:spPr>
            <a:xfrm>
              <a:off x="1147952" y="5681432"/>
              <a:ext cx="2084501" cy="230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40"/>
                <a:buFont typeface="Montserrat"/>
                <a:buNone/>
              </a:pPr>
              <a:r>
                <a:rPr b="0" i="0" lang="en-US" sz="144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Question Answering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9" name="Google Shape;69;p6"/>
          <p:cNvGrpSpPr/>
          <p:nvPr/>
        </p:nvGrpSpPr>
        <p:grpSpPr>
          <a:xfrm>
            <a:off x="5380280" y="4161384"/>
            <a:ext cx="1428393" cy="1750451"/>
            <a:chOff x="5380280" y="4161384"/>
            <a:chExt cx="1428393" cy="1750451"/>
          </a:xfrm>
        </p:grpSpPr>
        <p:pic>
          <p:nvPicPr>
            <p:cNvPr descr="Summarizing.png" id="70" name="Google Shape;70;p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380280" y="4161384"/>
              <a:ext cx="1428393" cy="142839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1" name="Google Shape;71;p6"/>
            <p:cNvSpPr/>
            <p:nvPr/>
          </p:nvSpPr>
          <p:spPr>
            <a:xfrm>
              <a:off x="5403134" y="5681432"/>
              <a:ext cx="1382684" cy="230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40"/>
                <a:buFont typeface="Montserrat"/>
                <a:buNone/>
              </a:pPr>
              <a:r>
                <a:rPr b="0" i="0" lang="en-US" sz="144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Summarizing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2" name="Google Shape;72;p6"/>
          <p:cNvGrpSpPr/>
          <p:nvPr/>
        </p:nvGrpSpPr>
        <p:grpSpPr>
          <a:xfrm>
            <a:off x="9284553" y="4161384"/>
            <a:ext cx="1428393" cy="1750451"/>
            <a:chOff x="9284553" y="4161384"/>
            <a:chExt cx="1428393" cy="1750451"/>
          </a:xfrm>
        </p:grpSpPr>
        <p:pic>
          <p:nvPicPr>
            <p:cNvPr descr="Translation.png" id="73" name="Google Shape;73;p6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9284553" y="4161384"/>
              <a:ext cx="1428393" cy="142839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4" name="Google Shape;74;p6"/>
            <p:cNvSpPr/>
            <p:nvPr/>
          </p:nvSpPr>
          <p:spPr>
            <a:xfrm>
              <a:off x="9427869" y="5681432"/>
              <a:ext cx="1141762" cy="230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40"/>
                <a:buFont typeface="Montserrat"/>
                <a:buNone/>
              </a:pPr>
              <a:r>
                <a:rPr b="0" i="0" lang="en-US" sz="144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Translation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66922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7"/>
          <p:cNvSpPr/>
          <p:nvPr/>
        </p:nvSpPr>
        <p:spPr>
          <a:xfrm>
            <a:off x="0" y="362827"/>
            <a:ext cx="12188952" cy="509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0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Use pipelines to generate content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1" name="Google Shape;81;p7"/>
          <p:cNvGrpSpPr/>
          <p:nvPr/>
        </p:nvGrpSpPr>
        <p:grpSpPr>
          <a:xfrm>
            <a:off x="295201" y="2504449"/>
            <a:ext cx="3980455" cy="2940778"/>
            <a:chOff x="295201" y="2504449"/>
            <a:chExt cx="3980455" cy="2940778"/>
          </a:xfrm>
        </p:grpSpPr>
        <p:sp>
          <p:nvSpPr>
            <p:cNvPr id="82" name="Google Shape;82;p7"/>
            <p:cNvSpPr/>
            <p:nvPr/>
          </p:nvSpPr>
          <p:spPr>
            <a:xfrm>
              <a:off x="999875" y="2504449"/>
              <a:ext cx="2571107" cy="257110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Text.png" id="83" name="Google Shape;83;p7"/>
            <p:cNvPicPr preferRelativeResize="0"/>
            <p:nvPr/>
          </p:nvPicPr>
          <p:blipFill rotWithShape="1">
            <a:blip r:embed="rId3">
              <a:alphaModFix/>
            </a:blip>
            <a:srcRect b="2381" l="2381" r="2381" t="2381"/>
            <a:stretch/>
          </p:blipFill>
          <p:spPr>
            <a:xfrm>
              <a:off x="999875" y="2504449"/>
              <a:ext cx="2571107" cy="2571107"/>
            </a:xfrm>
            <a:prstGeom prst="ellipse">
              <a:avLst/>
            </a:prstGeom>
            <a:noFill/>
            <a:ln>
              <a:noFill/>
            </a:ln>
          </p:spPr>
        </p:pic>
        <p:sp>
          <p:nvSpPr>
            <p:cNvPr id="84" name="Google Shape;84;p7"/>
            <p:cNvSpPr/>
            <p:nvPr/>
          </p:nvSpPr>
          <p:spPr>
            <a:xfrm>
              <a:off x="295201" y="5214824"/>
              <a:ext cx="3980455" cy="230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40"/>
                <a:buFont typeface="Montserrat"/>
                <a:buNone/>
              </a:pPr>
              <a:r>
                <a:rPr b="0" i="0" lang="en-US" sz="144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Text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5" name="Google Shape;85;p7"/>
          <p:cNvGrpSpPr/>
          <p:nvPr/>
        </p:nvGrpSpPr>
        <p:grpSpPr>
          <a:xfrm>
            <a:off x="4104249" y="2504449"/>
            <a:ext cx="3980455" cy="2940778"/>
            <a:chOff x="4104249" y="2504449"/>
            <a:chExt cx="3980455" cy="2940778"/>
          </a:xfrm>
        </p:grpSpPr>
        <p:sp>
          <p:nvSpPr>
            <p:cNvPr id="86" name="Google Shape;86;p7"/>
            <p:cNvSpPr/>
            <p:nvPr/>
          </p:nvSpPr>
          <p:spPr>
            <a:xfrm>
              <a:off x="4808922" y="2504449"/>
              <a:ext cx="2571107" cy="257110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Images (3).png" id="87" name="Google Shape;87;p7"/>
            <p:cNvPicPr preferRelativeResize="0"/>
            <p:nvPr/>
          </p:nvPicPr>
          <p:blipFill rotWithShape="1">
            <a:blip r:embed="rId4">
              <a:alphaModFix/>
            </a:blip>
            <a:srcRect b="2381" l="2381" r="2381" t="2381"/>
            <a:stretch/>
          </p:blipFill>
          <p:spPr>
            <a:xfrm>
              <a:off x="4808922" y="2504449"/>
              <a:ext cx="2571107" cy="2571107"/>
            </a:xfrm>
            <a:prstGeom prst="ellipse">
              <a:avLst/>
            </a:prstGeom>
            <a:noFill/>
            <a:ln>
              <a:noFill/>
            </a:ln>
          </p:spPr>
        </p:pic>
        <p:sp>
          <p:nvSpPr>
            <p:cNvPr id="88" name="Google Shape;88;p7"/>
            <p:cNvSpPr/>
            <p:nvPr/>
          </p:nvSpPr>
          <p:spPr>
            <a:xfrm>
              <a:off x="4104249" y="5214824"/>
              <a:ext cx="3980455" cy="230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40"/>
                <a:buFont typeface="Montserrat"/>
                <a:buNone/>
              </a:pPr>
              <a:r>
                <a:rPr b="0" i="0" lang="en-US" sz="144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Image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9" name="Google Shape;89;p7"/>
          <p:cNvGrpSpPr/>
          <p:nvPr/>
        </p:nvGrpSpPr>
        <p:grpSpPr>
          <a:xfrm>
            <a:off x="7913296" y="2504449"/>
            <a:ext cx="3980455" cy="2940778"/>
            <a:chOff x="7913296" y="2504449"/>
            <a:chExt cx="3980455" cy="2940778"/>
          </a:xfrm>
        </p:grpSpPr>
        <p:sp>
          <p:nvSpPr>
            <p:cNvPr id="90" name="Google Shape;90;p7"/>
            <p:cNvSpPr/>
            <p:nvPr/>
          </p:nvSpPr>
          <p:spPr>
            <a:xfrm>
              <a:off x="8617970" y="2504449"/>
              <a:ext cx="2571107" cy="257110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Audio.png" id="91" name="Google Shape;91;p7"/>
            <p:cNvPicPr preferRelativeResize="0"/>
            <p:nvPr/>
          </p:nvPicPr>
          <p:blipFill rotWithShape="1">
            <a:blip r:embed="rId5">
              <a:alphaModFix/>
            </a:blip>
            <a:srcRect b="2381" l="2381" r="2381" t="2381"/>
            <a:stretch/>
          </p:blipFill>
          <p:spPr>
            <a:xfrm>
              <a:off x="8617970" y="2504449"/>
              <a:ext cx="2571107" cy="2571107"/>
            </a:xfrm>
            <a:prstGeom prst="ellipse">
              <a:avLst/>
            </a:prstGeom>
            <a:noFill/>
            <a:ln>
              <a:noFill/>
            </a:ln>
          </p:spPr>
        </p:pic>
        <p:sp>
          <p:nvSpPr>
            <p:cNvPr id="92" name="Google Shape;92;p7"/>
            <p:cNvSpPr/>
            <p:nvPr/>
          </p:nvSpPr>
          <p:spPr>
            <a:xfrm>
              <a:off x="7913296" y="5214824"/>
              <a:ext cx="3980455" cy="230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40"/>
                <a:buFont typeface="Montserrat"/>
                <a:buNone/>
              </a:pPr>
              <a:r>
                <a:rPr b="0" i="0" lang="en-US" sz="144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Audio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8"/>
          <p:cNvSpPr/>
          <p:nvPr/>
        </p:nvSpPr>
        <p:spPr>
          <a:xfrm>
            <a:off x="4528610" y="419516"/>
            <a:ext cx="7526284" cy="2549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594"/>
              <a:buFont typeface="Montserrat"/>
              <a:buNone/>
            </a:pPr>
            <a:r>
              <a:rPr b="0" i="0" lang="en-US" sz="1594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PROGRESS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8"/>
          <p:cNvSpPr/>
          <p:nvPr/>
        </p:nvSpPr>
        <p:spPr>
          <a:xfrm>
            <a:off x="4528610" y="790154"/>
            <a:ext cx="7526284" cy="509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0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You are 30% of the way!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8"/>
          <p:cNvSpPr/>
          <p:nvPr/>
        </p:nvSpPr>
        <p:spPr>
          <a:xfrm>
            <a:off x="0" y="0"/>
            <a:ext cx="4394583" cy="685628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04_w3_2-1.png" id="101" name="Google Shape;101;p8"/>
          <p:cNvPicPr preferRelativeResize="0"/>
          <p:nvPr/>
        </p:nvPicPr>
        <p:blipFill rotWithShape="1">
          <a:blip r:embed="rId3">
            <a:alphaModFix/>
          </a:blip>
          <a:srcRect b="1319" l="3196" r="3196" t="1319"/>
          <a:stretch/>
        </p:blipFill>
        <p:spPr>
          <a:xfrm>
            <a:off x="0" y="0"/>
            <a:ext cx="4394583" cy="6856286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8"/>
          <p:cNvSpPr/>
          <p:nvPr/>
        </p:nvSpPr>
        <p:spPr>
          <a:xfrm>
            <a:off x="5156392" y="2186631"/>
            <a:ext cx="6897791" cy="230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440"/>
              <a:buFont typeface="Montserrat"/>
              <a:buNone/>
            </a:pPr>
            <a:r>
              <a:rPr b="1" i="0" lang="en-US" sz="1440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What you can now do 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8"/>
          <p:cNvSpPr/>
          <p:nvPr/>
        </p:nvSpPr>
        <p:spPr>
          <a:xfrm>
            <a:off x="5156392" y="2619315"/>
            <a:ext cx="6897791" cy="10957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Char char="•"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Confidently code with Frontier Models</a:t>
            </a:r>
            <a:endParaRPr/>
          </a:p>
          <a:p>
            <a:pPr indent="-242900" lvl="0" marL="242900" marR="0" rtl="0" algn="l">
              <a:lnSpc>
                <a:spcPct val="125972"/>
              </a:lnSpc>
              <a:spcBef>
                <a:spcPts val="1562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Char char="•"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Build a multi-modal AI Assistant with Tools</a:t>
            </a:r>
            <a:endParaRPr/>
          </a:p>
          <a:p>
            <a:pPr indent="-242900" lvl="0" marL="242900" marR="0" rtl="0" algn="l">
              <a:lnSpc>
                <a:spcPct val="125972"/>
              </a:lnSpc>
              <a:spcBef>
                <a:spcPts val="1562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Char char="•"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Use Hugging Face pipelines for a wide variety of inference tasks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4" name="Google Shape;104;p8"/>
          <p:cNvCxnSpPr/>
          <p:nvPr/>
        </p:nvCxnSpPr>
        <p:spPr>
          <a:xfrm>
            <a:off x="5156349" y="3892370"/>
            <a:ext cx="6270717" cy="0"/>
          </a:xfrm>
          <a:prstGeom prst="straightConnector1">
            <a:avLst/>
          </a:prstGeom>
          <a:noFill/>
          <a:ln cap="flat" cmpd="sng" w="12700">
            <a:solidFill>
              <a:srgbClr val="FFFFFF">
                <a:alpha val="2000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5" name="Google Shape;105;p8"/>
          <p:cNvSpPr/>
          <p:nvPr/>
        </p:nvSpPr>
        <p:spPr>
          <a:xfrm>
            <a:off x="5156392" y="4260107"/>
            <a:ext cx="6897791" cy="230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440"/>
              <a:buFont typeface="Montserrat"/>
              <a:buNone/>
            </a:pPr>
            <a:r>
              <a:rPr b="1" i="0" lang="en-US" sz="1440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After next time you'll be also able to: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8"/>
          <p:cNvSpPr/>
          <p:nvPr/>
        </p:nvSpPr>
        <p:spPr>
          <a:xfrm>
            <a:off x="5156392" y="4692791"/>
            <a:ext cx="6897791" cy="10957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Char char="•"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Create tokenizers for models</a:t>
            </a:r>
            <a:endParaRPr/>
          </a:p>
          <a:p>
            <a:pPr indent="-242900" lvl="0" marL="242900" marR="0" rtl="0" algn="l">
              <a:lnSpc>
                <a:spcPct val="125972"/>
              </a:lnSpc>
              <a:spcBef>
                <a:spcPts val="1562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Char char="•"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Translate between text and tokens</a:t>
            </a:r>
            <a:endParaRPr/>
          </a:p>
          <a:p>
            <a:pPr indent="-242900" lvl="0" marL="242900" marR="0" rtl="0" algn="l">
              <a:lnSpc>
                <a:spcPct val="125972"/>
              </a:lnSpc>
              <a:spcBef>
                <a:spcPts val="1562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Char char="•"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Understand special tokens and chat templates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