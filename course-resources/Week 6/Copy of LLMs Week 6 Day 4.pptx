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6858000" cx="12192000"/>
  <p:notesSz cx="6858000" cy="12192000"/>
  <p:embeddedFontLst>
    <p:embeddedFont>
      <p:font typeface="Montserrat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Montserrat-regular.fntdata"/><Relationship Id="rId10" Type="http://schemas.openxmlformats.org/officeDocument/2006/relationships/slide" Target="slides/slide6.xml"/><Relationship Id="rId13" Type="http://schemas.openxmlformats.org/officeDocument/2006/relationships/font" Target="fonts/Montserrat-italic.fntdata"/><Relationship Id="rId12" Type="http://schemas.openxmlformats.org/officeDocument/2006/relationships/font" Target="fonts/Montserrat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schemas.openxmlformats.org/officeDocument/2006/relationships/font" Target="fonts/Montserrat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" name="Google Shape;2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3ab528cdfc0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" name="Google Shape;36;g3ab528cdfc0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g3ab528cdfc0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3ab528cdfc0_0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" name="Google Shape;45;g3ab528cdfc0_0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g3ab528cdfc0_0_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1.png"/><Relationship Id="rId6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95226" y="1676396"/>
            <a:ext cx="11998500" cy="5084663"/>
          </a:xfrm>
          <a:prstGeom prst="rect">
            <a:avLst/>
          </a:prstGeom>
          <a:solidFill>
            <a:srgbClr val="62A8B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Generated Image October 05, 2025 - 6_02PM (1).png" id="17" name="Google Shape;17;p3"/>
          <p:cNvPicPr preferRelativeResize="0"/>
          <p:nvPr/>
        </p:nvPicPr>
        <p:blipFill rotWithShape="1">
          <a:blip r:embed="rId3">
            <a:alphaModFix/>
          </a:blip>
          <a:srcRect b="1569" l="0" r="0" t="1569"/>
          <a:stretch/>
        </p:blipFill>
        <p:spPr>
          <a:xfrm>
            <a:off x="95226" y="1676396"/>
            <a:ext cx="11998500" cy="5084663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/>
          <p:nvPr/>
        </p:nvSpPr>
        <p:spPr>
          <a:xfrm>
            <a:off x="3517655" y="598660"/>
            <a:ext cx="5153641" cy="3505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1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30"/>
              <a:buFont typeface="Montserrat"/>
              <a:buNone/>
            </a:pPr>
            <a:r>
              <a:rPr b="0" i="0" lang="en-US" sz="263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LLM Engineering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3517655" y="985517"/>
            <a:ext cx="5153641" cy="28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1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53"/>
              <a:buFont typeface="Montserrat"/>
              <a:buNone/>
            </a:pPr>
            <a:r>
              <a:rPr b="0" i="0" lang="en-US" sz="1753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MASTER AI &amp; LARGE LANGUAGE MODELS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/>
          <p:nvPr/>
        </p:nvSpPr>
        <p:spPr>
          <a:xfrm>
            <a:off x="4528610" y="419516"/>
            <a:ext cx="7526284" cy="2549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594"/>
              <a:buFont typeface="Montserrat"/>
              <a:buNone/>
            </a:pPr>
            <a:r>
              <a:rPr b="0" i="0" lang="en-US" sz="1594" u="none" cap="none" strike="noStrike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PROGRESS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4528610" y="790154"/>
            <a:ext cx="7526284" cy="5099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88"/>
              <a:buFont typeface="Montserrat"/>
              <a:buNone/>
            </a:pPr>
            <a:r>
              <a:rPr b="0" i="0" lang="en-US" sz="318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Raising the bar on our baselines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0" y="0"/>
            <a:ext cx="4394583" cy="685628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07_w6_4-2.png" id="28" name="Google Shape;28;p4"/>
          <p:cNvPicPr preferRelativeResize="0"/>
          <p:nvPr/>
        </p:nvPicPr>
        <p:blipFill rotWithShape="1">
          <a:blip r:embed="rId3">
            <a:alphaModFix/>
          </a:blip>
          <a:srcRect b="0" l="1928" r="1928" t="0"/>
          <a:stretch/>
        </p:blipFill>
        <p:spPr>
          <a:xfrm>
            <a:off x="0" y="0"/>
            <a:ext cx="4394583" cy="6856286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"/>
          <p:cNvSpPr/>
          <p:nvPr/>
        </p:nvSpPr>
        <p:spPr>
          <a:xfrm>
            <a:off x="5156392" y="2192062"/>
            <a:ext cx="6897791" cy="2057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29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287"/>
              <a:buFont typeface="Montserrat"/>
              <a:buNone/>
            </a:pPr>
            <a:r>
              <a:rPr b="1" i="0" lang="en-US" sz="1287" u="none" cap="none" strike="noStrike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What you can now do 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5156392" y="2517542"/>
            <a:ext cx="6897791" cy="13375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42900" lvl="0" marL="242900" marR="0" rtl="0" algn="l">
              <a:lnSpc>
                <a:spcPct val="12592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38"/>
              <a:buFont typeface="Montserrat"/>
              <a:buChar char="•"/>
            </a:pPr>
            <a:r>
              <a:rPr b="0" i="0" lang="en-US" sz="123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Generate text and code with Frontier Models including AI Assistants with Tools, and with open-source models with Hugging Face transformers</a:t>
            </a:r>
            <a:endParaRPr/>
          </a:p>
          <a:p>
            <a:pPr indent="-242900" lvl="0" marL="242900" marR="0" rtl="0" algn="l">
              <a:lnSpc>
                <a:spcPct val="125928"/>
              </a:lnSpc>
              <a:spcBef>
                <a:spcPts val="1342"/>
              </a:spcBef>
              <a:spcAft>
                <a:spcPts val="0"/>
              </a:spcAft>
              <a:buClr>
                <a:srgbClr val="FFFFFF"/>
              </a:buClr>
              <a:buSzPts val="1238"/>
              <a:buFont typeface="Montserrat"/>
              <a:buChar char="•"/>
            </a:pPr>
            <a:r>
              <a:rPr b="0" i="0" lang="en-US" sz="123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Create advanced RAG solutions with LangChain</a:t>
            </a:r>
            <a:endParaRPr/>
          </a:p>
          <a:p>
            <a:pPr indent="-242900" lvl="0" marL="242900" marR="0" rtl="0" algn="l">
              <a:lnSpc>
                <a:spcPct val="125928"/>
              </a:lnSpc>
              <a:spcBef>
                <a:spcPts val="1342"/>
              </a:spcBef>
              <a:spcAft>
                <a:spcPts val="0"/>
              </a:spcAft>
              <a:buClr>
                <a:srgbClr val="FFFFFF"/>
              </a:buClr>
              <a:buSzPts val="1238"/>
              <a:buFont typeface="Montserrat"/>
              <a:buChar char="•"/>
            </a:pPr>
            <a:r>
              <a:rPr b="0" i="0" lang="en-US" sz="123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Follow a 5 step strategy to solve problems, including dataset curation and making a baseline model with traditional ML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31;p4"/>
          <p:cNvCxnSpPr/>
          <p:nvPr/>
        </p:nvCxnSpPr>
        <p:spPr>
          <a:xfrm>
            <a:off x="5156349" y="4143006"/>
            <a:ext cx="6270600" cy="0"/>
          </a:xfrm>
          <a:prstGeom prst="straightConnector1">
            <a:avLst/>
          </a:prstGeom>
          <a:noFill/>
          <a:ln cap="flat" cmpd="sng" w="12700">
            <a:solidFill>
              <a:srgbClr val="FFFFFF">
                <a:alpha val="2000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2" name="Google Shape;32;p4"/>
          <p:cNvSpPr/>
          <p:nvPr/>
        </p:nvSpPr>
        <p:spPr>
          <a:xfrm>
            <a:off x="5156392" y="4269927"/>
            <a:ext cx="6897791" cy="2057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29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287"/>
              <a:buFont typeface="Montserrat"/>
              <a:buNone/>
            </a:pPr>
            <a:r>
              <a:rPr b="0" i="0" lang="en-US" sz="1287" u="none" cap="none" strike="noStrike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After today you will be able to: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5156392" y="4595408"/>
            <a:ext cx="6897791" cy="9416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7213" lvl="0" marL="457200" rtl="0" algn="l">
              <a:lnSpc>
                <a:spcPct val="125928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38"/>
              <a:buFont typeface="Montserrat"/>
              <a:buChar char="•"/>
            </a:pPr>
            <a:r>
              <a:rPr lang="en-US" sz="1238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Build a vanilla neural network</a:t>
            </a:r>
            <a:endParaRPr>
              <a:solidFill>
                <a:schemeClr val="dk1"/>
              </a:solidFill>
            </a:endParaRPr>
          </a:p>
          <a:p>
            <a:pPr indent="-307213" lvl="0" marL="457200" rtl="0" algn="l">
              <a:lnSpc>
                <a:spcPct val="125928"/>
              </a:lnSpc>
              <a:spcBef>
                <a:spcPts val="1342"/>
              </a:spcBef>
              <a:spcAft>
                <a:spcPts val="0"/>
              </a:spcAft>
              <a:buClr>
                <a:schemeClr val="lt1"/>
              </a:buClr>
              <a:buSzPts val="1238"/>
              <a:buFont typeface="Montserrat"/>
              <a:buChar char="•"/>
            </a:pPr>
            <a:r>
              <a:rPr lang="en-US" sz="1238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Run a business problem against a frontier model</a:t>
            </a:r>
            <a:endParaRPr>
              <a:solidFill>
                <a:schemeClr val="dk1"/>
              </a:solidFill>
            </a:endParaRPr>
          </a:p>
          <a:p>
            <a:pPr indent="-307213" lvl="0" marL="457200" rtl="0" algn="l">
              <a:lnSpc>
                <a:spcPct val="125928"/>
              </a:lnSpc>
              <a:spcBef>
                <a:spcPts val="1342"/>
              </a:spcBef>
              <a:spcAft>
                <a:spcPts val="0"/>
              </a:spcAft>
              <a:buClr>
                <a:schemeClr val="lt1"/>
              </a:buClr>
              <a:buSzPts val="1238"/>
              <a:buFont typeface="Montserrat"/>
              <a:buChar char="•"/>
            </a:pPr>
            <a:r>
              <a:rPr lang="en-US" sz="1238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Compare leading frontier models at a business task</a:t>
            </a:r>
            <a:endParaRPr sz="1238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/>
          <p:nvPr/>
        </p:nvSpPr>
        <p:spPr>
          <a:xfrm>
            <a:off x="0" y="419516"/>
            <a:ext cx="121890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594"/>
              <a:buFont typeface="Montserrat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5"/>
          <p:cNvSpPr/>
          <p:nvPr/>
        </p:nvSpPr>
        <p:spPr>
          <a:xfrm>
            <a:off x="0" y="790154"/>
            <a:ext cx="12189000" cy="5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88"/>
              <a:buFont typeface="Montserrat"/>
              <a:buNone/>
            </a:pPr>
            <a:r>
              <a:rPr b="1" i="0" lang="en-US" sz="318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The Price Is R</a:t>
            </a:r>
            <a:r>
              <a:rPr b="1" lang="en-US" sz="318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</a:t>
            </a:r>
            <a:r>
              <a:rPr b="1" i="0" lang="en-US" sz="318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ght</a:t>
            </a:r>
            <a:endParaRPr b="1" i="0" sz="1800" u="none" cap="none" strike="noStrike">
              <a:solidFill>
                <a:schemeClr val="dk1"/>
              </a:solidFill>
            </a:endParaRPr>
          </a:p>
        </p:txBody>
      </p:sp>
      <p:sp>
        <p:nvSpPr>
          <p:cNvPr id="41" name="Google Shape;41;p5"/>
          <p:cNvSpPr/>
          <p:nvPr/>
        </p:nvSpPr>
        <p:spPr>
          <a:xfrm>
            <a:off x="2747135" y="1899111"/>
            <a:ext cx="64788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Montserrat"/>
              <a:buNone/>
            </a:pPr>
            <a:r>
              <a:rPr b="1" lang="en-US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THE ORDER OF PLAY: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5"/>
          <p:cNvSpPr/>
          <p:nvPr/>
        </p:nvSpPr>
        <p:spPr>
          <a:xfrm>
            <a:off x="2747125" y="2439904"/>
            <a:ext cx="6478800" cy="37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42900" lvl="0" marL="24290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E66922"/>
              </a:buClr>
              <a:buSzPts val="1800"/>
              <a:buFont typeface="Montserrat"/>
              <a:buChar char="•"/>
            </a:pPr>
            <a:r>
              <a:rPr b="1" lang="en-US" sz="1800">
                <a:solidFill>
                  <a:srgbClr val="E66922"/>
                </a:solidFill>
                <a:latin typeface="Montserrat"/>
                <a:ea typeface="Montserrat"/>
                <a:cs typeface="Montserrat"/>
                <a:sym typeface="Montserrat"/>
              </a:rPr>
              <a:t>Week 6: Data Curation, Evaluation, Frontier Models</a:t>
            </a:r>
            <a:endParaRPr b="1" sz="1800">
              <a:solidFill>
                <a:srgbClr val="E6692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E66922"/>
                </a:solidFill>
                <a:latin typeface="Montserrat"/>
                <a:ea typeface="Montserrat"/>
                <a:cs typeface="Montserrat"/>
                <a:sym typeface="Montserrat"/>
              </a:rPr>
              <a:t>	Day 1: Curate the data</a:t>
            </a:r>
            <a:endParaRPr b="1" sz="1800">
              <a:solidFill>
                <a:srgbClr val="E6692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E66922"/>
                </a:solidFill>
                <a:latin typeface="Montserrat"/>
                <a:ea typeface="Montserrat"/>
                <a:cs typeface="Montserrat"/>
                <a:sym typeface="Montserrat"/>
              </a:rPr>
              <a:t>	Day 2: Pre-process the data</a:t>
            </a:r>
            <a:endParaRPr b="1" sz="1800">
              <a:solidFill>
                <a:srgbClr val="E6692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45720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E66922"/>
                </a:solidFill>
                <a:latin typeface="Montserrat"/>
                <a:ea typeface="Montserrat"/>
                <a:cs typeface="Montserrat"/>
                <a:sym typeface="Montserrat"/>
              </a:rPr>
              <a:t>Day 3: Baseline Models &amp; Traditional ML</a:t>
            </a:r>
            <a:endParaRPr b="1" sz="1800">
              <a:solidFill>
                <a:srgbClr val="E6692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E66922"/>
                </a:solidFill>
                <a:latin typeface="Montserrat"/>
                <a:ea typeface="Montserrat"/>
                <a:cs typeface="Montserrat"/>
                <a:sym typeface="Montserrat"/>
              </a:rPr>
              <a:t>	Day 4: Neural Networks and Frontier LLMs</a:t>
            </a:r>
            <a:endParaRPr b="1" sz="1800">
              <a:solidFill>
                <a:srgbClr val="E6692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E66922"/>
                </a:solidFill>
                <a:latin typeface="Montserrat"/>
                <a:ea typeface="Montserrat"/>
                <a:cs typeface="Montserrat"/>
                <a:sym typeface="Montserrat"/>
              </a:rPr>
              <a:t>	Day 5: Fine-Tuned Frontier LLM</a:t>
            </a:r>
            <a:endParaRPr b="1" sz="1800">
              <a:solidFill>
                <a:srgbClr val="E6692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42900" lvl="0" marL="242900" marR="0" rtl="0" algn="l">
              <a:lnSpc>
                <a:spcPct val="126000"/>
              </a:lnSpc>
              <a:spcBef>
                <a:spcPts val="1952"/>
              </a:spcBef>
              <a:spcAft>
                <a:spcPts val="0"/>
              </a:spcAft>
              <a:buClr>
                <a:srgbClr val="F0B356"/>
              </a:buClr>
              <a:buSzPts val="1800"/>
              <a:buFont typeface="Montserrat"/>
              <a:buChar char="•"/>
            </a:pPr>
            <a:r>
              <a:rPr b="1" lang="en-US" sz="1800">
                <a:solidFill>
                  <a:srgbClr val="F0B356"/>
                </a:solidFill>
                <a:latin typeface="Montserrat"/>
                <a:ea typeface="Montserrat"/>
                <a:cs typeface="Montserrat"/>
                <a:sym typeface="Montserrat"/>
              </a:rPr>
              <a:t>Week 7: Fine-tune Open-Source LLM</a:t>
            </a:r>
            <a:endParaRPr b="1" sz="1800">
              <a:solidFill>
                <a:srgbClr val="F0B35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42900" lvl="0" marL="242900" marR="0" rtl="0" algn="l">
              <a:lnSpc>
                <a:spcPct val="126000"/>
              </a:lnSpc>
              <a:spcBef>
                <a:spcPts val="1952"/>
              </a:spcBef>
              <a:spcAft>
                <a:spcPts val="0"/>
              </a:spcAft>
              <a:buClr>
                <a:srgbClr val="AD44A6"/>
              </a:buClr>
              <a:buSzPts val="1800"/>
              <a:buFont typeface="Montserrat"/>
              <a:buChar char="•"/>
            </a:pPr>
            <a:r>
              <a:rPr b="1" lang="en-US" sz="1800">
                <a:solidFill>
                  <a:srgbClr val="AD44A6"/>
                </a:solidFill>
                <a:latin typeface="Montserrat"/>
                <a:ea typeface="Montserrat"/>
                <a:cs typeface="Montserrat"/>
                <a:sym typeface="Montserrat"/>
              </a:rPr>
              <a:t>Week 8: Deployed model, RAG, Agentic Product</a:t>
            </a:r>
            <a:endParaRPr b="1" sz="1800">
              <a:solidFill>
                <a:srgbClr val="AD44A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2" marL="0" marR="0" rtl="0" algn="l">
              <a:lnSpc>
                <a:spcPct val="140000"/>
              </a:lnSpc>
              <a:spcBef>
                <a:spcPts val="523"/>
              </a:spcBef>
              <a:spcAft>
                <a:spcPts val="0"/>
              </a:spcAft>
              <a:buClr>
                <a:srgbClr val="FFFFFF"/>
              </a:buClr>
              <a:buSzPts val="1380"/>
              <a:buFont typeface="Montserrat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6"/>
          <p:cNvSpPr/>
          <p:nvPr/>
        </p:nvSpPr>
        <p:spPr>
          <a:xfrm>
            <a:off x="0" y="419516"/>
            <a:ext cx="121890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594"/>
              <a:buFont typeface="Montserrat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6"/>
          <p:cNvSpPr/>
          <p:nvPr/>
        </p:nvSpPr>
        <p:spPr>
          <a:xfrm>
            <a:off x="0" y="790154"/>
            <a:ext cx="12189000" cy="5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88"/>
              <a:buFont typeface="Montserrat"/>
              <a:buNone/>
            </a:pPr>
            <a:r>
              <a:rPr b="1" lang="en-US" sz="318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The Four Steps Of Training</a:t>
            </a:r>
            <a:endParaRPr b="1" i="0" sz="1800" u="none" cap="none" strike="noStrike">
              <a:solidFill>
                <a:schemeClr val="dk1"/>
              </a:solidFill>
            </a:endParaRPr>
          </a:p>
        </p:txBody>
      </p:sp>
      <p:pic>
        <p:nvPicPr>
          <p:cNvPr id="50" name="Google Shape;50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6350" y="2543110"/>
            <a:ext cx="2525365" cy="237138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" name="Google Shape;51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70359" y="2363250"/>
            <a:ext cx="3187504" cy="2787141"/>
          </a:xfrm>
          <a:prstGeom prst="rect">
            <a:avLst/>
          </a:prstGeom>
          <a:noFill/>
          <a:ln>
            <a:noFill/>
          </a:ln>
        </p:spPr>
      </p:pic>
      <p:pic>
        <p:nvPicPr>
          <p:cNvPr id="52" name="Google Shape;52;p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32290" y="2562381"/>
            <a:ext cx="3048917" cy="2602358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53;p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183862" y="2549534"/>
            <a:ext cx="3095113" cy="237138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/>
          <p:nvPr/>
        </p:nvSpPr>
        <p:spPr>
          <a:xfrm>
            <a:off x="528750" y="1539575"/>
            <a:ext cx="11181300" cy="79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Tweaking the </a:t>
            </a:r>
            <a:r>
              <a:rPr b="1" lang="en-US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parameters</a:t>
            </a:r>
            <a:r>
              <a:rPr lang="en-US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of a model based on training data..</a:t>
            </a:r>
            <a:endParaRPr sz="16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..in a way that should </a:t>
            </a:r>
            <a:r>
              <a:rPr b="1" lang="en-US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generalize</a:t>
            </a:r>
            <a:r>
              <a:rPr lang="en-US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to unseen data</a:t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6"/>
          <p:cNvSpPr/>
          <p:nvPr/>
        </p:nvSpPr>
        <p:spPr>
          <a:xfrm>
            <a:off x="359775" y="5429425"/>
            <a:ext cx="11181300" cy="79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You can specify additional settings that aren’t updated during training known as </a:t>
            </a:r>
            <a:r>
              <a:rPr b="1" lang="en-US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hyper-parameters</a:t>
            </a:r>
            <a:endParaRPr b="1" sz="16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Like </a:t>
            </a:r>
            <a:r>
              <a:rPr b="1" lang="en-US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epoch</a:t>
            </a:r>
            <a:r>
              <a:rPr lang="en-US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and </a:t>
            </a:r>
            <a:r>
              <a:rPr b="1" lang="en-US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learning rate</a:t>
            </a:r>
            <a:endParaRPr b="1" sz="16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The process of experimenting with these is called </a:t>
            </a:r>
            <a:r>
              <a:rPr b="1" lang="en-US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hyper-parameter optimization</a:t>
            </a:r>
            <a:endParaRPr b="1" sz="16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0B356"/>
                </a:solidFill>
                <a:latin typeface="Montserrat"/>
                <a:ea typeface="Montserrat"/>
                <a:cs typeface="Montserrat"/>
                <a:sym typeface="Montserrat"/>
              </a:rPr>
              <a:t>(It’s basically a fancy way of saying</a:t>
            </a:r>
            <a:r>
              <a:rPr b="1" lang="en-US" sz="1600">
                <a:solidFill>
                  <a:srgbClr val="F0B356"/>
                </a:solidFill>
                <a:latin typeface="Montserrat"/>
                <a:ea typeface="Montserrat"/>
                <a:cs typeface="Montserrat"/>
                <a:sym typeface="Montserrat"/>
              </a:rPr>
              <a:t> Trial &amp; Error</a:t>
            </a:r>
            <a:r>
              <a:rPr lang="en-US" sz="1600">
                <a:solidFill>
                  <a:srgbClr val="F0B356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  <a:endParaRPr sz="1600">
              <a:solidFill>
                <a:srgbClr val="F0B35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7"/>
          <p:cNvSpPr/>
          <p:nvPr/>
        </p:nvSpPr>
        <p:spPr>
          <a:xfrm>
            <a:off x="95226" y="95226"/>
            <a:ext cx="11998500" cy="6665833"/>
          </a:xfrm>
          <a:prstGeom prst="rect">
            <a:avLst/>
          </a:prstGeom>
          <a:solidFill>
            <a:srgbClr val="62A8B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2" name="Google Shape;62;p7" title="Generated Image October 07, 2025 - 8_47PM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08854"/>
            <a:ext cx="12191999" cy="69668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"/>
          <p:cNvSpPr/>
          <p:nvPr/>
        </p:nvSpPr>
        <p:spPr>
          <a:xfrm>
            <a:off x="4528610" y="419516"/>
            <a:ext cx="7526284" cy="2549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594"/>
              <a:buFont typeface="Montserrat"/>
              <a:buNone/>
            </a:pPr>
            <a:r>
              <a:rPr b="0" i="0" lang="en-US" sz="1594" u="none" cap="none" strike="noStrike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PROGRESS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8"/>
          <p:cNvSpPr/>
          <p:nvPr/>
        </p:nvSpPr>
        <p:spPr>
          <a:xfrm>
            <a:off x="5098427" y="790154"/>
            <a:ext cx="6386649" cy="10198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88"/>
              <a:buFont typeface="Montserrat"/>
              <a:buNone/>
            </a:pPr>
            <a:r>
              <a:rPr b="0" i="0" lang="en-US" sz="318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To wrap up the week, we will fine-tune a Frontier model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8"/>
          <p:cNvSpPr/>
          <p:nvPr/>
        </p:nvSpPr>
        <p:spPr>
          <a:xfrm>
            <a:off x="0" y="0"/>
            <a:ext cx="4394583" cy="685628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08_w6_4-1.png" id="71" name="Google Shape;71;p8"/>
          <p:cNvPicPr preferRelativeResize="0"/>
          <p:nvPr/>
        </p:nvPicPr>
        <p:blipFill rotWithShape="1">
          <a:blip r:embed="rId3">
            <a:alphaModFix/>
          </a:blip>
          <a:srcRect b="0" l="1928" r="1928" t="0"/>
          <a:stretch/>
        </p:blipFill>
        <p:spPr>
          <a:xfrm>
            <a:off x="0" y="0"/>
            <a:ext cx="4394583" cy="6856286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8"/>
          <p:cNvSpPr/>
          <p:nvPr/>
        </p:nvSpPr>
        <p:spPr>
          <a:xfrm>
            <a:off x="5156392" y="2706284"/>
            <a:ext cx="6897791" cy="2057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29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287"/>
              <a:buFont typeface="Montserrat"/>
              <a:buNone/>
            </a:pPr>
            <a:r>
              <a:rPr b="1" i="0" lang="en-US" sz="1287" u="none" cap="none" strike="noStrike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What you can now do 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8"/>
          <p:cNvSpPr/>
          <p:nvPr/>
        </p:nvSpPr>
        <p:spPr>
          <a:xfrm>
            <a:off x="5156392" y="3031764"/>
            <a:ext cx="6897791" cy="13375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42900" lvl="0" marL="242900" marR="0" rtl="0" algn="l">
              <a:lnSpc>
                <a:spcPct val="12592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38"/>
              <a:buFont typeface="Montserrat"/>
              <a:buChar char="•"/>
            </a:pPr>
            <a:r>
              <a:rPr b="0" i="0" lang="en-US" sz="123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Generate text and code with Frontier Models including AI Assistants with Tools, and with open-source models with HuggingFace transformers</a:t>
            </a:r>
            <a:endParaRPr/>
          </a:p>
          <a:p>
            <a:pPr indent="-242900" lvl="0" marL="242900" marR="0" rtl="0" algn="l">
              <a:lnSpc>
                <a:spcPct val="125928"/>
              </a:lnSpc>
              <a:spcBef>
                <a:spcPts val="1342"/>
              </a:spcBef>
              <a:spcAft>
                <a:spcPts val="0"/>
              </a:spcAft>
              <a:buClr>
                <a:srgbClr val="FFFFFF"/>
              </a:buClr>
              <a:buSzPts val="1238"/>
              <a:buFont typeface="Montserrat"/>
              <a:buChar char="•"/>
            </a:pPr>
            <a:r>
              <a:rPr b="0" i="0" lang="en-US" sz="123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Create advanced RAG solutions with LangChain</a:t>
            </a:r>
            <a:endParaRPr/>
          </a:p>
          <a:p>
            <a:pPr indent="-242900" lvl="0" marL="242900" marR="0" rtl="0" algn="l">
              <a:lnSpc>
                <a:spcPct val="125928"/>
              </a:lnSpc>
              <a:spcBef>
                <a:spcPts val="1342"/>
              </a:spcBef>
              <a:spcAft>
                <a:spcPts val="0"/>
              </a:spcAft>
              <a:buClr>
                <a:srgbClr val="FFFFFF"/>
              </a:buClr>
              <a:buSzPts val="1238"/>
              <a:buFont typeface="Montserrat"/>
              <a:buChar char="•"/>
            </a:pPr>
            <a:r>
              <a:rPr b="0" i="0" lang="en-US" sz="123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Follow a 5 step strategy to solve problems, including dataset curation and making a baseline model with traditional ML, D</a:t>
            </a:r>
            <a:r>
              <a:rPr lang="en-US" sz="123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</a:t>
            </a:r>
            <a:r>
              <a:rPr b="0" i="0" lang="en-US" sz="123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and making a Frontier solution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4" name="Google Shape;74;p8"/>
          <p:cNvCxnSpPr/>
          <p:nvPr/>
        </p:nvCxnSpPr>
        <p:spPr>
          <a:xfrm>
            <a:off x="5156349" y="4622004"/>
            <a:ext cx="6270600" cy="0"/>
          </a:xfrm>
          <a:prstGeom prst="straightConnector1">
            <a:avLst/>
          </a:prstGeom>
          <a:noFill/>
          <a:ln cap="flat" cmpd="sng" w="12700">
            <a:solidFill>
              <a:srgbClr val="FFFFFF">
                <a:alpha val="2000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5" name="Google Shape;75;p8"/>
          <p:cNvSpPr/>
          <p:nvPr/>
        </p:nvSpPr>
        <p:spPr>
          <a:xfrm>
            <a:off x="5156392" y="4784149"/>
            <a:ext cx="6897791" cy="2057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29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287"/>
              <a:buFont typeface="Montserrat"/>
              <a:buNone/>
            </a:pPr>
            <a:r>
              <a:rPr b="0" i="0" lang="en-US" sz="1287" u="none" cap="none" strike="noStrike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After next time you will be able to: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8"/>
          <p:cNvSpPr/>
          <p:nvPr/>
        </p:nvSpPr>
        <p:spPr>
          <a:xfrm>
            <a:off x="5156392" y="5109629"/>
            <a:ext cx="6897791" cy="9416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42900" lvl="0" marL="242900" marR="0" rtl="0" algn="l">
              <a:lnSpc>
                <a:spcPct val="12592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38"/>
              <a:buFont typeface="Montserrat"/>
              <a:buChar char="•"/>
            </a:pPr>
            <a:r>
              <a:rPr b="0" i="0" lang="en-US" sz="123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Understand the process for Fine-Tuning a Frontier model</a:t>
            </a:r>
            <a:endParaRPr/>
          </a:p>
          <a:p>
            <a:pPr indent="-242900" lvl="0" marL="242900" marR="0" rtl="0" algn="l">
              <a:lnSpc>
                <a:spcPct val="125928"/>
              </a:lnSpc>
              <a:spcBef>
                <a:spcPts val="1342"/>
              </a:spcBef>
              <a:spcAft>
                <a:spcPts val="0"/>
              </a:spcAft>
              <a:buClr>
                <a:srgbClr val="FFFFFF"/>
              </a:buClr>
              <a:buSzPts val="1238"/>
              <a:buFont typeface="Montserrat"/>
              <a:buChar char="•"/>
            </a:pPr>
            <a:r>
              <a:rPr b="0" i="0" lang="en-US" sz="123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Create the fine-tuning dataset and run fine-tuning</a:t>
            </a:r>
            <a:endParaRPr/>
          </a:p>
          <a:p>
            <a:pPr indent="-242900" lvl="0" marL="242900" marR="0" rtl="0" algn="l">
              <a:lnSpc>
                <a:spcPct val="125928"/>
              </a:lnSpc>
              <a:spcBef>
                <a:spcPts val="1342"/>
              </a:spcBef>
              <a:spcAft>
                <a:spcPts val="0"/>
              </a:spcAft>
              <a:buClr>
                <a:srgbClr val="FFFFFF"/>
              </a:buClr>
              <a:buSzPts val="1238"/>
              <a:buFont typeface="Montserrat"/>
              <a:buChar char="•"/>
            </a:pPr>
            <a:r>
              <a:rPr b="0" i="0" lang="en-US" sz="123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Test a fine-tuned Frontier model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