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acf39185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aacf39185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aacf391855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acf391855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aacf39185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aacf391855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cf3918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aacf3918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aacf39185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cf391855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acf391855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aacf391855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52402"/>
            <a:ext cx="11998500" cy="5108657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5, 2025 - 6_02PM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1340" l="0" r="0" t="1340"/>
          <a:stretch/>
        </p:blipFill>
        <p:spPr>
          <a:xfrm>
            <a:off x="95226" y="1652402"/>
            <a:ext cx="11998500" cy="510865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517655" y="598660"/>
            <a:ext cx="5153641" cy="350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30"/>
              <a:buFont typeface="Montserrat"/>
              <a:buNone/>
            </a:pPr>
            <a:r>
              <a:rPr b="0" i="0" lang="en-US" sz="26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17655" y="985517"/>
            <a:ext cx="5153641" cy="28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Montserrat"/>
              <a:buNone/>
            </a:pPr>
            <a:r>
              <a:rPr b="0" i="0" lang="en-US" sz="17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282143" y="419516"/>
            <a:ext cx="7784473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 REPORT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282143" y="790154"/>
            <a:ext cx="7784473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Less talking, more action!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159851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_w6_3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4496" r="4496" t="0"/>
          <a:stretch/>
        </p:blipFill>
        <p:spPr>
          <a:xfrm>
            <a:off x="0" y="0"/>
            <a:ext cx="4159851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4921661" y="2187970"/>
            <a:ext cx="7155980" cy="22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04"/>
              <a:buFont typeface="Montserrat"/>
              <a:buNone/>
            </a:pPr>
            <a:r>
              <a:rPr b="1" i="0" lang="en-US" sz="140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921661" y="2543060"/>
            <a:ext cx="7155980" cy="145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HuggingFace transformers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advanced RAG solutions with LangChain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4921632" y="4125525"/>
            <a:ext cx="6505435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4921661" y="4437466"/>
            <a:ext cx="7155980" cy="22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04"/>
              <a:buFont typeface="Montserrat"/>
              <a:buNone/>
            </a:pPr>
            <a:r>
              <a:rPr b="0" i="0" lang="en-US" sz="140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921661" y="4792555"/>
            <a:ext cx="7155980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the role of a baseline model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traditional ML solution with features and linear regression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Apply</a:t>
            </a: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NLP techniques</a:t>
            </a: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and advanced ML models like XGBoost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1" lang="en-US" sz="1594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REFRESHER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ght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318238" y="1952137"/>
            <a:ext cx="4394700" cy="44280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5 at 19.33.52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16918" r="16918" t="0"/>
          <a:stretch/>
        </p:blipFill>
        <p:spPr>
          <a:xfrm>
            <a:off x="7318238" y="1952137"/>
            <a:ext cx="4394584" cy="442801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761810" y="2173835"/>
            <a:ext cx="6478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Given a description of a product, predict its price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61801" y="2714625"/>
            <a:ext cx="6008700" cy="28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Using curated data, taken from a Hugging Face dataset of scraped Amazon products, pre-processed using GPT-OSS-20B via Groq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will ultimately be incorporated in an Agentic Solution that will hunt for bargains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Evaluate with absolute price difference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ght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2747135" y="1899111"/>
            <a:ext cx="6478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ORDER OF PLAY: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2747125" y="2439904"/>
            <a:ext cx="64788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66922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Week 6: Data Curation, Evaluation, Frontier Models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1: Curate the data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2: Pre-process the data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Day 3: Baseline Models &amp; Traditional ML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4: Neural Networks and Frontier LLMs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5: Fine-Tuned Frontier LLM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0B35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Week 7: Fine-tune Open-Source LLM</a:t>
            </a:r>
            <a:endParaRPr b="1" sz="18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AD44A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Week 8: Deployed model, RAG, Agentic Product</a:t>
            </a:r>
            <a:endParaRPr b="1" sz="1800">
              <a:solidFill>
                <a:srgbClr val="AD44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2" marL="0" marR="0" rtl="0" algn="l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58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importance of a Baseline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7318238" y="1523619"/>
            <a:ext cx="4394583" cy="48565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7 at 20.34.46.png" id="61" name="Google Shape;61;p7"/>
          <p:cNvPicPr preferRelativeResize="0"/>
          <p:nvPr/>
        </p:nvPicPr>
        <p:blipFill rotWithShape="1">
          <a:blip r:embed="rId3">
            <a:alphaModFix/>
          </a:blip>
          <a:srcRect b="0" l="4756" r="4756" t="0"/>
          <a:stretch/>
        </p:blipFill>
        <p:spPr>
          <a:xfrm>
            <a:off x="7318238" y="1523619"/>
            <a:ext cx="4394583" cy="485653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>
            <a:off x="761810" y="1726123"/>
            <a:ext cx="6478796" cy="2154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Montserrat"/>
              <a:buChar char="•"/>
            </a:pPr>
            <a:r>
              <a:rPr b="0" i="0" lang="en-US" sz="23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Start cheap and simple</a:t>
            </a:r>
            <a:endParaRPr/>
          </a:p>
          <a:p>
            <a:pPr indent="-242900" lvl="0" marL="242900" marR="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Montserrat"/>
              <a:buChar char="•"/>
            </a:pPr>
            <a:r>
              <a:rPr b="0" i="0" lang="en-US" sz="23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Gives a benchmark to improve on</a:t>
            </a:r>
            <a:endParaRPr/>
          </a:p>
          <a:p>
            <a:pPr indent="-242900" lvl="0" marL="242900" marR="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Montserrat"/>
              <a:buChar char="•"/>
            </a:pPr>
            <a:r>
              <a:rPr b="0" i="0" lang="en-US" sz="23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LLM might not be the right 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58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6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181675" y="1686400"/>
            <a:ext cx="5841900" cy="4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8140" lvl="0" marL="45720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040"/>
              <a:buFont typeface="Montserrat"/>
              <a:buChar char="•"/>
            </a:pPr>
            <a:r>
              <a:rPr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branch of AI where algorithms learn from data to make predictions without being explicitly programmed.</a:t>
            </a:r>
            <a:endParaRPr sz="20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8140" lvl="0" marL="45720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040"/>
              <a:buFont typeface="Montserrat"/>
              <a:buChar char="•"/>
            </a:pPr>
            <a:r>
              <a:rPr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These days, ML is most often used in the context of traditional ML, pre-Deep Learning &amp; LLMs</a:t>
            </a:r>
            <a:endParaRPr sz="20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8140" lvl="0" marL="45720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040"/>
              <a:buFont typeface="Montserrat"/>
              <a:buChar char="•"/>
            </a:pPr>
            <a:r>
              <a:rPr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It’s still crucial to understand core ML principles to be an LLM practitioner</a:t>
            </a:r>
            <a:endParaRPr sz="20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6230525" y="1686400"/>
            <a:ext cx="5649900" cy="4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8140" lvl="0" marL="45720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040"/>
              <a:buFont typeface="Montserrat"/>
              <a:buChar char="•"/>
            </a:pPr>
            <a:r>
              <a:rPr b="1"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Generalizing</a:t>
            </a:r>
            <a:r>
              <a:rPr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- The ability to perform well on new, unseen data by capturing underlying patterns</a:t>
            </a:r>
            <a:endParaRPr sz="20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8140" lvl="0" marL="45720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040"/>
              <a:buFont typeface="Montserrat"/>
              <a:buChar char="•"/>
            </a:pPr>
            <a:r>
              <a:rPr b="1"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r>
              <a:rPr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- When a model mimics the training data too closely, leading to poor performance on unseen data</a:t>
            </a:r>
            <a:endParaRPr sz="20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8140" lvl="0" marL="457200" rtl="0" algn="l">
              <a:lnSpc>
                <a:spcPct val="125982"/>
              </a:lnSpc>
              <a:spcBef>
                <a:spcPts val="2538"/>
              </a:spcBef>
              <a:spcAft>
                <a:spcPts val="0"/>
              </a:spcAft>
              <a:buClr>
                <a:srgbClr val="FFFFFF"/>
              </a:buClr>
              <a:buSzPts val="2040"/>
              <a:buFont typeface="Montserrat"/>
              <a:buChar char="•"/>
            </a:pPr>
            <a:r>
              <a:rPr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goal of Machine Learning is to </a:t>
            </a:r>
            <a:r>
              <a:rPr b="1"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GENERALIZE</a:t>
            </a:r>
            <a:r>
              <a:rPr lang="en-US" sz="20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- to make accurate predictions on unseen data</a:t>
            </a:r>
            <a:endParaRPr sz="20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1" lang="en-US" sz="1594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CAPSTONE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 Alternative Ways to Follow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782724" y="3353827"/>
            <a:ext cx="29700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Focus on intuition</a:t>
            </a:r>
            <a:b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Watch lectures and see the results, recreate the final result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1586200" y="1803925"/>
            <a:ext cx="1269900" cy="1269900"/>
          </a:xfrm>
          <a:prstGeom prst="ellipse">
            <a:avLst/>
          </a:prstGeom>
          <a:solidFill>
            <a:srgbClr val="E6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4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4299662" y="3333075"/>
            <a:ext cx="3411000" cy="2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along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the Lite version of the dataset (20,000 vs 800,000)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Don’t curate the data - use mine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Estimate: $0-$5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5359223" y="1803925"/>
            <a:ext cx="1269900" cy="1269900"/>
          </a:xfrm>
          <a:prstGeom prst="ellipse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4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257600" y="3333072"/>
            <a:ext cx="2970000" cy="2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Dig deep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the full dataset, curate and train fully - significant work but VERY satisfying!</a:t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Estimate: $5-35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9107650" y="1681663"/>
            <a:ext cx="1269900" cy="1269900"/>
          </a:xfrm>
          <a:prstGeom prst="ellipse">
            <a:avLst/>
          </a:prstGeom>
          <a:solidFill>
            <a:srgbClr val="AD4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4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4284183" y="419516"/>
            <a:ext cx="7782345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4284183" y="790154"/>
            <a:ext cx="7782345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 stop: the Frontier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0" y="0"/>
            <a:ext cx="4161795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6_w6_3-1.png" id="92" name="Google Shape;92;p10"/>
          <p:cNvPicPr preferRelativeResize="0"/>
          <p:nvPr/>
        </p:nvPicPr>
        <p:blipFill rotWithShape="1">
          <a:blip r:embed="rId3">
            <a:alphaModFix/>
          </a:blip>
          <a:srcRect b="0" l="4475" r="4475" t="0"/>
          <a:stretch/>
        </p:blipFill>
        <p:spPr>
          <a:xfrm>
            <a:off x="0" y="0"/>
            <a:ext cx="4161795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/>
          <p:nvPr/>
        </p:nvSpPr>
        <p:spPr>
          <a:xfrm>
            <a:off x="4923605" y="2192062"/>
            <a:ext cx="7153852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4923605" y="2517542"/>
            <a:ext cx="7153852" cy="1337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advanced RAG solutions with LangChain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 and making a baseline model with traditional 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0"/>
          <p:cNvCxnSpPr/>
          <p:nvPr/>
        </p:nvCxnSpPr>
        <p:spPr>
          <a:xfrm>
            <a:off x="4923566" y="3968179"/>
            <a:ext cx="6503502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0"/>
          <p:cNvSpPr/>
          <p:nvPr/>
        </p:nvSpPr>
        <p:spPr>
          <a:xfrm>
            <a:off x="4923605" y="4269927"/>
            <a:ext cx="7153852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the next session you will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4923605" y="4595408"/>
            <a:ext cx="71538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vanilla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neural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network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a business problem against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leading frontier models at a business task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